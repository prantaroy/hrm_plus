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77"/>
    <p:restoredTop sz="94610"/>
  </p:normalViewPr>
  <p:slideViewPr>
    <p:cSldViewPr snapToGrid="0" snapToObjects="1">
      <p:cViewPr varScale="1">
        <p:scale>
          <a:sx n="155" d="100"/>
          <a:sy n="155" d="100"/>
        </p:scale>
        <p:origin x="192"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646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Hello, I'm Pranta Roy. This is HRM PLUS, my capstone. The problem: HR tools are scattered, a shared product has to keep every company's data apart, and onboarding a company is usually manual. HRM PLUS solves all three in one multi-tenant platform, now deployed on AWS. I'll cover the design for about three and a half minutes, then demo it live for four.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Read left to right. Browsers hit two React apps served by nginx. Both call one Express API, and each request passes the same layers: security headers and rate limiting, the tenant resolver, JWT authentication and role checks, then services using Prisma. MySQL holds one control database plus one database per company. Slow work goes onto Redis queues and a separate worker handles it, including PDFs and LLM calls. All of this runs under Docker Compose on one AWS EC2 instance.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The frontend is a React single-page app built with Vite. After login the session, which holds the JWT and the company slug, is stored in the browser. One axios client adds the Bearer token and the tenant header to every call, and a 401 clears the session. Routes are guarded by role. For deployment, a Docker multi-stage build compiles the app and nginx serves the static files, with the API address baked in at build time. The SaaS site follows the same pattern with a separate admin token.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 Follow one click. The React app calls the API with a token and the company slug. The tenant resolver looks that slug up in the control database and picks that company's database. Authentication checks that the token belongs to the same company, and the role check decides whether this user is allowed. The controller validates input with zod, the service applies business rules, and Prisma, using a cached client for that company, queries only that company's database. Anything slow is put on a Redis queue for the worker, and a bad token or role is rejected right away.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Four decisions drive the design. One: database per tenant, so isolation is structural rather than a tenant-id column, at the cost of running migrations on every database. Two: layered security, where the JWT carries the tenant slug and the API rejects a mismatch, and platform admins use a separate secret entirely. Three: background jobs on BullMQ so PDFs, LLM grading and filings never block a request. Four: provisioning is automatic, approval creates the database, runs migrations, seeds roles, creates the Admin and emails the credentials. Honest limit: those steps run in sequence, not in one transaction.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Today I deployed the whole stack to AWS. One EC2 instance, Ubuntu on a t3.medium, with an Elastic IP so the URLs stay stable. A user-data script installs Docker and Compose, then docker compose brings up seven services from the same compose file I use locally. The security group opens SSH from my address plus the API and the two web ports, and MySQL and Redis are never exposed. I chose one cheap instance over RDS and a load balancer for a demo; the next steps would be HTTPS, a domain and a managed database.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Outcomes: a company can go from signup to a running workspace with one approval, and the core HR modules work end to end. By the numbers: 55 backend modules, 96 database models, 47 automated test files running in CI, six roles and six job queues, four pluggable LLM providers, and the whole thing is live on AWS. Now let me show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Switch to the browser on the AWS address. This slide is your run sheet and doesn't need to be shown for long. Talk while you click, and keep to the time per step. The demo should take about four minutes.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These are the live demo logins on the AWS server, shown for the marker. Leave this up for a few seconds, then switch to the browser to start the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To sum up: isolated by design, automated end to end, and deployed on AWS. Thank you, I'm happy to take questions. Likely questions: why a database per tenant, how provisioning works, how roles are enforced, and why a single EC2 instance.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the role model.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LAIN">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00800"/>
            <a:ext cx="2743200" cy="274320"/>
          </a:xfrm>
          <a:prstGeom prst="rect">
            <a:avLst/>
          </a:prstGeom>
          <a:noFill/>
          <a:ln/>
        </p:spPr>
        <p:txBody>
          <a:bodyPr wrap="square" lIns="0" tIns="0" rIns="0" bIns="0" rtlCol="0" anchor="ctr"/>
          <a:lstStyle/>
          <a:p>
            <a:pPr marL="0" indent="0">
              <a:buNone/>
            </a:pPr>
            <a:r>
              <a:rPr lang="en-US" sz="1200" dirty="0">
                <a:solidFill>
                  <a:srgbClr val="6B7280"/>
                </a:solidFill>
                <a:latin typeface="Calibri" pitchFamily="34" charset="0"/>
                <a:ea typeface="Calibri" pitchFamily="34" charset="-122"/>
                <a:cs typeface="Calibri" pitchFamily="34" charset="-120"/>
              </a:rPr>
              <a:t>HRM PLUS</a:t>
            </a:r>
            <a:endParaRPr lang="en-US" sz="12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34.231.195.176:5174/"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hyperlink" Target="http://34.231.195.176:5173/"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urse"/>
          <p:cNvSpPr txBox="1"/>
          <p:nvPr/>
        </p:nvSpPr>
        <p:spPr>
          <a:xfrm>
            <a:off x="548640" y="1554480"/>
            <a:ext cx="8229600" cy="365760"/>
          </a:xfrm>
          <a:prstGeom prst="rect">
            <a:avLst/>
          </a:prstGeom>
          <a:noFill/>
          <a:ln/>
        </p:spPr>
        <p:txBody>
          <a:bodyPr wrap="square" lIns="0" tIns="0" rIns="0" bIns="0" rtlCol="0" anchor="t"/>
          <a:lstStyle/>
          <a:p>
            <a:pPr marL="0" indent="0">
              <a:buNone/>
            </a:pPr>
            <a:r>
              <a:rPr lang="en-US" sz="1800" dirty="0">
                <a:solidFill>
                  <a:srgbClr val="6B7280"/>
                </a:solidFill>
                <a:latin typeface="Calibri" pitchFamily="34" charset="0"/>
                <a:ea typeface="Calibri" pitchFamily="34" charset="-122"/>
                <a:cs typeface="Calibri" pitchFamily="34" charset="-120"/>
              </a:rPr>
              <a:t>COMPX576 capstone project</a:t>
            </a:r>
            <a:endParaRPr lang="en-US" sz="1800" dirty="0"/>
          </a:p>
        </p:txBody>
      </p:sp>
      <p:sp>
        <p:nvSpPr>
          <p:cNvPr id="3" name="Project name"/>
          <p:cNvSpPr txBox="1"/>
          <p:nvPr/>
        </p:nvSpPr>
        <p:spPr>
          <a:xfrm>
            <a:off x="607951" y="2011680"/>
            <a:ext cx="8229600" cy="1097280"/>
          </a:xfrm>
          <a:prstGeom prst="rect">
            <a:avLst/>
          </a:prstGeom>
          <a:noFill/>
          <a:ln/>
        </p:spPr>
        <p:txBody>
          <a:bodyPr wrap="square" lIns="0" tIns="0" rIns="0" bIns="0" rtlCol="0" anchor="t"/>
          <a:lstStyle/>
          <a:p>
            <a:pPr marL="0" indent="0">
              <a:buNone/>
            </a:pPr>
            <a:r>
              <a:rPr lang="en-US" sz="6600" b="1" dirty="0">
                <a:solidFill>
                  <a:schemeClr val="accent1">
                    <a:lumMod val="75000"/>
                  </a:schemeClr>
                </a:solidFill>
                <a:latin typeface="Calibri" pitchFamily="34" charset="0"/>
                <a:ea typeface="Calibri" pitchFamily="34" charset="-122"/>
                <a:cs typeface="Calibri" pitchFamily="34" charset="-120"/>
              </a:rPr>
              <a:t>HRM PLUS</a:t>
            </a:r>
            <a:endParaRPr lang="en-US" sz="6600" dirty="0">
              <a:solidFill>
                <a:schemeClr val="accent1">
                  <a:lumMod val="75000"/>
                </a:schemeClr>
              </a:solidFill>
            </a:endParaRPr>
          </a:p>
        </p:txBody>
      </p:sp>
      <p:sp>
        <p:nvSpPr>
          <p:cNvPr id="4" name="Subtitle"/>
          <p:cNvSpPr txBox="1"/>
          <p:nvPr/>
        </p:nvSpPr>
        <p:spPr>
          <a:xfrm>
            <a:off x="548640" y="3200400"/>
            <a:ext cx="9601200" cy="548640"/>
          </a:xfrm>
          <a:prstGeom prst="rect">
            <a:avLst/>
          </a:prstGeom>
          <a:noFill/>
          <a:ln/>
        </p:spPr>
        <p:txBody>
          <a:bodyPr wrap="square" lIns="0" tIns="0" rIns="0" bIns="0" rtlCol="0" anchor="t"/>
          <a:lstStyle/>
          <a:p>
            <a:pPr marL="0" indent="0">
              <a:buNone/>
            </a:pPr>
            <a:r>
              <a:rPr lang="en-US" sz="2600" dirty="0">
                <a:solidFill>
                  <a:srgbClr val="1F2937"/>
                </a:solidFill>
                <a:latin typeface="Calibri" pitchFamily="34" charset="0"/>
                <a:ea typeface="Calibri" pitchFamily="34" charset="-122"/>
                <a:cs typeface="Calibri" pitchFamily="34" charset="-120"/>
              </a:rPr>
              <a:t>AI-enabled, multi-tenant HR and workforce management platform</a:t>
            </a:r>
            <a:endParaRPr lang="en-US" sz="2600" dirty="0"/>
          </a:p>
        </p:txBody>
      </p:sp>
      <p:sp>
        <p:nvSpPr>
          <p:cNvPr id="5" name="Stack line"/>
          <p:cNvSpPr txBox="1"/>
          <p:nvPr/>
        </p:nvSpPr>
        <p:spPr>
          <a:xfrm>
            <a:off x="548640" y="3749040"/>
            <a:ext cx="10058400" cy="365760"/>
          </a:xfrm>
          <a:prstGeom prst="rect">
            <a:avLst/>
          </a:prstGeom>
          <a:noFill/>
          <a:ln/>
        </p:spPr>
        <p:txBody>
          <a:bodyPr wrap="square" lIns="0" tIns="0" rIns="0" bIns="0" rtlCol="0" anchor="t"/>
          <a:lstStyle/>
          <a:p>
            <a:pPr marL="0" indent="0">
              <a:buNone/>
            </a:pPr>
            <a:r>
              <a:rPr lang="en-US" sz="1800" dirty="0">
                <a:solidFill>
                  <a:srgbClr val="6B7280"/>
                </a:solidFill>
                <a:latin typeface="Calibri" pitchFamily="34" charset="0"/>
                <a:ea typeface="Calibri" pitchFamily="34" charset="-122"/>
                <a:cs typeface="Calibri" pitchFamily="34" charset="-120"/>
              </a:rPr>
              <a:t>React  |  Express  |  Prisma  |  MySQL  |  Redis  |  Docker  |  AWS EC2</a:t>
            </a:r>
            <a:endParaRPr lang="en-US" sz="1800" dirty="0"/>
          </a:p>
        </p:txBody>
      </p:sp>
      <p:sp>
        <p:nvSpPr>
          <p:cNvPr id="6" name="Problem line"/>
          <p:cNvSpPr txBox="1"/>
          <p:nvPr/>
        </p:nvSpPr>
        <p:spPr>
          <a:xfrm>
            <a:off x="548640" y="4389120"/>
            <a:ext cx="9601200" cy="822960"/>
          </a:xfrm>
          <a:prstGeom prst="rect">
            <a:avLst/>
          </a:prstGeom>
          <a:noFill/>
          <a:ln/>
        </p:spPr>
        <p:txBody>
          <a:bodyPr wrap="square" lIns="0" tIns="0" rIns="0" bIns="0" rtlCol="0" anchor="t"/>
          <a:lstStyle/>
          <a:p>
            <a:pPr marL="0" indent="0">
              <a:buNone/>
            </a:pPr>
            <a:r>
              <a:rPr lang="en-US" sz="1800" dirty="0">
                <a:solidFill>
                  <a:srgbClr val="1F2937"/>
                </a:solidFill>
                <a:latin typeface="Calibri" pitchFamily="34" charset="0"/>
                <a:ea typeface="Calibri" pitchFamily="34" charset="-122"/>
                <a:cs typeface="Calibri" pitchFamily="34" charset="-120"/>
              </a:rPr>
              <a:t>The problem: HR tools are scattered, every company's data must stay separate, and onboarding is manual. HRM PLUS solves all three in one platform.</a:t>
            </a:r>
            <a:endParaRPr lang="en-US" sz="1800" dirty="0"/>
          </a:p>
        </p:txBody>
      </p:sp>
      <p:sp>
        <p:nvSpPr>
          <p:cNvPr id="7" name="Presenter"/>
          <p:cNvSpPr txBox="1"/>
          <p:nvPr/>
        </p:nvSpPr>
        <p:spPr>
          <a:xfrm>
            <a:off x="548639" y="5577840"/>
            <a:ext cx="8348225" cy="365760"/>
          </a:xfrm>
          <a:prstGeom prst="rect">
            <a:avLst/>
          </a:prstGeom>
          <a:noFill/>
          <a:ln/>
        </p:spPr>
        <p:txBody>
          <a:bodyPr wrap="square" lIns="0" tIns="0" rIns="0" bIns="0" rtlCol="0" anchor="t"/>
          <a:lstStyle/>
          <a:p>
            <a:pPr marL="0" indent="0">
              <a:buNone/>
            </a:pPr>
            <a:r>
              <a:rPr lang="en-US" sz="2000" b="1" dirty="0">
                <a:solidFill>
                  <a:srgbClr val="1F2937"/>
                </a:solidFill>
                <a:latin typeface="Calibri" pitchFamily="34" charset="0"/>
                <a:ea typeface="Calibri" pitchFamily="34" charset="-122"/>
                <a:cs typeface="Calibri" pitchFamily="34" charset="-120"/>
              </a:rPr>
              <a:t>Name: Pranta Roy  |  ID: 1711232 | (Master’s Of Information Technology)</a:t>
            </a:r>
            <a:endParaRPr lang="en-US" sz="2000" b="1"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System Architecture</a:t>
            </a:r>
            <a:endParaRPr lang="en-US" sz="3200" dirty="0"/>
          </a:p>
        </p:txBody>
      </p:sp>
      <p:sp>
        <p:nvSpPr>
          <p:cNvPr id="3" name="Box Browser"/>
          <p:cNvSpPr/>
          <p:nvPr/>
        </p:nvSpPr>
        <p:spPr>
          <a:xfrm>
            <a:off x="457200" y="3063240"/>
            <a:ext cx="1463040" cy="1097280"/>
          </a:xfrm>
          <a:prstGeom prst="rect">
            <a:avLst/>
          </a:prstGeom>
          <a:solidFill>
            <a:srgbClr val="F3F4F6"/>
          </a:solidFill>
          <a:ln w="12700">
            <a:solidFill>
              <a:srgbClr val="C9CED8"/>
            </a:solidFill>
            <a:prstDash val="solid"/>
          </a:ln>
        </p:spPr>
        <p:txBody>
          <a:bodyPr/>
          <a:lstStyle/>
          <a:p>
            <a:endParaRPr lang="en-US"/>
          </a:p>
        </p:txBody>
      </p:sp>
      <p:sp>
        <p:nvSpPr>
          <p:cNvPr id="4" name="Text Browser"/>
          <p:cNvSpPr txBox="1"/>
          <p:nvPr/>
        </p:nvSpPr>
        <p:spPr>
          <a:xfrm>
            <a:off x="594360" y="3063240"/>
            <a:ext cx="1188720" cy="109728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Browser</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users, admins</a:t>
            </a:r>
            <a:endParaRPr lang="en-US" sz="1600" dirty="0"/>
          </a:p>
        </p:txBody>
      </p:sp>
      <p:sp>
        <p:nvSpPr>
          <p:cNvPr id="5" name="AWS EC2 boundary"/>
          <p:cNvSpPr/>
          <p:nvPr/>
        </p:nvSpPr>
        <p:spPr>
          <a:xfrm>
            <a:off x="2286000" y="1280160"/>
            <a:ext cx="9445752" cy="4937760"/>
          </a:xfrm>
          <a:prstGeom prst="rect">
            <a:avLst/>
          </a:prstGeom>
          <a:solidFill>
            <a:srgbClr val="FFFFFF"/>
          </a:solidFill>
          <a:ln w="12700">
            <a:solidFill>
              <a:srgbClr val="4453B0"/>
            </a:solidFill>
            <a:prstDash val="solid"/>
          </a:ln>
        </p:spPr>
        <p:txBody>
          <a:bodyPr/>
          <a:lstStyle/>
          <a:p>
            <a:endParaRPr lang="en-US"/>
          </a:p>
        </p:txBody>
      </p:sp>
      <p:sp>
        <p:nvSpPr>
          <p:cNvPr id="6" name="EC2 label"/>
          <p:cNvSpPr txBox="1"/>
          <p:nvPr/>
        </p:nvSpPr>
        <p:spPr>
          <a:xfrm>
            <a:off x="2514600" y="1371600"/>
            <a:ext cx="7315200" cy="32004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AWS EC2 (Ubuntu, t3.medium)  |  Docker Compose</a:t>
            </a:r>
            <a:endParaRPr lang="en-US" sz="1400" dirty="0"/>
          </a:p>
        </p:txBody>
      </p:sp>
      <p:sp>
        <p:nvSpPr>
          <p:cNvPr id="7" name="Box Tenant portal"/>
          <p:cNvSpPr/>
          <p:nvPr/>
        </p:nvSpPr>
        <p:spPr>
          <a:xfrm>
            <a:off x="2514600" y="1874520"/>
            <a:ext cx="1920240" cy="1188720"/>
          </a:xfrm>
          <a:prstGeom prst="rect">
            <a:avLst/>
          </a:prstGeom>
          <a:solidFill>
            <a:srgbClr val="FFFFFF"/>
          </a:solidFill>
          <a:ln w="12700">
            <a:solidFill>
              <a:srgbClr val="C9CED8"/>
            </a:solidFill>
            <a:prstDash val="solid"/>
          </a:ln>
        </p:spPr>
        <p:txBody>
          <a:bodyPr/>
          <a:lstStyle/>
          <a:p>
            <a:endParaRPr lang="en-US"/>
          </a:p>
        </p:txBody>
      </p:sp>
      <p:sp>
        <p:nvSpPr>
          <p:cNvPr id="8" name="Text Tenant portal"/>
          <p:cNvSpPr txBox="1"/>
          <p:nvPr/>
        </p:nvSpPr>
        <p:spPr>
          <a:xfrm>
            <a:off x="2651760" y="1874520"/>
            <a:ext cx="164592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Tenant portal</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React, nginx :5173</a:t>
            </a:r>
            <a:endParaRPr lang="en-US" sz="1600" dirty="0"/>
          </a:p>
        </p:txBody>
      </p:sp>
      <p:sp>
        <p:nvSpPr>
          <p:cNvPr id="9" name="Box SaaS site + admin"/>
          <p:cNvSpPr/>
          <p:nvPr/>
        </p:nvSpPr>
        <p:spPr>
          <a:xfrm>
            <a:off x="2514600" y="3246120"/>
            <a:ext cx="1920240" cy="1188720"/>
          </a:xfrm>
          <a:prstGeom prst="rect">
            <a:avLst/>
          </a:prstGeom>
          <a:solidFill>
            <a:srgbClr val="FFFFFF"/>
          </a:solidFill>
          <a:ln w="12700">
            <a:solidFill>
              <a:srgbClr val="C9CED8"/>
            </a:solidFill>
            <a:prstDash val="solid"/>
          </a:ln>
        </p:spPr>
        <p:txBody>
          <a:bodyPr/>
          <a:lstStyle/>
          <a:p>
            <a:endParaRPr lang="en-US"/>
          </a:p>
        </p:txBody>
      </p:sp>
      <p:sp>
        <p:nvSpPr>
          <p:cNvPr id="10" name="Text SaaS site + admin"/>
          <p:cNvSpPr txBox="1"/>
          <p:nvPr/>
        </p:nvSpPr>
        <p:spPr>
          <a:xfrm>
            <a:off x="2651760" y="3246120"/>
            <a:ext cx="164592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SaaS site + admin</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React, nginx :5174</a:t>
            </a:r>
            <a:endParaRPr lang="en-US" sz="1600" dirty="0"/>
          </a:p>
        </p:txBody>
      </p:sp>
      <p:sp>
        <p:nvSpPr>
          <p:cNvPr id="11" name="API container"/>
          <p:cNvSpPr/>
          <p:nvPr/>
        </p:nvSpPr>
        <p:spPr>
          <a:xfrm>
            <a:off x="4709160" y="1874520"/>
            <a:ext cx="2743200" cy="2880360"/>
          </a:xfrm>
          <a:prstGeom prst="rect">
            <a:avLst/>
          </a:prstGeom>
          <a:solidFill>
            <a:srgbClr val="EEF1FB"/>
          </a:solidFill>
          <a:ln w="12700">
            <a:solidFill>
              <a:srgbClr val="4453B0"/>
            </a:solidFill>
            <a:prstDash val="solid"/>
          </a:ln>
        </p:spPr>
        <p:txBody>
          <a:bodyPr/>
          <a:lstStyle/>
          <a:p>
            <a:endParaRPr lang="en-US"/>
          </a:p>
        </p:txBody>
      </p:sp>
      <p:sp>
        <p:nvSpPr>
          <p:cNvPr id="12" name="API title"/>
          <p:cNvSpPr txBox="1"/>
          <p:nvPr/>
        </p:nvSpPr>
        <p:spPr>
          <a:xfrm>
            <a:off x="4846320" y="1920240"/>
            <a:ext cx="2468880" cy="365760"/>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Express API :4000</a:t>
            </a:r>
            <a:endParaRPr lang="en-US" sz="1600" dirty="0"/>
          </a:p>
        </p:txBody>
      </p:sp>
      <p:sp>
        <p:nvSpPr>
          <p:cNvPr id="13" name="API layer 1"/>
          <p:cNvSpPr/>
          <p:nvPr/>
        </p:nvSpPr>
        <p:spPr>
          <a:xfrm>
            <a:off x="4846320" y="2377440"/>
            <a:ext cx="2468880" cy="475488"/>
          </a:xfrm>
          <a:prstGeom prst="rect">
            <a:avLst/>
          </a:prstGeom>
          <a:solidFill>
            <a:srgbClr val="FFFFFF"/>
          </a:solidFill>
          <a:ln w="12700">
            <a:solidFill>
              <a:srgbClr val="C9CED8"/>
            </a:solidFill>
            <a:prstDash val="solid"/>
          </a:ln>
        </p:spPr>
        <p:txBody>
          <a:bodyPr/>
          <a:lstStyle/>
          <a:p>
            <a:endParaRPr lang="en-US"/>
          </a:p>
        </p:txBody>
      </p:sp>
      <p:sp>
        <p:nvSpPr>
          <p:cNvPr id="14" name="API layer text 1"/>
          <p:cNvSpPr txBox="1"/>
          <p:nvPr/>
        </p:nvSpPr>
        <p:spPr>
          <a:xfrm>
            <a:off x="4846320" y="2377440"/>
            <a:ext cx="2468880" cy="475488"/>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CORS, rate limit</a:t>
            </a:r>
            <a:endParaRPr lang="en-US" sz="1400" dirty="0"/>
          </a:p>
        </p:txBody>
      </p:sp>
      <p:sp>
        <p:nvSpPr>
          <p:cNvPr id="15" name="API layer 2"/>
          <p:cNvSpPr/>
          <p:nvPr/>
        </p:nvSpPr>
        <p:spPr>
          <a:xfrm>
            <a:off x="4846320" y="2944368"/>
            <a:ext cx="2468880" cy="475488"/>
          </a:xfrm>
          <a:prstGeom prst="rect">
            <a:avLst/>
          </a:prstGeom>
          <a:solidFill>
            <a:srgbClr val="FFFFFF"/>
          </a:solidFill>
          <a:ln w="12700">
            <a:solidFill>
              <a:srgbClr val="C9CED8"/>
            </a:solidFill>
            <a:prstDash val="solid"/>
          </a:ln>
        </p:spPr>
        <p:txBody>
          <a:bodyPr/>
          <a:lstStyle/>
          <a:p>
            <a:endParaRPr lang="en-US"/>
          </a:p>
        </p:txBody>
      </p:sp>
      <p:sp>
        <p:nvSpPr>
          <p:cNvPr id="16" name="API layer text 2"/>
          <p:cNvSpPr txBox="1"/>
          <p:nvPr/>
        </p:nvSpPr>
        <p:spPr>
          <a:xfrm>
            <a:off x="4846320" y="2944368"/>
            <a:ext cx="2468880" cy="475488"/>
          </a:xfrm>
          <a:prstGeom prst="rect">
            <a:avLst/>
          </a:prstGeom>
          <a:noFill/>
          <a:ln/>
        </p:spPr>
        <p:txBody>
          <a:bodyPr wrap="square" lIns="0" tIns="0" rIns="0" bIns="0" rtlCol="0" anchor="ctr"/>
          <a:lstStyle/>
          <a:p>
            <a:pPr marL="0" indent="0" algn="ctr">
              <a:buNone/>
            </a:pPr>
            <a:r>
              <a:rPr lang="en-US" sz="1400" dirty="0" err="1">
                <a:solidFill>
                  <a:srgbClr val="1F2937"/>
                </a:solidFill>
                <a:latin typeface="Calibri" pitchFamily="34" charset="0"/>
                <a:ea typeface="Calibri" pitchFamily="34" charset="-122"/>
                <a:cs typeface="Calibri" pitchFamily="34" charset="-120"/>
              </a:rPr>
              <a:t>TenantResolver</a:t>
            </a:r>
            <a:endParaRPr lang="en-US" sz="1400" dirty="0"/>
          </a:p>
        </p:txBody>
      </p:sp>
      <p:sp>
        <p:nvSpPr>
          <p:cNvPr id="17" name="API layer 3"/>
          <p:cNvSpPr/>
          <p:nvPr/>
        </p:nvSpPr>
        <p:spPr>
          <a:xfrm>
            <a:off x="4846320" y="3511296"/>
            <a:ext cx="2468880" cy="475488"/>
          </a:xfrm>
          <a:prstGeom prst="rect">
            <a:avLst/>
          </a:prstGeom>
          <a:solidFill>
            <a:srgbClr val="FFFFFF"/>
          </a:solidFill>
          <a:ln w="12700">
            <a:solidFill>
              <a:srgbClr val="C9CED8"/>
            </a:solidFill>
            <a:prstDash val="solid"/>
          </a:ln>
        </p:spPr>
        <p:txBody>
          <a:bodyPr/>
          <a:lstStyle/>
          <a:p>
            <a:endParaRPr lang="en-US"/>
          </a:p>
        </p:txBody>
      </p:sp>
      <p:sp>
        <p:nvSpPr>
          <p:cNvPr id="18" name="API layer text 3"/>
          <p:cNvSpPr txBox="1"/>
          <p:nvPr/>
        </p:nvSpPr>
        <p:spPr>
          <a:xfrm>
            <a:off x="4846320" y="3511296"/>
            <a:ext cx="2468880" cy="475488"/>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JWT auth + RBAC</a:t>
            </a:r>
            <a:endParaRPr lang="en-US" sz="1400" dirty="0"/>
          </a:p>
        </p:txBody>
      </p:sp>
      <p:sp>
        <p:nvSpPr>
          <p:cNvPr id="19" name="API layer 4"/>
          <p:cNvSpPr/>
          <p:nvPr/>
        </p:nvSpPr>
        <p:spPr>
          <a:xfrm>
            <a:off x="4846320" y="4078224"/>
            <a:ext cx="2468880" cy="475488"/>
          </a:xfrm>
          <a:prstGeom prst="rect">
            <a:avLst/>
          </a:prstGeom>
          <a:solidFill>
            <a:srgbClr val="FFFFFF"/>
          </a:solidFill>
          <a:ln w="12700">
            <a:solidFill>
              <a:srgbClr val="C9CED8"/>
            </a:solidFill>
            <a:prstDash val="solid"/>
          </a:ln>
        </p:spPr>
        <p:txBody>
          <a:bodyPr/>
          <a:lstStyle/>
          <a:p>
            <a:endParaRPr lang="en-US"/>
          </a:p>
        </p:txBody>
      </p:sp>
      <p:sp>
        <p:nvSpPr>
          <p:cNvPr id="20" name="API layer text 4"/>
          <p:cNvSpPr txBox="1"/>
          <p:nvPr/>
        </p:nvSpPr>
        <p:spPr>
          <a:xfrm>
            <a:off x="4846320" y="4078224"/>
            <a:ext cx="2468880" cy="475488"/>
          </a:xfrm>
          <a:prstGeom prst="rect">
            <a:avLst/>
          </a:prstGeom>
          <a:noFill/>
          <a:ln/>
        </p:spPr>
        <p:txBody>
          <a:bodyPr wrap="square" lIns="0" tIns="0" rIns="0" bIns="0" rtlCol="0" anchor="ctr"/>
          <a:lstStyle/>
          <a:p>
            <a:pPr marL="0" indent="0" algn="ctr">
              <a:buNone/>
            </a:pPr>
            <a:r>
              <a:rPr lang="en-US" sz="1400" dirty="0">
                <a:solidFill>
                  <a:srgbClr val="1F2937"/>
                </a:solidFill>
                <a:latin typeface="Calibri" pitchFamily="34" charset="0"/>
                <a:ea typeface="Calibri" pitchFamily="34" charset="-122"/>
                <a:cs typeface="Calibri" pitchFamily="34" charset="-120"/>
              </a:rPr>
              <a:t>Services + Prisma</a:t>
            </a:r>
            <a:endParaRPr lang="en-US" sz="1400" dirty="0"/>
          </a:p>
        </p:txBody>
      </p:sp>
      <p:sp>
        <p:nvSpPr>
          <p:cNvPr id="21" name="Box Worker"/>
          <p:cNvSpPr/>
          <p:nvPr/>
        </p:nvSpPr>
        <p:spPr>
          <a:xfrm>
            <a:off x="4709160" y="4937760"/>
            <a:ext cx="2743200" cy="1005840"/>
          </a:xfrm>
          <a:prstGeom prst="rect">
            <a:avLst/>
          </a:prstGeom>
          <a:solidFill>
            <a:srgbClr val="FFFFFF"/>
          </a:solidFill>
          <a:ln w="12700">
            <a:solidFill>
              <a:srgbClr val="C9CED8"/>
            </a:solidFill>
            <a:prstDash val="solid"/>
          </a:ln>
        </p:spPr>
        <p:txBody>
          <a:bodyPr/>
          <a:lstStyle/>
          <a:p>
            <a:endParaRPr lang="en-US"/>
          </a:p>
        </p:txBody>
      </p:sp>
      <p:sp>
        <p:nvSpPr>
          <p:cNvPr id="22" name="Text Worker"/>
          <p:cNvSpPr txBox="1"/>
          <p:nvPr/>
        </p:nvSpPr>
        <p:spPr>
          <a:xfrm>
            <a:off x="4846320" y="4937760"/>
            <a:ext cx="2468880" cy="10058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Worker</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BullMQ jobs, PDFs, LLM</a:t>
            </a:r>
            <a:endParaRPr lang="en-US" sz="1600" dirty="0"/>
          </a:p>
        </p:txBody>
      </p:sp>
      <p:sp>
        <p:nvSpPr>
          <p:cNvPr id="23" name="MySQL container"/>
          <p:cNvSpPr/>
          <p:nvPr/>
        </p:nvSpPr>
        <p:spPr>
          <a:xfrm>
            <a:off x="7818120" y="1874520"/>
            <a:ext cx="2011680" cy="2880360"/>
          </a:xfrm>
          <a:prstGeom prst="rect">
            <a:avLst/>
          </a:prstGeom>
          <a:solidFill>
            <a:srgbClr val="F3F4F6"/>
          </a:solidFill>
          <a:ln w="12700">
            <a:solidFill>
              <a:srgbClr val="C9CED8"/>
            </a:solidFill>
            <a:prstDash val="solid"/>
          </a:ln>
        </p:spPr>
        <p:txBody>
          <a:bodyPr/>
          <a:lstStyle/>
          <a:p>
            <a:endParaRPr lang="en-US"/>
          </a:p>
        </p:txBody>
      </p:sp>
      <p:sp>
        <p:nvSpPr>
          <p:cNvPr id="24" name="MySQL title"/>
          <p:cNvSpPr txBox="1"/>
          <p:nvPr/>
        </p:nvSpPr>
        <p:spPr>
          <a:xfrm>
            <a:off x="7955280" y="1920240"/>
            <a:ext cx="1737360" cy="36576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MySQL 8.4</a:t>
            </a:r>
            <a:endParaRPr lang="en-US" sz="1600" dirty="0"/>
          </a:p>
        </p:txBody>
      </p:sp>
      <p:sp>
        <p:nvSpPr>
          <p:cNvPr id="25" name="Box hrm_control"/>
          <p:cNvSpPr/>
          <p:nvPr/>
        </p:nvSpPr>
        <p:spPr>
          <a:xfrm>
            <a:off x="7955280" y="2377440"/>
            <a:ext cx="1737360" cy="1005840"/>
          </a:xfrm>
          <a:prstGeom prst="rect">
            <a:avLst/>
          </a:prstGeom>
          <a:solidFill>
            <a:srgbClr val="FFFFFF"/>
          </a:solidFill>
          <a:ln w="12700">
            <a:solidFill>
              <a:srgbClr val="C9CED8"/>
            </a:solidFill>
            <a:prstDash val="solid"/>
          </a:ln>
        </p:spPr>
        <p:txBody>
          <a:bodyPr/>
          <a:lstStyle/>
          <a:p>
            <a:endParaRPr lang="en-US"/>
          </a:p>
        </p:txBody>
      </p:sp>
      <p:sp>
        <p:nvSpPr>
          <p:cNvPr id="26" name="Text hrm_control"/>
          <p:cNvSpPr txBox="1"/>
          <p:nvPr/>
        </p:nvSpPr>
        <p:spPr>
          <a:xfrm>
            <a:off x="8092440" y="2377440"/>
            <a:ext cx="1463040" cy="1005840"/>
          </a:xfrm>
          <a:prstGeom prst="rect">
            <a:avLst/>
          </a:prstGeom>
          <a:noFill/>
          <a:ln/>
        </p:spPr>
        <p:txBody>
          <a:bodyPr wrap="square" lIns="0" tIns="0" rIns="0" bIns="0" rtlCol="0" anchor="ctr"/>
          <a:lstStyle/>
          <a:p>
            <a:pPr marL="0" indent="0">
              <a:buNone/>
            </a:pPr>
            <a:r>
              <a:rPr lang="en-US" sz="1400" b="1" dirty="0">
                <a:solidFill>
                  <a:srgbClr val="1F2937"/>
                </a:solidFill>
                <a:latin typeface="Courier New" pitchFamily="34" charset="0"/>
                <a:ea typeface="Courier New" pitchFamily="34" charset="-122"/>
                <a:cs typeface="Courier New" pitchFamily="34" charset="-120"/>
              </a:rPr>
              <a:t>hrm_control</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platform data</a:t>
            </a:r>
            <a:endParaRPr lang="en-US" sz="1400" dirty="0"/>
          </a:p>
        </p:txBody>
      </p:sp>
      <p:sp>
        <p:nvSpPr>
          <p:cNvPr id="27" name="Box hrm_tenant_*"/>
          <p:cNvSpPr/>
          <p:nvPr/>
        </p:nvSpPr>
        <p:spPr>
          <a:xfrm>
            <a:off x="7955280" y="3566160"/>
            <a:ext cx="1737360" cy="1051560"/>
          </a:xfrm>
          <a:prstGeom prst="rect">
            <a:avLst/>
          </a:prstGeom>
          <a:solidFill>
            <a:srgbClr val="FFFFFF"/>
          </a:solidFill>
          <a:ln w="12700">
            <a:solidFill>
              <a:srgbClr val="C9CED8"/>
            </a:solidFill>
            <a:prstDash val="solid"/>
          </a:ln>
        </p:spPr>
        <p:txBody>
          <a:bodyPr/>
          <a:lstStyle/>
          <a:p>
            <a:endParaRPr lang="en-US"/>
          </a:p>
        </p:txBody>
      </p:sp>
      <p:sp>
        <p:nvSpPr>
          <p:cNvPr id="28" name="Text hrm_tenant_*"/>
          <p:cNvSpPr txBox="1"/>
          <p:nvPr/>
        </p:nvSpPr>
        <p:spPr>
          <a:xfrm>
            <a:off x="8092440" y="3566160"/>
            <a:ext cx="1463040" cy="1051560"/>
          </a:xfrm>
          <a:prstGeom prst="rect">
            <a:avLst/>
          </a:prstGeom>
          <a:noFill/>
          <a:ln/>
        </p:spPr>
        <p:txBody>
          <a:bodyPr wrap="square" lIns="0" tIns="0" rIns="0" bIns="0" rtlCol="0" anchor="ctr"/>
          <a:lstStyle/>
          <a:p>
            <a:pPr marL="0" indent="0">
              <a:buNone/>
            </a:pPr>
            <a:r>
              <a:rPr lang="en-US" sz="1400" b="1" dirty="0">
                <a:solidFill>
                  <a:srgbClr val="1F2937"/>
                </a:solidFill>
                <a:latin typeface="Courier New" pitchFamily="34" charset="0"/>
                <a:ea typeface="Courier New" pitchFamily="34" charset="-122"/>
                <a:cs typeface="Courier New" pitchFamily="34" charset="-120"/>
              </a:rPr>
              <a:t>hrm_tenant_*</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one per company</a:t>
            </a:r>
            <a:endParaRPr lang="en-US" sz="1400" dirty="0"/>
          </a:p>
        </p:txBody>
      </p:sp>
      <p:sp>
        <p:nvSpPr>
          <p:cNvPr id="29" name="Box Redis 7"/>
          <p:cNvSpPr/>
          <p:nvPr/>
        </p:nvSpPr>
        <p:spPr>
          <a:xfrm>
            <a:off x="7818120" y="4937760"/>
            <a:ext cx="2011680" cy="1005840"/>
          </a:xfrm>
          <a:prstGeom prst="rect">
            <a:avLst/>
          </a:prstGeom>
          <a:solidFill>
            <a:srgbClr val="FFFFFF"/>
          </a:solidFill>
          <a:ln w="12700">
            <a:solidFill>
              <a:srgbClr val="C9CED8"/>
            </a:solidFill>
            <a:prstDash val="solid"/>
          </a:ln>
        </p:spPr>
        <p:txBody>
          <a:bodyPr/>
          <a:lstStyle/>
          <a:p>
            <a:endParaRPr lang="en-US"/>
          </a:p>
        </p:txBody>
      </p:sp>
      <p:sp>
        <p:nvSpPr>
          <p:cNvPr id="30" name="Text Redis 7"/>
          <p:cNvSpPr txBox="1"/>
          <p:nvPr/>
        </p:nvSpPr>
        <p:spPr>
          <a:xfrm>
            <a:off x="7955280" y="4937760"/>
            <a:ext cx="1737360" cy="10058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Redis 7</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job queues</a:t>
            </a:r>
            <a:endParaRPr lang="en-US" sz="1600" dirty="0"/>
          </a:p>
        </p:txBody>
      </p:sp>
      <p:sp>
        <p:nvSpPr>
          <p:cNvPr id="31" name="Box SMTP"/>
          <p:cNvSpPr/>
          <p:nvPr/>
        </p:nvSpPr>
        <p:spPr>
          <a:xfrm>
            <a:off x="10058400" y="1874520"/>
            <a:ext cx="1508760" cy="1188720"/>
          </a:xfrm>
          <a:prstGeom prst="rect">
            <a:avLst/>
          </a:prstGeom>
          <a:solidFill>
            <a:srgbClr val="F3F4F6"/>
          </a:solidFill>
          <a:ln w="12700">
            <a:solidFill>
              <a:srgbClr val="C9CED8"/>
            </a:solidFill>
            <a:prstDash val="solid"/>
          </a:ln>
        </p:spPr>
        <p:txBody>
          <a:bodyPr/>
          <a:lstStyle/>
          <a:p>
            <a:endParaRPr lang="en-US"/>
          </a:p>
        </p:txBody>
      </p:sp>
      <p:sp>
        <p:nvSpPr>
          <p:cNvPr id="32" name="Text SMTP"/>
          <p:cNvSpPr txBox="1"/>
          <p:nvPr/>
        </p:nvSpPr>
        <p:spPr>
          <a:xfrm>
            <a:off x="10195560" y="1874520"/>
            <a:ext cx="123444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SMTP</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emails</a:t>
            </a:r>
            <a:endParaRPr lang="en-US" sz="1600" dirty="0"/>
          </a:p>
        </p:txBody>
      </p:sp>
      <p:sp>
        <p:nvSpPr>
          <p:cNvPr id="33" name="Box LLM APIs"/>
          <p:cNvSpPr/>
          <p:nvPr/>
        </p:nvSpPr>
        <p:spPr>
          <a:xfrm>
            <a:off x="10058400" y="3246120"/>
            <a:ext cx="1508760" cy="1188720"/>
          </a:xfrm>
          <a:prstGeom prst="rect">
            <a:avLst/>
          </a:prstGeom>
          <a:solidFill>
            <a:srgbClr val="F3F4F6"/>
          </a:solidFill>
          <a:ln w="12700">
            <a:solidFill>
              <a:srgbClr val="C9CED8"/>
            </a:solidFill>
            <a:prstDash val="solid"/>
          </a:ln>
        </p:spPr>
        <p:txBody>
          <a:bodyPr/>
          <a:lstStyle/>
          <a:p>
            <a:endParaRPr lang="en-US"/>
          </a:p>
        </p:txBody>
      </p:sp>
      <p:sp>
        <p:nvSpPr>
          <p:cNvPr id="34" name="Text LLM APIs"/>
          <p:cNvSpPr txBox="1"/>
          <p:nvPr/>
        </p:nvSpPr>
        <p:spPr>
          <a:xfrm>
            <a:off x="10195560" y="3246120"/>
            <a:ext cx="123444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LLM APIs</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4 providers</a:t>
            </a:r>
            <a:endParaRPr lang="en-US" sz="1600" dirty="0"/>
          </a:p>
        </p:txBody>
      </p:sp>
      <p:sp>
        <p:nvSpPr>
          <p:cNvPr id="35" name="Arrow"/>
          <p:cNvSpPr/>
          <p:nvPr/>
        </p:nvSpPr>
        <p:spPr>
          <a:xfrm>
            <a:off x="1920240" y="3611880"/>
            <a:ext cx="594360" cy="0"/>
          </a:xfrm>
          <a:prstGeom prst="line">
            <a:avLst/>
          </a:prstGeom>
          <a:noFill/>
          <a:ln w="22225">
            <a:solidFill>
              <a:srgbClr val="4453B0"/>
            </a:solidFill>
            <a:prstDash val="solid"/>
            <a:headEnd type="triangle"/>
            <a:tailEnd type="triangle"/>
          </a:ln>
        </p:spPr>
        <p:txBody>
          <a:bodyPr/>
          <a:lstStyle/>
          <a:p>
            <a:endParaRPr lang="en-US"/>
          </a:p>
        </p:txBody>
      </p:sp>
      <p:sp>
        <p:nvSpPr>
          <p:cNvPr id="36" name="Arrow"/>
          <p:cNvSpPr/>
          <p:nvPr/>
        </p:nvSpPr>
        <p:spPr>
          <a:xfrm>
            <a:off x="4434840" y="2468880"/>
            <a:ext cx="274320" cy="0"/>
          </a:xfrm>
          <a:prstGeom prst="line">
            <a:avLst/>
          </a:prstGeom>
          <a:noFill/>
          <a:ln w="22225">
            <a:solidFill>
              <a:srgbClr val="4453B0"/>
            </a:solidFill>
            <a:prstDash val="solid"/>
            <a:headEnd type="triangle"/>
            <a:tailEnd type="triangle"/>
          </a:ln>
        </p:spPr>
        <p:txBody>
          <a:bodyPr/>
          <a:lstStyle/>
          <a:p>
            <a:endParaRPr lang="en-US"/>
          </a:p>
        </p:txBody>
      </p:sp>
      <p:sp>
        <p:nvSpPr>
          <p:cNvPr id="37" name="Arrow"/>
          <p:cNvSpPr/>
          <p:nvPr/>
        </p:nvSpPr>
        <p:spPr>
          <a:xfrm>
            <a:off x="4434840" y="3840480"/>
            <a:ext cx="274320" cy="0"/>
          </a:xfrm>
          <a:prstGeom prst="line">
            <a:avLst/>
          </a:prstGeom>
          <a:noFill/>
          <a:ln w="22225">
            <a:solidFill>
              <a:srgbClr val="4453B0"/>
            </a:solidFill>
            <a:prstDash val="solid"/>
            <a:headEnd type="triangle"/>
            <a:tailEnd type="triangle"/>
          </a:ln>
        </p:spPr>
        <p:txBody>
          <a:bodyPr/>
          <a:lstStyle/>
          <a:p>
            <a:endParaRPr lang="en-US"/>
          </a:p>
        </p:txBody>
      </p:sp>
      <p:sp>
        <p:nvSpPr>
          <p:cNvPr id="38" name="Arrow"/>
          <p:cNvSpPr/>
          <p:nvPr/>
        </p:nvSpPr>
        <p:spPr>
          <a:xfrm>
            <a:off x="7452360" y="3291840"/>
            <a:ext cx="365760" cy="0"/>
          </a:xfrm>
          <a:prstGeom prst="line">
            <a:avLst/>
          </a:prstGeom>
          <a:noFill/>
          <a:ln w="22225">
            <a:solidFill>
              <a:srgbClr val="4453B0"/>
            </a:solidFill>
            <a:prstDash val="solid"/>
            <a:headEnd type="triangle"/>
            <a:tailEnd type="triangle"/>
          </a:ln>
        </p:spPr>
        <p:txBody>
          <a:bodyPr/>
          <a:lstStyle/>
          <a:p>
            <a:endParaRPr lang="en-US"/>
          </a:p>
        </p:txBody>
      </p:sp>
      <p:sp>
        <p:nvSpPr>
          <p:cNvPr id="39" name="Arrow"/>
          <p:cNvSpPr/>
          <p:nvPr/>
        </p:nvSpPr>
        <p:spPr>
          <a:xfrm>
            <a:off x="7452360" y="5440680"/>
            <a:ext cx="365760" cy="0"/>
          </a:xfrm>
          <a:prstGeom prst="line">
            <a:avLst/>
          </a:prstGeom>
          <a:noFill/>
          <a:ln w="22225">
            <a:solidFill>
              <a:srgbClr val="4453B0"/>
            </a:solidFill>
            <a:prstDash val="solid"/>
            <a:headEnd type="triangle"/>
            <a:tailEnd type="triangle"/>
          </a:ln>
        </p:spPr>
        <p:txBody>
          <a:bodyPr/>
          <a:lstStyle/>
          <a:p>
            <a:endParaRPr lang="en-US"/>
          </a:p>
        </p:txBody>
      </p:sp>
      <p:sp>
        <p:nvSpPr>
          <p:cNvPr id="40"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How The Frontend Works</a:t>
            </a:r>
            <a:endParaRPr lang="en-US" sz="3200" dirty="0"/>
          </a:p>
        </p:txBody>
      </p:sp>
      <p:sp>
        <p:nvSpPr>
          <p:cNvPr id="3" name="Box Login page"/>
          <p:cNvSpPr/>
          <p:nvPr/>
        </p:nvSpPr>
        <p:spPr>
          <a:xfrm>
            <a:off x="548640" y="1371600"/>
            <a:ext cx="2468880" cy="1188720"/>
          </a:xfrm>
          <a:prstGeom prst="rect">
            <a:avLst/>
          </a:prstGeom>
          <a:solidFill>
            <a:srgbClr val="FFFFFF"/>
          </a:solidFill>
          <a:ln w="12700">
            <a:solidFill>
              <a:srgbClr val="C9CED8"/>
            </a:solidFill>
            <a:prstDash val="solid"/>
          </a:ln>
        </p:spPr>
        <p:txBody>
          <a:bodyPr/>
          <a:lstStyle/>
          <a:p>
            <a:endParaRPr lang="en-US"/>
          </a:p>
        </p:txBody>
      </p:sp>
      <p:sp>
        <p:nvSpPr>
          <p:cNvPr id="4" name="Text Login page"/>
          <p:cNvSpPr txBox="1"/>
          <p:nvPr/>
        </p:nvSpPr>
        <p:spPr>
          <a:xfrm>
            <a:off x="685800" y="1371600"/>
            <a:ext cx="219456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Login page</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org slug, email, password</a:t>
            </a:r>
            <a:endParaRPr lang="en-US" sz="1600" dirty="0"/>
          </a:p>
        </p:txBody>
      </p:sp>
      <p:sp>
        <p:nvSpPr>
          <p:cNvPr id="5" name="Arrow"/>
          <p:cNvSpPr/>
          <p:nvPr/>
        </p:nvSpPr>
        <p:spPr>
          <a:xfrm>
            <a:off x="3017520" y="1965960"/>
            <a:ext cx="393192" cy="0"/>
          </a:xfrm>
          <a:prstGeom prst="line">
            <a:avLst/>
          </a:prstGeom>
          <a:noFill/>
          <a:ln w="22225">
            <a:solidFill>
              <a:srgbClr val="4453B0"/>
            </a:solidFill>
            <a:prstDash val="solid"/>
            <a:tailEnd type="triangle"/>
          </a:ln>
        </p:spPr>
        <p:txBody>
          <a:bodyPr/>
          <a:lstStyle/>
          <a:p>
            <a:endParaRPr lang="en-US"/>
          </a:p>
        </p:txBody>
      </p:sp>
      <p:sp>
        <p:nvSpPr>
          <p:cNvPr id="6" name="Box Session"/>
          <p:cNvSpPr/>
          <p:nvPr/>
        </p:nvSpPr>
        <p:spPr>
          <a:xfrm>
            <a:off x="3410712" y="1371600"/>
            <a:ext cx="2468880" cy="1188720"/>
          </a:xfrm>
          <a:prstGeom prst="rect">
            <a:avLst/>
          </a:prstGeom>
          <a:solidFill>
            <a:srgbClr val="FFFFFF"/>
          </a:solidFill>
          <a:ln w="12700">
            <a:solidFill>
              <a:srgbClr val="C9CED8"/>
            </a:solidFill>
            <a:prstDash val="solid"/>
          </a:ln>
        </p:spPr>
        <p:txBody>
          <a:bodyPr/>
          <a:lstStyle/>
          <a:p>
            <a:endParaRPr lang="en-US"/>
          </a:p>
        </p:txBody>
      </p:sp>
      <p:sp>
        <p:nvSpPr>
          <p:cNvPr id="7" name="Text Session"/>
          <p:cNvSpPr txBox="1"/>
          <p:nvPr/>
        </p:nvSpPr>
        <p:spPr>
          <a:xfrm>
            <a:off x="3547872" y="1371600"/>
            <a:ext cx="219456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Session</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token + tenant slug in localStorage</a:t>
            </a:r>
            <a:endParaRPr lang="en-US" sz="1600" dirty="0"/>
          </a:p>
        </p:txBody>
      </p:sp>
      <p:sp>
        <p:nvSpPr>
          <p:cNvPr id="8" name="Arrow"/>
          <p:cNvSpPr/>
          <p:nvPr/>
        </p:nvSpPr>
        <p:spPr>
          <a:xfrm>
            <a:off x="5879592" y="1965960"/>
            <a:ext cx="393192" cy="0"/>
          </a:xfrm>
          <a:prstGeom prst="line">
            <a:avLst/>
          </a:prstGeom>
          <a:noFill/>
          <a:ln w="22225">
            <a:solidFill>
              <a:srgbClr val="4453B0"/>
            </a:solidFill>
            <a:prstDash val="solid"/>
            <a:tailEnd type="triangle"/>
          </a:ln>
        </p:spPr>
        <p:txBody>
          <a:bodyPr/>
          <a:lstStyle/>
          <a:p>
            <a:endParaRPr lang="en-US"/>
          </a:p>
        </p:txBody>
      </p:sp>
      <p:sp>
        <p:nvSpPr>
          <p:cNvPr id="9" name="Box axios interceptor"/>
          <p:cNvSpPr/>
          <p:nvPr/>
        </p:nvSpPr>
        <p:spPr>
          <a:xfrm>
            <a:off x="6272784" y="1371600"/>
            <a:ext cx="2468880" cy="1188720"/>
          </a:xfrm>
          <a:prstGeom prst="rect">
            <a:avLst/>
          </a:prstGeom>
          <a:solidFill>
            <a:srgbClr val="EEF1FB"/>
          </a:solidFill>
          <a:ln w="12700">
            <a:solidFill>
              <a:srgbClr val="4453B0"/>
            </a:solidFill>
            <a:prstDash val="solid"/>
          </a:ln>
        </p:spPr>
        <p:txBody>
          <a:bodyPr/>
          <a:lstStyle/>
          <a:p>
            <a:endParaRPr lang="en-US"/>
          </a:p>
        </p:txBody>
      </p:sp>
      <p:sp>
        <p:nvSpPr>
          <p:cNvPr id="10" name="Text axios interceptor"/>
          <p:cNvSpPr txBox="1"/>
          <p:nvPr/>
        </p:nvSpPr>
        <p:spPr>
          <a:xfrm>
            <a:off x="6409944" y="1371600"/>
            <a:ext cx="219456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axios interceptor</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adds Bearer token and X-Tenant-Slug</a:t>
            </a:r>
            <a:endParaRPr lang="en-US" sz="1600" dirty="0"/>
          </a:p>
        </p:txBody>
      </p:sp>
      <p:sp>
        <p:nvSpPr>
          <p:cNvPr id="11" name="Arrow"/>
          <p:cNvSpPr/>
          <p:nvPr/>
        </p:nvSpPr>
        <p:spPr>
          <a:xfrm>
            <a:off x="8741664" y="1965960"/>
            <a:ext cx="393192" cy="0"/>
          </a:xfrm>
          <a:prstGeom prst="line">
            <a:avLst/>
          </a:prstGeom>
          <a:noFill/>
          <a:ln w="22225">
            <a:solidFill>
              <a:srgbClr val="4453B0"/>
            </a:solidFill>
            <a:prstDash val="solid"/>
            <a:tailEnd type="triangle"/>
          </a:ln>
        </p:spPr>
        <p:txBody>
          <a:bodyPr/>
          <a:lstStyle/>
          <a:p>
            <a:endParaRPr lang="en-US"/>
          </a:p>
        </p:txBody>
      </p:sp>
      <p:sp>
        <p:nvSpPr>
          <p:cNvPr id="12" name="Box REST API"/>
          <p:cNvSpPr/>
          <p:nvPr/>
        </p:nvSpPr>
        <p:spPr>
          <a:xfrm>
            <a:off x="9134856" y="1371600"/>
            <a:ext cx="2468880" cy="1188720"/>
          </a:xfrm>
          <a:prstGeom prst="rect">
            <a:avLst/>
          </a:prstGeom>
          <a:solidFill>
            <a:srgbClr val="FFFFFF"/>
          </a:solidFill>
          <a:ln w="12700">
            <a:solidFill>
              <a:srgbClr val="C9CED8"/>
            </a:solidFill>
            <a:prstDash val="solid"/>
          </a:ln>
        </p:spPr>
        <p:txBody>
          <a:bodyPr/>
          <a:lstStyle/>
          <a:p>
            <a:endParaRPr lang="en-US"/>
          </a:p>
        </p:txBody>
      </p:sp>
      <p:sp>
        <p:nvSpPr>
          <p:cNvPr id="13" name="Text REST API"/>
          <p:cNvSpPr txBox="1"/>
          <p:nvPr/>
        </p:nvSpPr>
        <p:spPr>
          <a:xfrm>
            <a:off x="9272016" y="1371600"/>
            <a:ext cx="2194560" cy="11887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REST API</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base URL set at build time</a:t>
            </a:r>
            <a:endParaRPr lang="en-US" sz="1600" dirty="0"/>
          </a:p>
        </p:txBody>
      </p:sp>
      <p:sp>
        <p:nvSpPr>
          <p:cNvPr id="14" name="401 note"/>
          <p:cNvSpPr txBox="1"/>
          <p:nvPr/>
        </p:nvSpPr>
        <p:spPr>
          <a:xfrm>
            <a:off x="548640" y="2743200"/>
            <a:ext cx="10972800" cy="32004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A 401 response clears the session and sends the user back to login</a:t>
            </a:r>
            <a:endParaRPr lang="en-US" sz="1400" dirty="0"/>
          </a:p>
        </p:txBody>
      </p:sp>
      <p:sp>
        <p:nvSpPr>
          <p:cNvPr id="15" name="Build card"/>
          <p:cNvSpPr/>
          <p:nvPr/>
        </p:nvSpPr>
        <p:spPr>
          <a:xfrm>
            <a:off x="548640" y="3337560"/>
            <a:ext cx="5394960" cy="2743200"/>
          </a:xfrm>
          <a:prstGeom prst="rect">
            <a:avLst/>
          </a:prstGeom>
          <a:solidFill>
            <a:srgbClr val="FFFFFF"/>
          </a:solidFill>
          <a:ln w="12700">
            <a:solidFill>
              <a:srgbClr val="C9CED8"/>
            </a:solidFill>
            <a:prstDash val="solid"/>
          </a:ln>
        </p:spPr>
        <p:txBody>
          <a:bodyPr/>
          <a:lstStyle/>
          <a:p>
            <a:endParaRPr lang="en-US"/>
          </a:p>
        </p:txBody>
      </p:sp>
      <p:sp>
        <p:nvSpPr>
          <p:cNvPr id="16" name="Build heading"/>
          <p:cNvSpPr txBox="1"/>
          <p:nvPr/>
        </p:nvSpPr>
        <p:spPr>
          <a:xfrm>
            <a:off x="822960" y="3474720"/>
            <a:ext cx="4846320" cy="365760"/>
          </a:xfrm>
          <a:prstGeom prst="rect">
            <a:avLst/>
          </a:prstGeom>
          <a:noFill/>
          <a:ln/>
        </p:spPr>
        <p:txBody>
          <a:bodyPr wrap="square" lIns="0" tIns="0" rIns="0" bIns="0" rtlCol="0" anchor="t"/>
          <a:lstStyle/>
          <a:p>
            <a:pPr marL="0" indent="0">
              <a:buNone/>
            </a:pPr>
            <a:r>
              <a:rPr lang="en-US" sz="2000" b="1" dirty="0">
                <a:solidFill>
                  <a:srgbClr val="4453B0"/>
                </a:solidFill>
                <a:latin typeface="Calibri" pitchFamily="34" charset="0"/>
                <a:ea typeface="Calibri" pitchFamily="34" charset="-122"/>
                <a:cs typeface="Calibri" pitchFamily="34" charset="-120"/>
              </a:rPr>
              <a:t>Build and serve</a:t>
            </a:r>
            <a:endParaRPr lang="en-US" sz="2000" dirty="0"/>
          </a:p>
        </p:txBody>
      </p:sp>
      <p:sp>
        <p:nvSpPr>
          <p:cNvPr id="17" name="Build bullets"/>
          <p:cNvSpPr txBox="1"/>
          <p:nvPr/>
        </p:nvSpPr>
        <p:spPr>
          <a:xfrm>
            <a:off x="822960" y="3931920"/>
            <a:ext cx="48463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Vite builds the React app in a node:20 stage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The static files are copied into nginx:alpine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nginx serves the SPA and falls back to index.html</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VITE_API_BASE_URL is baked in at build time</a:t>
            </a:r>
            <a:endParaRPr lang="en-US" sz="1600" dirty="0"/>
          </a:p>
        </p:txBody>
      </p:sp>
      <p:sp>
        <p:nvSpPr>
          <p:cNvPr id="18" name="Browser card"/>
          <p:cNvSpPr/>
          <p:nvPr/>
        </p:nvSpPr>
        <p:spPr>
          <a:xfrm>
            <a:off x="6245352" y="3337560"/>
            <a:ext cx="5394960" cy="2743200"/>
          </a:xfrm>
          <a:prstGeom prst="rect">
            <a:avLst/>
          </a:prstGeom>
          <a:solidFill>
            <a:srgbClr val="EEF1FB"/>
          </a:solidFill>
          <a:ln w="12700">
            <a:solidFill>
              <a:srgbClr val="4453B0"/>
            </a:solidFill>
            <a:prstDash val="solid"/>
          </a:ln>
        </p:spPr>
        <p:txBody>
          <a:bodyPr/>
          <a:lstStyle/>
          <a:p>
            <a:endParaRPr lang="en-US"/>
          </a:p>
        </p:txBody>
      </p:sp>
      <p:sp>
        <p:nvSpPr>
          <p:cNvPr id="19" name="Browser heading"/>
          <p:cNvSpPr txBox="1"/>
          <p:nvPr/>
        </p:nvSpPr>
        <p:spPr>
          <a:xfrm>
            <a:off x="6519672" y="3474720"/>
            <a:ext cx="4846320" cy="365760"/>
          </a:xfrm>
          <a:prstGeom prst="rect">
            <a:avLst/>
          </a:prstGeom>
          <a:noFill/>
          <a:ln/>
        </p:spPr>
        <p:txBody>
          <a:bodyPr wrap="square" lIns="0" tIns="0" rIns="0" bIns="0" rtlCol="0" anchor="t"/>
          <a:lstStyle/>
          <a:p>
            <a:pPr marL="0" indent="0">
              <a:buNone/>
            </a:pPr>
            <a:r>
              <a:rPr lang="en-US" sz="2000" b="1" dirty="0">
                <a:solidFill>
                  <a:srgbClr val="4453B0"/>
                </a:solidFill>
                <a:latin typeface="Calibri" pitchFamily="34" charset="0"/>
                <a:ea typeface="Calibri" pitchFamily="34" charset="-122"/>
                <a:cs typeface="Calibri" pitchFamily="34" charset="-120"/>
              </a:rPr>
              <a:t>In the browser</a:t>
            </a:r>
            <a:endParaRPr lang="en-US" sz="2000" dirty="0"/>
          </a:p>
        </p:txBody>
      </p:sp>
      <p:sp>
        <p:nvSpPr>
          <p:cNvPr id="20" name="Browser bullets"/>
          <p:cNvSpPr txBox="1"/>
          <p:nvPr/>
        </p:nvSpPr>
        <p:spPr>
          <a:xfrm>
            <a:off x="6519672" y="3931920"/>
            <a:ext cx="4846320" cy="201168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React Router with role-guarded routes: RequireAuth roles=[...]</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50+ typed API modules, one per backend feature</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Pages grouped by feature: leave, payroll, rosters, recruitment</a:t>
            </a:r>
            <a:endParaRPr lang="en-US" sz="1600" dirty="0"/>
          </a:p>
          <a:p>
            <a:pPr marL="342900" indent="-342900">
              <a:spcAft>
                <a:spcPts val="800"/>
              </a:spcAft>
              <a:buSzPct val="100000"/>
              <a:buChar char="•"/>
            </a:pPr>
            <a:r>
              <a:rPr lang="en-US" sz="1600" dirty="0">
                <a:solidFill>
                  <a:srgbClr val="1F2937"/>
                </a:solidFill>
                <a:latin typeface="Calibri" pitchFamily="34" charset="0"/>
                <a:ea typeface="Calibri" pitchFamily="34" charset="-122"/>
                <a:cs typeface="Calibri" pitchFamily="34" charset="-120"/>
              </a:rPr>
              <a:t>Shared UI kit and types package used by both apps</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End-To-End Request Flow</a:t>
            </a:r>
            <a:endParaRPr lang="en-US" sz="3200" dirty="0"/>
          </a:p>
        </p:txBody>
      </p:sp>
      <p:sp>
        <p:nvSpPr>
          <p:cNvPr id="3" name="Step React app"/>
          <p:cNvSpPr/>
          <p:nvPr/>
        </p:nvSpPr>
        <p:spPr>
          <a:xfrm>
            <a:off x="548640" y="1371600"/>
            <a:ext cx="1691640" cy="2194560"/>
          </a:xfrm>
          <a:prstGeom prst="rect">
            <a:avLst/>
          </a:prstGeom>
          <a:solidFill>
            <a:srgbClr val="FFFFFF"/>
          </a:solidFill>
          <a:ln w="12700">
            <a:solidFill>
              <a:srgbClr val="C9CED8"/>
            </a:solidFill>
            <a:prstDash val="solid"/>
          </a:ln>
        </p:spPr>
        <p:txBody>
          <a:bodyPr/>
          <a:lstStyle/>
          <a:p>
            <a:endParaRPr lang="en-US"/>
          </a:p>
        </p:txBody>
      </p:sp>
      <p:sp>
        <p:nvSpPr>
          <p:cNvPr id="4" name="Step text 1"/>
          <p:cNvSpPr txBox="1"/>
          <p:nvPr/>
        </p:nvSpPr>
        <p:spPr>
          <a:xfrm>
            <a:off x="658368" y="1463040"/>
            <a:ext cx="1472184" cy="201168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1</a:t>
            </a:r>
            <a:endParaRPr lang="en-US" sz="1400" dirty="0"/>
          </a:p>
          <a:p>
            <a:pPr marL="0" indent="0">
              <a:buNone/>
            </a:pPr>
            <a:r>
              <a:rPr lang="en-US" sz="1600" b="1" dirty="0">
                <a:solidFill>
                  <a:srgbClr val="1F2937"/>
                </a:solidFill>
                <a:latin typeface="Calibri" pitchFamily="34" charset="0"/>
                <a:ea typeface="Calibri" pitchFamily="34" charset="-122"/>
                <a:cs typeface="Calibri" pitchFamily="34" charset="-120"/>
              </a:rPr>
              <a:t>React app</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axios adds Bearer token and X-Tenant-Slug</a:t>
            </a:r>
            <a:endParaRPr lang="en-US" sz="1400" dirty="0"/>
          </a:p>
        </p:txBody>
      </p:sp>
      <p:sp>
        <p:nvSpPr>
          <p:cNvPr id="5" name="Arrow"/>
          <p:cNvSpPr/>
          <p:nvPr/>
        </p:nvSpPr>
        <p:spPr>
          <a:xfrm>
            <a:off x="2240280" y="2468880"/>
            <a:ext cx="182880" cy="0"/>
          </a:xfrm>
          <a:prstGeom prst="line">
            <a:avLst/>
          </a:prstGeom>
          <a:noFill/>
          <a:ln w="22225">
            <a:solidFill>
              <a:srgbClr val="4453B0"/>
            </a:solidFill>
            <a:prstDash val="solid"/>
            <a:tailEnd type="triangle"/>
          </a:ln>
        </p:spPr>
        <p:txBody>
          <a:bodyPr/>
          <a:lstStyle/>
          <a:p>
            <a:endParaRPr lang="en-US"/>
          </a:p>
        </p:txBody>
      </p:sp>
      <p:sp>
        <p:nvSpPr>
          <p:cNvPr id="6" name="Step tenantResolver"/>
          <p:cNvSpPr/>
          <p:nvPr/>
        </p:nvSpPr>
        <p:spPr>
          <a:xfrm>
            <a:off x="2423160" y="1371600"/>
            <a:ext cx="1691640" cy="2194560"/>
          </a:xfrm>
          <a:prstGeom prst="rect">
            <a:avLst/>
          </a:prstGeom>
          <a:solidFill>
            <a:srgbClr val="EEF1FB"/>
          </a:solidFill>
          <a:ln w="12700">
            <a:solidFill>
              <a:srgbClr val="4453B0"/>
            </a:solidFill>
            <a:prstDash val="solid"/>
          </a:ln>
        </p:spPr>
        <p:txBody>
          <a:bodyPr/>
          <a:lstStyle/>
          <a:p>
            <a:endParaRPr lang="en-US"/>
          </a:p>
        </p:txBody>
      </p:sp>
      <p:sp>
        <p:nvSpPr>
          <p:cNvPr id="7" name="Step text 2"/>
          <p:cNvSpPr txBox="1"/>
          <p:nvPr/>
        </p:nvSpPr>
        <p:spPr>
          <a:xfrm>
            <a:off x="2532888" y="1463040"/>
            <a:ext cx="1472184" cy="201168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2</a:t>
            </a:r>
            <a:endParaRPr lang="en-US" sz="1400" dirty="0"/>
          </a:p>
          <a:p>
            <a:pPr marL="0" indent="0">
              <a:buNone/>
            </a:pPr>
            <a:r>
              <a:rPr lang="en-US" sz="1600" b="1" dirty="0">
                <a:solidFill>
                  <a:srgbClr val="1F2937"/>
                </a:solidFill>
                <a:latin typeface="Calibri" pitchFamily="34" charset="0"/>
                <a:ea typeface="Calibri" pitchFamily="34" charset="-122"/>
                <a:cs typeface="Calibri" pitchFamily="34" charset="-120"/>
              </a:rPr>
              <a:t>tenantResolver</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Finds the slug in hrm_control, tenant must be Active</a:t>
            </a:r>
            <a:endParaRPr lang="en-US" sz="1400" dirty="0"/>
          </a:p>
        </p:txBody>
      </p:sp>
      <p:sp>
        <p:nvSpPr>
          <p:cNvPr id="8" name="Arrow"/>
          <p:cNvSpPr/>
          <p:nvPr/>
        </p:nvSpPr>
        <p:spPr>
          <a:xfrm>
            <a:off x="4114800" y="2468880"/>
            <a:ext cx="182880" cy="0"/>
          </a:xfrm>
          <a:prstGeom prst="line">
            <a:avLst/>
          </a:prstGeom>
          <a:noFill/>
          <a:ln w="22225">
            <a:solidFill>
              <a:srgbClr val="4453B0"/>
            </a:solidFill>
            <a:prstDash val="solid"/>
            <a:tailEnd type="triangle"/>
          </a:ln>
        </p:spPr>
        <p:txBody>
          <a:bodyPr/>
          <a:lstStyle/>
          <a:p>
            <a:endParaRPr lang="en-US"/>
          </a:p>
        </p:txBody>
      </p:sp>
      <p:sp>
        <p:nvSpPr>
          <p:cNvPr id="9" name="Step Auth + RBAC"/>
          <p:cNvSpPr/>
          <p:nvPr/>
        </p:nvSpPr>
        <p:spPr>
          <a:xfrm>
            <a:off x="4297680" y="1371600"/>
            <a:ext cx="1691640" cy="2194560"/>
          </a:xfrm>
          <a:prstGeom prst="rect">
            <a:avLst/>
          </a:prstGeom>
          <a:solidFill>
            <a:srgbClr val="EEF1FB"/>
          </a:solidFill>
          <a:ln w="12700">
            <a:solidFill>
              <a:srgbClr val="4453B0"/>
            </a:solidFill>
            <a:prstDash val="solid"/>
          </a:ln>
        </p:spPr>
        <p:txBody>
          <a:bodyPr/>
          <a:lstStyle/>
          <a:p>
            <a:endParaRPr lang="en-US"/>
          </a:p>
        </p:txBody>
      </p:sp>
      <p:sp>
        <p:nvSpPr>
          <p:cNvPr id="10" name="Step text 3"/>
          <p:cNvSpPr txBox="1"/>
          <p:nvPr/>
        </p:nvSpPr>
        <p:spPr>
          <a:xfrm>
            <a:off x="4407408" y="1463040"/>
            <a:ext cx="1472184" cy="201168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3</a:t>
            </a:r>
            <a:endParaRPr lang="en-US" sz="1400" dirty="0"/>
          </a:p>
          <a:p>
            <a:pPr marL="0" indent="0">
              <a:buNone/>
            </a:pPr>
            <a:r>
              <a:rPr lang="en-US" sz="1600" b="1" dirty="0">
                <a:solidFill>
                  <a:srgbClr val="1F2937"/>
                </a:solidFill>
                <a:latin typeface="Calibri" pitchFamily="34" charset="0"/>
                <a:ea typeface="Calibri" pitchFamily="34" charset="-122"/>
                <a:cs typeface="Calibri" pitchFamily="34" charset="-120"/>
              </a:rPr>
              <a:t>Auth + RBAC</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JWT tenantSlug must match, role must be allowed</a:t>
            </a:r>
            <a:endParaRPr lang="en-US" sz="1400" dirty="0"/>
          </a:p>
        </p:txBody>
      </p:sp>
      <p:sp>
        <p:nvSpPr>
          <p:cNvPr id="11" name="Arrow"/>
          <p:cNvSpPr/>
          <p:nvPr/>
        </p:nvSpPr>
        <p:spPr>
          <a:xfrm>
            <a:off x="5989320" y="2468880"/>
            <a:ext cx="182880" cy="0"/>
          </a:xfrm>
          <a:prstGeom prst="line">
            <a:avLst/>
          </a:prstGeom>
          <a:noFill/>
          <a:ln w="22225">
            <a:solidFill>
              <a:srgbClr val="4453B0"/>
            </a:solidFill>
            <a:prstDash val="solid"/>
            <a:tailEnd type="triangle"/>
          </a:ln>
        </p:spPr>
        <p:txBody>
          <a:bodyPr/>
          <a:lstStyle/>
          <a:p>
            <a:endParaRPr lang="en-US"/>
          </a:p>
        </p:txBody>
      </p:sp>
      <p:sp>
        <p:nvSpPr>
          <p:cNvPr id="12" name="Step Controller + service"/>
          <p:cNvSpPr/>
          <p:nvPr/>
        </p:nvSpPr>
        <p:spPr>
          <a:xfrm>
            <a:off x="6172200" y="1371600"/>
            <a:ext cx="1691640" cy="2194560"/>
          </a:xfrm>
          <a:prstGeom prst="rect">
            <a:avLst/>
          </a:prstGeom>
          <a:solidFill>
            <a:srgbClr val="FFFFFF"/>
          </a:solidFill>
          <a:ln w="12700">
            <a:solidFill>
              <a:srgbClr val="C9CED8"/>
            </a:solidFill>
            <a:prstDash val="solid"/>
          </a:ln>
        </p:spPr>
        <p:txBody>
          <a:bodyPr/>
          <a:lstStyle/>
          <a:p>
            <a:endParaRPr lang="en-US"/>
          </a:p>
        </p:txBody>
      </p:sp>
      <p:sp>
        <p:nvSpPr>
          <p:cNvPr id="13" name="Step text 4"/>
          <p:cNvSpPr txBox="1"/>
          <p:nvPr/>
        </p:nvSpPr>
        <p:spPr>
          <a:xfrm>
            <a:off x="6281928" y="1463040"/>
            <a:ext cx="1472184" cy="201168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4</a:t>
            </a:r>
            <a:endParaRPr lang="en-US" sz="1400" dirty="0"/>
          </a:p>
          <a:p>
            <a:pPr marL="0" indent="0">
              <a:buNone/>
            </a:pPr>
            <a:r>
              <a:rPr lang="en-US" sz="1600" b="1" dirty="0">
                <a:solidFill>
                  <a:srgbClr val="1F2937"/>
                </a:solidFill>
                <a:latin typeface="Calibri" pitchFamily="34" charset="0"/>
                <a:ea typeface="Calibri" pitchFamily="34" charset="-122"/>
                <a:cs typeface="Calibri" pitchFamily="34" charset="-120"/>
              </a:rPr>
              <a:t>Controller + service</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zod validates input, business rules run</a:t>
            </a:r>
            <a:endParaRPr lang="en-US" sz="1400" dirty="0"/>
          </a:p>
        </p:txBody>
      </p:sp>
      <p:sp>
        <p:nvSpPr>
          <p:cNvPr id="14" name="Arrow"/>
          <p:cNvSpPr/>
          <p:nvPr/>
        </p:nvSpPr>
        <p:spPr>
          <a:xfrm>
            <a:off x="7863840" y="2468880"/>
            <a:ext cx="182880" cy="0"/>
          </a:xfrm>
          <a:prstGeom prst="line">
            <a:avLst/>
          </a:prstGeom>
          <a:noFill/>
          <a:ln w="22225">
            <a:solidFill>
              <a:srgbClr val="4453B0"/>
            </a:solidFill>
            <a:prstDash val="solid"/>
            <a:tailEnd type="triangle"/>
          </a:ln>
        </p:spPr>
        <p:txBody>
          <a:bodyPr/>
          <a:lstStyle/>
          <a:p>
            <a:endParaRPr lang="en-US"/>
          </a:p>
        </p:txBody>
      </p:sp>
      <p:sp>
        <p:nvSpPr>
          <p:cNvPr id="15" name="Step Prisma client"/>
          <p:cNvSpPr/>
          <p:nvPr/>
        </p:nvSpPr>
        <p:spPr>
          <a:xfrm>
            <a:off x="8046720" y="1371600"/>
            <a:ext cx="1691640" cy="2194560"/>
          </a:xfrm>
          <a:prstGeom prst="rect">
            <a:avLst/>
          </a:prstGeom>
          <a:solidFill>
            <a:srgbClr val="FFFFFF"/>
          </a:solidFill>
          <a:ln w="12700">
            <a:solidFill>
              <a:srgbClr val="C9CED8"/>
            </a:solidFill>
            <a:prstDash val="solid"/>
          </a:ln>
        </p:spPr>
        <p:txBody>
          <a:bodyPr/>
          <a:lstStyle/>
          <a:p>
            <a:endParaRPr lang="en-US"/>
          </a:p>
        </p:txBody>
      </p:sp>
      <p:sp>
        <p:nvSpPr>
          <p:cNvPr id="16" name="Step text 5"/>
          <p:cNvSpPr txBox="1"/>
          <p:nvPr/>
        </p:nvSpPr>
        <p:spPr>
          <a:xfrm>
            <a:off x="8156448" y="1463040"/>
            <a:ext cx="1472184" cy="201168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5</a:t>
            </a:r>
            <a:endParaRPr lang="en-US" sz="1400" dirty="0"/>
          </a:p>
          <a:p>
            <a:pPr marL="0" indent="0">
              <a:buNone/>
            </a:pPr>
            <a:r>
              <a:rPr lang="en-US" sz="1600" b="1" dirty="0">
                <a:solidFill>
                  <a:srgbClr val="1F2937"/>
                </a:solidFill>
                <a:latin typeface="Calibri" pitchFamily="34" charset="0"/>
                <a:ea typeface="Calibri" pitchFamily="34" charset="-122"/>
                <a:cs typeface="Calibri" pitchFamily="34" charset="-120"/>
              </a:rPr>
              <a:t>Prisma client</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Cached client for that company's database</a:t>
            </a:r>
            <a:endParaRPr lang="en-US" sz="1400" dirty="0"/>
          </a:p>
        </p:txBody>
      </p:sp>
      <p:sp>
        <p:nvSpPr>
          <p:cNvPr id="17" name="Arrow"/>
          <p:cNvSpPr/>
          <p:nvPr/>
        </p:nvSpPr>
        <p:spPr>
          <a:xfrm>
            <a:off x="9738360" y="2468880"/>
            <a:ext cx="182880" cy="0"/>
          </a:xfrm>
          <a:prstGeom prst="line">
            <a:avLst/>
          </a:prstGeom>
          <a:noFill/>
          <a:ln w="22225">
            <a:solidFill>
              <a:srgbClr val="4453B0"/>
            </a:solidFill>
            <a:prstDash val="solid"/>
            <a:tailEnd type="triangle"/>
          </a:ln>
        </p:spPr>
        <p:txBody>
          <a:bodyPr/>
          <a:lstStyle/>
          <a:p>
            <a:endParaRPr lang="en-US"/>
          </a:p>
        </p:txBody>
      </p:sp>
      <p:sp>
        <p:nvSpPr>
          <p:cNvPr id="18" name="Step Tenant database"/>
          <p:cNvSpPr/>
          <p:nvPr/>
        </p:nvSpPr>
        <p:spPr>
          <a:xfrm>
            <a:off x="9921240" y="1371600"/>
            <a:ext cx="1691640" cy="2194560"/>
          </a:xfrm>
          <a:prstGeom prst="rect">
            <a:avLst/>
          </a:prstGeom>
          <a:solidFill>
            <a:srgbClr val="F3F4F6"/>
          </a:solidFill>
          <a:ln w="12700">
            <a:solidFill>
              <a:srgbClr val="C9CED8"/>
            </a:solidFill>
            <a:prstDash val="solid"/>
          </a:ln>
        </p:spPr>
        <p:txBody>
          <a:bodyPr/>
          <a:lstStyle/>
          <a:p>
            <a:endParaRPr lang="en-US"/>
          </a:p>
        </p:txBody>
      </p:sp>
      <p:sp>
        <p:nvSpPr>
          <p:cNvPr id="19" name="Step text 6"/>
          <p:cNvSpPr txBox="1"/>
          <p:nvPr/>
        </p:nvSpPr>
        <p:spPr>
          <a:xfrm>
            <a:off x="10030968" y="1463040"/>
            <a:ext cx="1472184" cy="2011680"/>
          </a:xfrm>
          <a:prstGeom prst="rect">
            <a:avLst/>
          </a:prstGeom>
          <a:noFill/>
          <a:ln/>
        </p:spPr>
        <p:txBody>
          <a:bodyPr wrap="square" lIns="0" tIns="0" rIns="0" bIns="0" rtlCol="0" anchor="t"/>
          <a:lstStyle/>
          <a:p>
            <a:pPr marL="0" indent="0">
              <a:buNone/>
            </a:pPr>
            <a:r>
              <a:rPr lang="en-US" sz="1400" b="1" dirty="0">
                <a:solidFill>
                  <a:srgbClr val="4453B0"/>
                </a:solidFill>
                <a:latin typeface="Calibri" pitchFamily="34" charset="0"/>
                <a:ea typeface="Calibri" pitchFamily="34" charset="-122"/>
                <a:cs typeface="Calibri" pitchFamily="34" charset="-120"/>
              </a:rPr>
              <a:t>6</a:t>
            </a:r>
            <a:endParaRPr lang="en-US" sz="1400" dirty="0"/>
          </a:p>
          <a:p>
            <a:pPr marL="0" indent="0">
              <a:buNone/>
            </a:pPr>
            <a:r>
              <a:rPr lang="en-US" sz="1600" b="1" dirty="0">
                <a:solidFill>
                  <a:srgbClr val="1F2937"/>
                </a:solidFill>
                <a:latin typeface="Calibri" pitchFamily="34" charset="0"/>
                <a:ea typeface="Calibri" pitchFamily="34" charset="-122"/>
                <a:cs typeface="Calibri" pitchFamily="34" charset="-120"/>
              </a:rPr>
              <a:t>Tenant database</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hrm_tenant_&lt;slug&gt; returns rows, API replies with JSON</a:t>
            </a:r>
            <a:endParaRPr lang="en-US" sz="1400" dirty="0"/>
          </a:p>
        </p:txBody>
      </p:sp>
      <p:sp>
        <p:nvSpPr>
          <p:cNvPr id="20" name="Box hrm_control"/>
          <p:cNvSpPr/>
          <p:nvPr/>
        </p:nvSpPr>
        <p:spPr>
          <a:xfrm>
            <a:off x="2423160" y="4114800"/>
            <a:ext cx="1691640" cy="914400"/>
          </a:xfrm>
          <a:prstGeom prst="rect">
            <a:avLst/>
          </a:prstGeom>
          <a:solidFill>
            <a:srgbClr val="F3F4F6"/>
          </a:solidFill>
          <a:ln w="12700">
            <a:solidFill>
              <a:srgbClr val="C9CED8"/>
            </a:solidFill>
            <a:prstDash val="solid"/>
          </a:ln>
        </p:spPr>
        <p:txBody>
          <a:bodyPr/>
          <a:lstStyle/>
          <a:p>
            <a:endParaRPr lang="en-US"/>
          </a:p>
        </p:txBody>
      </p:sp>
      <p:sp>
        <p:nvSpPr>
          <p:cNvPr id="21" name="Text hrm_control"/>
          <p:cNvSpPr txBox="1"/>
          <p:nvPr/>
        </p:nvSpPr>
        <p:spPr>
          <a:xfrm>
            <a:off x="2560320" y="4114800"/>
            <a:ext cx="1417320" cy="914400"/>
          </a:xfrm>
          <a:prstGeom prst="rect">
            <a:avLst/>
          </a:prstGeom>
          <a:noFill/>
          <a:ln/>
        </p:spPr>
        <p:txBody>
          <a:bodyPr wrap="square" lIns="0" tIns="0" rIns="0" bIns="0" rtlCol="0" anchor="ctr"/>
          <a:lstStyle/>
          <a:p>
            <a:pPr marL="0" indent="0">
              <a:buNone/>
            </a:pPr>
            <a:r>
              <a:rPr lang="en-US" sz="1400" b="1" dirty="0">
                <a:solidFill>
                  <a:srgbClr val="1F2937"/>
                </a:solidFill>
                <a:latin typeface="Courier New" pitchFamily="34" charset="0"/>
                <a:ea typeface="Courier New" pitchFamily="34" charset="-122"/>
                <a:cs typeface="Courier New" pitchFamily="34" charset="-120"/>
              </a:rPr>
              <a:t>hrm_control</a:t>
            </a:r>
            <a:endParaRPr lang="en-US" sz="1400" dirty="0"/>
          </a:p>
          <a:p>
            <a:pPr marL="0" indent="0">
              <a:buNone/>
            </a:pPr>
            <a:r>
              <a:rPr lang="en-US" sz="1400" dirty="0">
                <a:solidFill>
                  <a:srgbClr val="6B7280"/>
                </a:solidFill>
                <a:latin typeface="Calibri" pitchFamily="34" charset="0"/>
                <a:ea typeface="Calibri" pitchFamily="34" charset="-122"/>
                <a:cs typeface="Calibri" pitchFamily="34" charset="-120"/>
              </a:rPr>
              <a:t>tenant registry</a:t>
            </a:r>
            <a:endParaRPr lang="en-US" sz="1400" dirty="0"/>
          </a:p>
        </p:txBody>
      </p:sp>
      <p:sp>
        <p:nvSpPr>
          <p:cNvPr id="22" name="Arrow"/>
          <p:cNvSpPr/>
          <p:nvPr/>
        </p:nvSpPr>
        <p:spPr>
          <a:xfrm>
            <a:off x="3268980" y="3566160"/>
            <a:ext cx="0" cy="548640"/>
          </a:xfrm>
          <a:prstGeom prst="line">
            <a:avLst/>
          </a:prstGeom>
          <a:noFill/>
          <a:ln w="22225">
            <a:solidFill>
              <a:srgbClr val="4453B0"/>
            </a:solidFill>
            <a:prstDash val="solid"/>
            <a:headEnd type="triangle"/>
            <a:tailEnd type="triangle"/>
          </a:ln>
        </p:spPr>
        <p:txBody>
          <a:bodyPr/>
          <a:lstStyle/>
          <a:p>
            <a:endParaRPr lang="en-US"/>
          </a:p>
        </p:txBody>
      </p:sp>
      <p:sp>
        <p:nvSpPr>
          <p:cNvPr id="23" name="Box Rejected"/>
          <p:cNvSpPr/>
          <p:nvPr/>
        </p:nvSpPr>
        <p:spPr>
          <a:xfrm>
            <a:off x="4297680" y="4114800"/>
            <a:ext cx="1691640" cy="914400"/>
          </a:xfrm>
          <a:prstGeom prst="rect">
            <a:avLst/>
          </a:prstGeom>
          <a:solidFill>
            <a:srgbClr val="F3F4F6"/>
          </a:solidFill>
          <a:ln w="12700">
            <a:solidFill>
              <a:srgbClr val="C9CED8"/>
            </a:solidFill>
            <a:prstDash val="solid"/>
          </a:ln>
        </p:spPr>
        <p:txBody>
          <a:bodyPr/>
          <a:lstStyle/>
          <a:p>
            <a:endParaRPr lang="en-US"/>
          </a:p>
        </p:txBody>
      </p:sp>
      <p:sp>
        <p:nvSpPr>
          <p:cNvPr id="24" name="Text Rejected"/>
          <p:cNvSpPr txBox="1"/>
          <p:nvPr/>
        </p:nvSpPr>
        <p:spPr>
          <a:xfrm>
            <a:off x="4434840" y="4114800"/>
            <a:ext cx="1417320" cy="91440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Rejected</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401 or 403</a:t>
            </a:r>
            <a:endParaRPr lang="en-US" sz="1600" dirty="0"/>
          </a:p>
        </p:txBody>
      </p:sp>
      <p:sp>
        <p:nvSpPr>
          <p:cNvPr id="25" name="Arrow"/>
          <p:cNvSpPr/>
          <p:nvPr/>
        </p:nvSpPr>
        <p:spPr>
          <a:xfrm>
            <a:off x="5143500" y="3566160"/>
            <a:ext cx="0" cy="548640"/>
          </a:xfrm>
          <a:prstGeom prst="line">
            <a:avLst/>
          </a:prstGeom>
          <a:noFill/>
          <a:ln w="22225">
            <a:solidFill>
              <a:srgbClr val="4453B0"/>
            </a:solidFill>
            <a:prstDash val="solid"/>
            <a:tailEnd type="triangle"/>
          </a:ln>
        </p:spPr>
        <p:txBody>
          <a:bodyPr/>
          <a:lstStyle/>
          <a:p>
            <a:endParaRPr lang="en-US"/>
          </a:p>
        </p:txBody>
      </p:sp>
      <p:sp>
        <p:nvSpPr>
          <p:cNvPr id="26" name="Box Redis queue, then worker"/>
          <p:cNvSpPr/>
          <p:nvPr/>
        </p:nvSpPr>
        <p:spPr>
          <a:xfrm>
            <a:off x="6172200" y="4114800"/>
            <a:ext cx="3566160" cy="914400"/>
          </a:xfrm>
          <a:prstGeom prst="rect">
            <a:avLst/>
          </a:prstGeom>
          <a:solidFill>
            <a:srgbClr val="F3F4F6"/>
          </a:solidFill>
          <a:ln w="12700">
            <a:solidFill>
              <a:srgbClr val="C9CED8"/>
            </a:solidFill>
            <a:prstDash val="solid"/>
          </a:ln>
        </p:spPr>
        <p:txBody>
          <a:bodyPr/>
          <a:lstStyle/>
          <a:p>
            <a:endParaRPr lang="en-US"/>
          </a:p>
        </p:txBody>
      </p:sp>
      <p:sp>
        <p:nvSpPr>
          <p:cNvPr id="27" name="Text Redis queue, then worker"/>
          <p:cNvSpPr txBox="1"/>
          <p:nvPr/>
        </p:nvSpPr>
        <p:spPr>
          <a:xfrm>
            <a:off x="6309360" y="4114800"/>
            <a:ext cx="3291840" cy="91440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Redis queue, then worker</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slow jobs: PDFs, LLM, filings</a:t>
            </a:r>
            <a:endParaRPr lang="en-US" sz="1600" dirty="0"/>
          </a:p>
        </p:txBody>
      </p:sp>
      <p:sp>
        <p:nvSpPr>
          <p:cNvPr id="28" name="Arrow"/>
          <p:cNvSpPr/>
          <p:nvPr/>
        </p:nvSpPr>
        <p:spPr>
          <a:xfrm>
            <a:off x="7018020" y="3566160"/>
            <a:ext cx="0" cy="548640"/>
          </a:xfrm>
          <a:prstGeom prst="line">
            <a:avLst/>
          </a:prstGeom>
          <a:noFill/>
          <a:ln w="22225">
            <a:solidFill>
              <a:srgbClr val="4453B0"/>
            </a:solidFill>
            <a:prstDash val="solid"/>
            <a:tailEnd type="triangle"/>
          </a:ln>
        </p:spPr>
        <p:txBody>
          <a:bodyPr/>
          <a:lstStyle/>
          <a:p>
            <a:endParaRPr lang="en-US"/>
          </a:p>
        </p:txBody>
      </p:sp>
      <p:sp>
        <p:nvSpPr>
          <p:cNvPr id="29" name="Flow note"/>
          <p:cNvSpPr txBox="1"/>
          <p:nvPr/>
        </p:nvSpPr>
        <p:spPr>
          <a:xfrm>
            <a:off x="548640" y="5440680"/>
            <a:ext cx="11064240" cy="365760"/>
          </a:xfrm>
          <a:prstGeom prst="rect">
            <a:avLst/>
          </a:prstGeom>
          <a:noFill/>
          <a:ln/>
        </p:spPr>
        <p:txBody>
          <a:bodyPr wrap="square" lIns="0" tIns="0" rIns="0" bIns="0" rtlCol="0" anchor="t"/>
          <a:lstStyle/>
          <a:p>
            <a:pPr marL="0" indent="0">
              <a:buNone/>
            </a:pPr>
            <a:r>
              <a:rPr lang="en-US" sz="1600" dirty="0">
                <a:solidFill>
                  <a:srgbClr val="6B7280"/>
                </a:solidFill>
                <a:latin typeface="Calibri" pitchFamily="34" charset="0"/>
                <a:ea typeface="Calibri" pitchFamily="34" charset="-122"/>
                <a:cs typeface="Calibri" pitchFamily="34" charset="-120"/>
              </a:rPr>
              <a:t>The control database only holds the registry. All company data lives in that company's own database.</a:t>
            </a:r>
            <a:endParaRPr lang="en-US" sz="1600" dirty="0"/>
          </a:p>
        </p:txBody>
      </p:sp>
      <p:sp>
        <p:nvSpPr>
          <p:cNvPr id="30"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Key Technical Decisions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977640"/>
        </p:xfrm>
        <a:graphic>
          <a:graphicData uri="http://schemas.openxmlformats.org/drawingml/2006/table">
            <a:tbl>
              <a:tblPr/>
              <a:tblGrid>
                <a:gridCol w="22860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5696712">
                  <a:extLst>
                    <a:ext uri="{9D8B030D-6E8A-4147-A177-3AD203B41FA5}">
                      <a16:colId xmlns:a16="http://schemas.microsoft.com/office/drawing/2014/main" val="20002"/>
                    </a:ext>
                  </a:extLst>
                </a:gridCol>
              </a:tblGrid>
              <a:tr h="502920">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Decision</a:t>
                      </a:r>
                      <a:endParaRPr lang="en-US" sz="16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4453B0"/>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Why</a:t>
                      </a:r>
                      <a:endParaRPr lang="en-US" sz="16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4453B0"/>
                    </a:solidFill>
                  </a:tcPr>
                </a:tc>
                <a:tc>
                  <a:txBody>
                    <a:bodyPr/>
                    <a:lstStyle/>
                    <a:p>
                      <a:pPr marL="0" indent="0">
                        <a:buNone/>
                      </a:pPr>
                      <a:r>
                        <a:rPr lang="en-US" sz="1600" b="1" dirty="0">
                          <a:solidFill>
                            <a:srgbClr val="FFFFFF"/>
                          </a:solidFill>
                          <a:latin typeface="Calibri" pitchFamily="34" charset="0"/>
                          <a:ea typeface="Calibri" pitchFamily="34" charset="-122"/>
                          <a:cs typeface="Calibri" pitchFamily="34" charset="-120"/>
                        </a:rPr>
                        <a:t>How</a:t>
                      </a:r>
                      <a:endParaRPr lang="en-US" sz="16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4453B0"/>
                    </a:solidFill>
                  </a:tcPr>
                </a:tc>
                <a:extLst>
                  <a:ext uri="{0D108BD9-81ED-4DB2-BD59-A6C34878D82A}">
                    <a16:rowId xmlns:a16="http://schemas.microsoft.com/office/drawing/2014/main" val="10000"/>
                  </a:ext>
                </a:extLst>
              </a:tr>
              <a:tr h="868680">
                <a:tc>
                  <a:txBody>
                    <a:bodyPr/>
                    <a:lstStyle/>
                    <a:p>
                      <a:pPr marL="0" indent="0">
                        <a:buNone/>
                      </a:pPr>
                      <a:r>
                        <a:rPr lang="en-US" sz="1400" b="1" dirty="0">
                          <a:solidFill>
                            <a:srgbClr val="4453B0"/>
                          </a:solidFill>
                          <a:latin typeface="Calibri" pitchFamily="34" charset="0"/>
                          <a:ea typeface="Calibri" pitchFamily="34" charset="-122"/>
                          <a:cs typeface="Calibri" pitchFamily="34" charset="-120"/>
                        </a:rPr>
                        <a:t>Database per tenant</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Strongest data isolation between companies</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hrm_control plus one hrm_tenant_&lt;slug&gt; per company. 85 models, 27 migrations</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buNone/>
                      </a:pPr>
                      <a:r>
                        <a:rPr lang="en-US" sz="1400" b="1" dirty="0">
                          <a:solidFill>
                            <a:srgbClr val="4453B0"/>
                          </a:solidFill>
                          <a:latin typeface="Calibri" pitchFamily="34" charset="0"/>
                          <a:ea typeface="Calibri" pitchFamily="34" charset="-122"/>
                          <a:cs typeface="Calibri" pitchFamily="34" charset="-120"/>
                        </a:rPr>
                        <a:t>Layered security</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A token from one company or plane must not work in another</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JWT carries the tenant slug and must match. Separate secret for SaaS admins</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68680">
                <a:tc>
                  <a:txBody>
                    <a:bodyPr/>
                    <a:lstStyle/>
                    <a:p>
                      <a:pPr marL="0" indent="0">
                        <a:buNone/>
                      </a:pPr>
                      <a:r>
                        <a:rPr lang="en-US" sz="1400" b="1" dirty="0">
                          <a:solidFill>
                            <a:srgbClr val="4453B0"/>
                          </a:solidFill>
                          <a:latin typeface="Calibri" pitchFamily="34" charset="0"/>
                          <a:ea typeface="Calibri" pitchFamily="34" charset="-122"/>
                          <a:cs typeface="Calibri" pitchFamily="34" charset="-120"/>
                        </a:rPr>
                        <a:t>Background jobs</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Keep the API fast, retry slow work</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BullMQ + Redis, 6 queues, own worker: payslip PDFs, LLM grading, filings</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buNone/>
                      </a:pPr>
                      <a:r>
                        <a:rPr lang="en-US" sz="1400" b="1" dirty="0">
                          <a:solidFill>
                            <a:srgbClr val="4453B0"/>
                          </a:solidFill>
                          <a:latin typeface="Calibri" pitchFamily="34" charset="0"/>
                          <a:ea typeface="Calibri" pitchFamily="34" charset="-122"/>
                          <a:cs typeface="Calibri" pitchFamily="34" charset="-120"/>
                        </a:rPr>
                        <a:t>Automatic provisioning</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No manual setup per company</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latin typeface="Calibri" pitchFamily="34" charset="0"/>
                          <a:ea typeface="Calibri" pitchFamily="34" charset="-122"/>
                          <a:cs typeface="Calibri" pitchFamily="34" charset="-120"/>
                        </a:rPr>
                        <a:t>Approve, create database, run migrations, seed roles, create Admin, email</a:t>
                      </a:r>
                      <a:endParaRPr lang="en-US" sz="1400" dirty="0">
                        <a:latin typeface="Calibri" charset="0"/>
                        <a:ea typeface="Calibri" charset="0"/>
                        <a:cs typeface="Calibri" charset="0"/>
                      </a:endParaRPr>
                    </a:p>
                  </a:txBody>
                  <a:tcPr marL="137160" marR="137160" anchor="ctr">
                    <a:lnL w="12700" cap="flat" cmpd="sng" algn="ctr">
                      <a:solidFill>
                        <a:srgbClr val="C9CED8"/>
                      </a:solidFill>
                      <a:prstDash val="solid"/>
                      <a:round/>
                      <a:headEnd type="none" w="med" len="med"/>
                      <a:tailEnd type="none" w="med" len="med"/>
                    </a:lnL>
                    <a:lnR w="12700" cap="flat" cmpd="sng" algn="ctr">
                      <a:solidFill>
                        <a:srgbClr val="C9CED8"/>
                      </a:solidFill>
                      <a:prstDash val="solid"/>
                      <a:round/>
                      <a:headEnd type="none" w="med" len="med"/>
                      <a:tailEnd type="none" w="med" len="med"/>
                    </a:lnR>
                    <a:lnT w="12700" cap="flat" cmpd="sng" algn="ctr">
                      <a:solidFill>
                        <a:srgbClr val="C9CED8"/>
                      </a:solidFill>
                      <a:prstDash val="solid"/>
                      <a:round/>
                      <a:headEnd type="none" w="med" len="med"/>
                      <a:tailEnd type="none" w="med" len="med"/>
                    </a:lnT>
                    <a:lnB w="1270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Deployment on AWS</a:t>
            </a:r>
            <a:endParaRPr lang="en-US" sz="3200" dirty="0"/>
          </a:p>
        </p:txBody>
      </p:sp>
      <p:sp>
        <p:nvSpPr>
          <p:cNvPr id="3" name="Box Elastic IP"/>
          <p:cNvSpPr/>
          <p:nvPr/>
        </p:nvSpPr>
        <p:spPr>
          <a:xfrm>
            <a:off x="548640" y="1371600"/>
            <a:ext cx="4937760" cy="731520"/>
          </a:xfrm>
          <a:prstGeom prst="rect">
            <a:avLst/>
          </a:prstGeom>
          <a:solidFill>
            <a:srgbClr val="F3F4F6"/>
          </a:solidFill>
          <a:ln w="12700">
            <a:solidFill>
              <a:srgbClr val="C9CED8"/>
            </a:solidFill>
            <a:prstDash val="solid"/>
          </a:ln>
        </p:spPr>
        <p:txBody>
          <a:bodyPr/>
          <a:lstStyle/>
          <a:p>
            <a:endParaRPr lang="en-US"/>
          </a:p>
        </p:txBody>
      </p:sp>
      <p:sp>
        <p:nvSpPr>
          <p:cNvPr id="4" name="Text Elastic IP"/>
          <p:cNvSpPr txBox="1"/>
          <p:nvPr/>
        </p:nvSpPr>
        <p:spPr>
          <a:xfrm>
            <a:off x="685800" y="1371600"/>
            <a:ext cx="4663440" cy="73152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Elastic IP</a:t>
            </a:r>
            <a:endParaRPr lang="en-US" sz="1600" dirty="0"/>
          </a:p>
          <a:p>
            <a:pPr marL="0" indent="0">
              <a:buNone/>
            </a:pPr>
            <a:r>
              <a:rPr lang="en-US" sz="1400" dirty="0">
                <a:solidFill>
                  <a:srgbClr val="6B7280"/>
                </a:solidFill>
                <a:latin typeface="Calibri" pitchFamily="34" charset="0"/>
                <a:ea typeface="Calibri" pitchFamily="34" charset="-122"/>
                <a:cs typeface="Calibri" pitchFamily="34" charset="-120"/>
              </a:rPr>
              <a:t>stable public address</a:t>
            </a:r>
            <a:endParaRPr lang="en-US" sz="1600" dirty="0"/>
          </a:p>
        </p:txBody>
      </p:sp>
      <p:sp>
        <p:nvSpPr>
          <p:cNvPr id="5" name="Arrow"/>
          <p:cNvSpPr/>
          <p:nvPr/>
        </p:nvSpPr>
        <p:spPr>
          <a:xfrm>
            <a:off x="3017520" y="2103120"/>
            <a:ext cx="0" cy="320040"/>
          </a:xfrm>
          <a:prstGeom prst="line">
            <a:avLst/>
          </a:prstGeom>
          <a:noFill/>
          <a:ln w="22225">
            <a:solidFill>
              <a:srgbClr val="4453B0"/>
            </a:solidFill>
            <a:prstDash val="solid"/>
            <a:tailEnd type="triangle"/>
          </a:ln>
        </p:spPr>
        <p:txBody>
          <a:bodyPr/>
          <a:lstStyle/>
          <a:p>
            <a:endParaRPr lang="en-US"/>
          </a:p>
        </p:txBody>
      </p:sp>
      <p:sp>
        <p:nvSpPr>
          <p:cNvPr id="6" name="EC2 box"/>
          <p:cNvSpPr/>
          <p:nvPr/>
        </p:nvSpPr>
        <p:spPr>
          <a:xfrm>
            <a:off x="548640" y="2423160"/>
            <a:ext cx="4937760" cy="3611880"/>
          </a:xfrm>
          <a:prstGeom prst="rect">
            <a:avLst/>
          </a:prstGeom>
          <a:solidFill>
            <a:srgbClr val="EEF1FB"/>
          </a:solidFill>
          <a:ln w="12700">
            <a:solidFill>
              <a:srgbClr val="4453B0"/>
            </a:solidFill>
            <a:prstDash val="solid"/>
          </a:ln>
        </p:spPr>
        <p:txBody>
          <a:bodyPr/>
          <a:lstStyle/>
          <a:p>
            <a:endParaRPr lang="en-US"/>
          </a:p>
        </p:txBody>
      </p:sp>
      <p:sp>
        <p:nvSpPr>
          <p:cNvPr id="7" name="EC2 title"/>
          <p:cNvSpPr txBox="1"/>
          <p:nvPr/>
        </p:nvSpPr>
        <p:spPr>
          <a:xfrm>
            <a:off x="731520" y="2514600"/>
            <a:ext cx="4572000" cy="365760"/>
          </a:xfrm>
          <a:prstGeom prst="rect">
            <a:avLst/>
          </a:prstGeom>
          <a:noFill/>
          <a:ln/>
        </p:spPr>
        <p:txBody>
          <a:bodyPr wrap="square" lIns="0" tIns="0" rIns="0" bIns="0" rtlCol="0" anchor="ctr"/>
          <a:lstStyle/>
          <a:p>
            <a:pPr marL="0" indent="0">
              <a:buNone/>
            </a:pPr>
            <a:r>
              <a:rPr lang="en-US" sz="1400" b="1" dirty="0">
                <a:solidFill>
                  <a:srgbClr val="4453B0"/>
                </a:solidFill>
                <a:latin typeface="Calibri" pitchFamily="34" charset="0"/>
                <a:ea typeface="Calibri" pitchFamily="34" charset="-122"/>
                <a:cs typeface="Calibri" pitchFamily="34" charset="-120"/>
              </a:rPr>
              <a:t>EC2 instance: Ubuntu LTS, t3.medium, 30 GB gp3</a:t>
            </a:r>
            <a:endParaRPr lang="en-US" sz="1400" dirty="0"/>
          </a:p>
        </p:txBody>
      </p:sp>
      <p:sp>
        <p:nvSpPr>
          <p:cNvPr id="8" name="Compose subtitle"/>
          <p:cNvSpPr txBox="1"/>
          <p:nvPr/>
        </p:nvSpPr>
        <p:spPr>
          <a:xfrm>
            <a:off x="731520" y="2880360"/>
            <a:ext cx="4572000" cy="32004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docker compose, 7 services</a:t>
            </a:r>
            <a:endParaRPr lang="en-US" sz="1400" dirty="0"/>
          </a:p>
        </p:txBody>
      </p:sp>
      <p:sp>
        <p:nvSpPr>
          <p:cNvPr id="9" name="Service mysql"/>
          <p:cNvSpPr/>
          <p:nvPr/>
        </p:nvSpPr>
        <p:spPr>
          <a:xfrm>
            <a:off x="731520" y="3337560"/>
            <a:ext cx="2194560" cy="502920"/>
          </a:xfrm>
          <a:prstGeom prst="rect">
            <a:avLst/>
          </a:prstGeom>
          <a:solidFill>
            <a:srgbClr val="FFFFFF"/>
          </a:solidFill>
          <a:ln w="12700">
            <a:solidFill>
              <a:srgbClr val="C9CED8"/>
            </a:solidFill>
            <a:prstDash val="solid"/>
          </a:ln>
        </p:spPr>
        <p:txBody>
          <a:bodyPr/>
          <a:lstStyle/>
          <a:p>
            <a:endParaRPr lang="en-US"/>
          </a:p>
        </p:txBody>
      </p:sp>
      <p:sp>
        <p:nvSpPr>
          <p:cNvPr id="10" name="Service text mysql"/>
          <p:cNvSpPr txBox="1"/>
          <p:nvPr/>
        </p:nvSpPr>
        <p:spPr>
          <a:xfrm>
            <a:off x="731520" y="3337560"/>
            <a:ext cx="219456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mysql</a:t>
            </a:r>
            <a:endParaRPr lang="en-US" sz="1400" dirty="0"/>
          </a:p>
        </p:txBody>
      </p:sp>
      <p:sp>
        <p:nvSpPr>
          <p:cNvPr id="11" name="Service redis"/>
          <p:cNvSpPr/>
          <p:nvPr/>
        </p:nvSpPr>
        <p:spPr>
          <a:xfrm>
            <a:off x="3063240" y="3337560"/>
            <a:ext cx="2194560" cy="502920"/>
          </a:xfrm>
          <a:prstGeom prst="rect">
            <a:avLst/>
          </a:prstGeom>
          <a:solidFill>
            <a:srgbClr val="FFFFFF"/>
          </a:solidFill>
          <a:ln w="12700">
            <a:solidFill>
              <a:srgbClr val="C9CED8"/>
            </a:solidFill>
            <a:prstDash val="solid"/>
          </a:ln>
        </p:spPr>
        <p:txBody>
          <a:bodyPr/>
          <a:lstStyle/>
          <a:p>
            <a:endParaRPr lang="en-US"/>
          </a:p>
        </p:txBody>
      </p:sp>
      <p:sp>
        <p:nvSpPr>
          <p:cNvPr id="12" name="Service text redis"/>
          <p:cNvSpPr txBox="1"/>
          <p:nvPr/>
        </p:nvSpPr>
        <p:spPr>
          <a:xfrm>
            <a:off x="3063240" y="3337560"/>
            <a:ext cx="219456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redis</a:t>
            </a:r>
            <a:endParaRPr lang="en-US" sz="1400" dirty="0"/>
          </a:p>
        </p:txBody>
      </p:sp>
      <p:sp>
        <p:nvSpPr>
          <p:cNvPr id="13" name="Service migrate"/>
          <p:cNvSpPr/>
          <p:nvPr/>
        </p:nvSpPr>
        <p:spPr>
          <a:xfrm>
            <a:off x="731520" y="3977640"/>
            <a:ext cx="2194560" cy="502920"/>
          </a:xfrm>
          <a:prstGeom prst="rect">
            <a:avLst/>
          </a:prstGeom>
          <a:solidFill>
            <a:srgbClr val="FFFFFF"/>
          </a:solidFill>
          <a:ln w="12700">
            <a:solidFill>
              <a:srgbClr val="C9CED8"/>
            </a:solidFill>
            <a:prstDash val="solid"/>
          </a:ln>
        </p:spPr>
        <p:txBody>
          <a:bodyPr/>
          <a:lstStyle/>
          <a:p>
            <a:endParaRPr lang="en-US"/>
          </a:p>
        </p:txBody>
      </p:sp>
      <p:sp>
        <p:nvSpPr>
          <p:cNvPr id="14" name="Service text migrate"/>
          <p:cNvSpPr txBox="1"/>
          <p:nvPr/>
        </p:nvSpPr>
        <p:spPr>
          <a:xfrm>
            <a:off x="731520" y="3977640"/>
            <a:ext cx="219456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migrate</a:t>
            </a:r>
            <a:endParaRPr lang="en-US" sz="1400" dirty="0"/>
          </a:p>
        </p:txBody>
      </p:sp>
      <p:sp>
        <p:nvSpPr>
          <p:cNvPr id="15" name="Service backend"/>
          <p:cNvSpPr/>
          <p:nvPr/>
        </p:nvSpPr>
        <p:spPr>
          <a:xfrm>
            <a:off x="3063240" y="3977640"/>
            <a:ext cx="2194560" cy="502920"/>
          </a:xfrm>
          <a:prstGeom prst="rect">
            <a:avLst/>
          </a:prstGeom>
          <a:solidFill>
            <a:srgbClr val="FFFFFF"/>
          </a:solidFill>
          <a:ln w="12700">
            <a:solidFill>
              <a:srgbClr val="C9CED8"/>
            </a:solidFill>
            <a:prstDash val="solid"/>
          </a:ln>
        </p:spPr>
        <p:txBody>
          <a:bodyPr/>
          <a:lstStyle/>
          <a:p>
            <a:endParaRPr lang="en-US"/>
          </a:p>
        </p:txBody>
      </p:sp>
      <p:sp>
        <p:nvSpPr>
          <p:cNvPr id="16" name="Service text backend"/>
          <p:cNvSpPr txBox="1"/>
          <p:nvPr/>
        </p:nvSpPr>
        <p:spPr>
          <a:xfrm>
            <a:off x="3063240" y="3977640"/>
            <a:ext cx="219456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backend</a:t>
            </a:r>
            <a:endParaRPr lang="en-US" sz="1400" dirty="0"/>
          </a:p>
        </p:txBody>
      </p:sp>
      <p:sp>
        <p:nvSpPr>
          <p:cNvPr id="17" name="Service worker"/>
          <p:cNvSpPr/>
          <p:nvPr/>
        </p:nvSpPr>
        <p:spPr>
          <a:xfrm>
            <a:off x="731520" y="4617720"/>
            <a:ext cx="2194560" cy="502920"/>
          </a:xfrm>
          <a:prstGeom prst="rect">
            <a:avLst/>
          </a:prstGeom>
          <a:solidFill>
            <a:srgbClr val="FFFFFF"/>
          </a:solidFill>
          <a:ln w="12700">
            <a:solidFill>
              <a:srgbClr val="C9CED8"/>
            </a:solidFill>
            <a:prstDash val="solid"/>
          </a:ln>
        </p:spPr>
        <p:txBody>
          <a:bodyPr/>
          <a:lstStyle/>
          <a:p>
            <a:endParaRPr lang="en-US"/>
          </a:p>
        </p:txBody>
      </p:sp>
      <p:sp>
        <p:nvSpPr>
          <p:cNvPr id="18" name="Service text worker"/>
          <p:cNvSpPr txBox="1"/>
          <p:nvPr/>
        </p:nvSpPr>
        <p:spPr>
          <a:xfrm>
            <a:off x="731520" y="4617720"/>
            <a:ext cx="219456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worker</a:t>
            </a:r>
            <a:endParaRPr lang="en-US" sz="1400" dirty="0"/>
          </a:p>
        </p:txBody>
      </p:sp>
      <p:sp>
        <p:nvSpPr>
          <p:cNvPr id="19" name="Service frontend"/>
          <p:cNvSpPr/>
          <p:nvPr/>
        </p:nvSpPr>
        <p:spPr>
          <a:xfrm>
            <a:off x="3063240" y="4617720"/>
            <a:ext cx="2194560" cy="502920"/>
          </a:xfrm>
          <a:prstGeom prst="rect">
            <a:avLst/>
          </a:prstGeom>
          <a:solidFill>
            <a:srgbClr val="FFFFFF"/>
          </a:solidFill>
          <a:ln w="12700">
            <a:solidFill>
              <a:srgbClr val="C9CED8"/>
            </a:solidFill>
            <a:prstDash val="solid"/>
          </a:ln>
        </p:spPr>
        <p:txBody>
          <a:bodyPr/>
          <a:lstStyle/>
          <a:p>
            <a:endParaRPr lang="en-US"/>
          </a:p>
        </p:txBody>
      </p:sp>
      <p:sp>
        <p:nvSpPr>
          <p:cNvPr id="20" name="Service text frontend"/>
          <p:cNvSpPr txBox="1"/>
          <p:nvPr/>
        </p:nvSpPr>
        <p:spPr>
          <a:xfrm>
            <a:off x="3063240" y="4617720"/>
            <a:ext cx="219456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frontend</a:t>
            </a:r>
            <a:endParaRPr lang="en-US" sz="1400" dirty="0"/>
          </a:p>
        </p:txBody>
      </p:sp>
      <p:sp>
        <p:nvSpPr>
          <p:cNvPr id="21" name="Service saas-frontend"/>
          <p:cNvSpPr/>
          <p:nvPr/>
        </p:nvSpPr>
        <p:spPr>
          <a:xfrm>
            <a:off x="731520" y="5257800"/>
            <a:ext cx="2103120" cy="502920"/>
          </a:xfrm>
          <a:prstGeom prst="rect">
            <a:avLst/>
          </a:prstGeom>
          <a:solidFill>
            <a:srgbClr val="FFFFFF"/>
          </a:solidFill>
          <a:ln w="12700">
            <a:solidFill>
              <a:srgbClr val="C9CED8"/>
            </a:solidFill>
            <a:prstDash val="solid"/>
          </a:ln>
        </p:spPr>
        <p:txBody>
          <a:bodyPr/>
          <a:lstStyle/>
          <a:p>
            <a:endParaRPr lang="en-US"/>
          </a:p>
        </p:txBody>
      </p:sp>
      <p:sp>
        <p:nvSpPr>
          <p:cNvPr id="22" name="Service text saas-frontend"/>
          <p:cNvSpPr txBox="1"/>
          <p:nvPr/>
        </p:nvSpPr>
        <p:spPr>
          <a:xfrm>
            <a:off x="731520" y="5257800"/>
            <a:ext cx="2103120" cy="502920"/>
          </a:xfrm>
          <a:prstGeom prst="rect">
            <a:avLst/>
          </a:prstGeom>
          <a:noFill/>
          <a:ln/>
        </p:spPr>
        <p:txBody>
          <a:bodyPr wrap="square" lIns="0" tIns="0" rIns="0" bIns="0" rtlCol="0" anchor="ctr"/>
          <a:lstStyle/>
          <a:p>
            <a:pPr marL="0" indent="0" algn="ctr">
              <a:buNone/>
            </a:pPr>
            <a:r>
              <a:rPr lang="en-US" sz="1400" b="1" dirty="0">
                <a:solidFill>
                  <a:srgbClr val="1F2937"/>
                </a:solidFill>
                <a:latin typeface="Courier New" pitchFamily="34" charset="0"/>
                <a:ea typeface="Courier New" pitchFamily="34" charset="-122"/>
                <a:cs typeface="Courier New" pitchFamily="34" charset="-120"/>
              </a:rPr>
              <a:t>saas-frontend</a:t>
            </a:r>
            <a:endParaRPr lang="en-US" sz="1400" dirty="0"/>
          </a:p>
        </p:txBody>
      </p:sp>
      <p:sp>
        <p:nvSpPr>
          <p:cNvPr id="23" name="Facts heading"/>
          <p:cNvSpPr txBox="1"/>
          <p:nvPr/>
        </p:nvSpPr>
        <p:spPr>
          <a:xfrm>
            <a:off x="6035040" y="1371600"/>
            <a:ext cx="5577840" cy="36576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How it was deployed</a:t>
            </a:r>
            <a:endParaRPr lang="en-US" sz="2200" dirty="0"/>
          </a:p>
        </p:txBody>
      </p:sp>
      <p:sp>
        <p:nvSpPr>
          <p:cNvPr id="24" name="Facts bullets"/>
          <p:cNvSpPr txBox="1"/>
          <p:nvPr/>
        </p:nvSpPr>
        <p:spPr>
          <a:xfrm>
            <a:off x="6035040" y="1874520"/>
            <a:ext cx="5577840" cy="30175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User-data script installs Docker, Compose and a 2 GB swapfile at first boot</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Same docker-compose.yml as local: build once, run anywhere</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Security group: SSH from my IP, ports 4000, 5173, 5174 only</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MySQL and Redis are not exposed to the internet</a:t>
            </a:r>
            <a:endParaRPr lang="en-US" sz="1600" dirty="0"/>
          </a:p>
          <a:p>
            <a:pPr marL="342900" indent="-342900">
              <a:spcAft>
                <a:spcPts val="1000"/>
              </a:spcAft>
              <a:buSzPct val="100000"/>
              <a:buChar char="•"/>
            </a:pPr>
            <a:r>
              <a:rPr lang="en-US" sz="1600" dirty="0">
                <a:solidFill>
                  <a:srgbClr val="1F2937"/>
                </a:solidFill>
                <a:latin typeface="Calibri" pitchFamily="34" charset="0"/>
                <a:ea typeface="Calibri" pitchFamily="34" charset="-122"/>
                <a:cs typeface="Calibri" pitchFamily="34" charset="-120"/>
              </a:rPr>
              <a:t>set-public-ip script rewrites frontend and CORS URLs for the Elastic IP</a:t>
            </a:r>
            <a:endParaRPr lang="en-US" sz="1600" dirty="0"/>
          </a:p>
        </p:txBody>
      </p:sp>
      <p:sp>
        <p:nvSpPr>
          <p:cNvPr id="25" name="Trade-off box"/>
          <p:cNvSpPr/>
          <p:nvPr/>
        </p:nvSpPr>
        <p:spPr>
          <a:xfrm>
            <a:off x="6035040" y="5029200"/>
            <a:ext cx="5605272" cy="1005840"/>
          </a:xfrm>
          <a:prstGeom prst="rect">
            <a:avLst/>
          </a:prstGeom>
          <a:solidFill>
            <a:srgbClr val="F3F4F6"/>
          </a:solidFill>
          <a:ln w="12700">
            <a:solidFill>
              <a:srgbClr val="C9CED8"/>
            </a:solidFill>
            <a:prstDash val="solid"/>
          </a:ln>
        </p:spPr>
        <p:txBody>
          <a:bodyPr/>
          <a:lstStyle/>
          <a:p>
            <a:endParaRPr lang="en-US"/>
          </a:p>
        </p:txBody>
      </p:sp>
      <p:sp>
        <p:nvSpPr>
          <p:cNvPr id="26" name="Trade-off text"/>
          <p:cNvSpPr txBox="1"/>
          <p:nvPr/>
        </p:nvSpPr>
        <p:spPr>
          <a:xfrm>
            <a:off x="6217920" y="5029200"/>
            <a:ext cx="5239512" cy="1005840"/>
          </a:xfrm>
          <a:prstGeom prst="rect">
            <a:avLst/>
          </a:prstGeom>
          <a:noFill/>
          <a:ln/>
        </p:spPr>
        <p:txBody>
          <a:bodyPr wrap="square" lIns="0" tIns="0" rIns="0" bIns="0" rtlCol="0" anchor="ctr"/>
          <a:lstStyle/>
          <a:p>
            <a:pPr marL="0" indent="0">
              <a:buNone/>
            </a:pPr>
            <a:r>
              <a:rPr lang="en-US" sz="1600" b="1" dirty="0">
                <a:solidFill>
                  <a:srgbClr val="1F2937"/>
                </a:solidFill>
                <a:latin typeface="Calibri" pitchFamily="34" charset="0"/>
                <a:ea typeface="Calibri" pitchFamily="34" charset="-122"/>
                <a:cs typeface="Calibri" pitchFamily="34" charset="-120"/>
              </a:rPr>
              <a:t>Trade-off: </a:t>
            </a:r>
            <a:r>
              <a:rPr lang="en-US" sz="1600" dirty="0">
                <a:solidFill>
                  <a:srgbClr val="1F2937"/>
                </a:solidFill>
                <a:latin typeface="Calibri" pitchFamily="34" charset="0"/>
                <a:ea typeface="Calibri" pitchFamily="34" charset="-122"/>
                <a:cs typeface="Calibri" pitchFamily="34" charset="-120"/>
              </a:rPr>
              <a:t>one low-cost instance over RDS and a load balancer. Next step: HTTPS, a domain, and a managed database.</a:t>
            </a:r>
            <a:endParaRPr lang="en-US" sz="1600" dirty="0"/>
          </a:p>
        </p:txBody>
      </p:sp>
      <p:sp>
        <p:nvSpPr>
          <p:cNvPr id="27"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Outcomes and Achievements</a:t>
            </a:r>
            <a:endParaRPr lang="en-US" sz="3200" dirty="0"/>
          </a:p>
        </p:txBody>
      </p:sp>
      <p:sp>
        <p:nvSpPr>
          <p:cNvPr id="3" name="Outcomes heading"/>
          <p:cNvSpPr txBox="1"/>
          <p:nvPr/>
        </p:nvSpPr>
        <p:spPr>
          <a:xfrm>
            <a:off x="548640" y="1371600"/>
            <a:ext cx="5669280" cy="36576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What works</a:t>
            </a:r>
            <a:endParaRPr lang="en-US" sz="2200" dirty="0"/>
          </a:p>
        </p:txBody>
      </p:sp>
      <p:sp>
        <p:nvSpPr>
          <p:cNvPr id="4" name="Outcomes bullets"/>
          <p:cNvSpPr txBox="1"/>
          <p:nvPr/>
        </p:nvSpPr>
        <p:spPr>
          <a:xfrm>
            <a:off x="548640" y="1874520"/>
            <a:ext cx="5669280" cy="402336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1F2937"/>
                </a:solidFill>
                <a:latin typeface="Calibri" pitchFamily="34" charset="0"/>
                <a:ea typeface="Calibri" pitchFamily="34" charset="-122"/>
                <a:cs typeface="Calibri" pitchFamily="34" charset="-120"/>
              </a:rPr>
              <a:t>Signup to a running company with one approval</a:t>
            </a:r>
            <a:endParaRPr lang="en-US" sz="1800" dirty="0"/>
          </a:p>
          <a:p>
            <a:pPr marL="342900" indent="-342900">
              <a:spcAft>
                <a:spcPts val="1200"/>
              </a:spcAft>
              <a:buSzPct val="100000"/>
              <a:buChar char="•"/>
            </a:pPr>
            <a:r>
              <a:rPr lang="en-US" sz="1800" dirty="0">
                <a:solidFill>
                  <a:srgbClr val="1F2937"/>
                </a:solidFill>
                <a:latin typeface="Calibri" pitchFamily="34" charset="0"/>
                <a:ea typeface="Calibri" pitchFamily="34" charset="-122"/>
                <a:cs typeface="Calibri" pitchFamily="34" charset="-120"/>
              </a:rPr>
              <a:t>Attendance checks: IP, geofence, device binding, QR kiosk</a:t>
            </a:r>
            <a:endParaRPr lang="en-US" sz="1800" dirty="0"/>
          </a:p>
          <a:p>
            <a:pPr marL="342900" indent="-342900">
              <a:spcAft>
                <a:spcPts val="1200"/>
              </a:spcAft>
              <a:buSzPct val="100000"/>
              <a:buChar char="•"/>
            </a:pPr>
            <a:r>
              <a:rPr lang="en-US" sz="1800" dirty="0">
                <a:solidFill>
                  <a:srgbClr val="1F2937"/>
                </a:solidFill>
                <a:latin typeface="Calibri" pitchFamily="34" charset="0"/>
                <a:ea typeface="Calibri" pitchFamily="34" charset="-122"/>
                <a:cs typeface="Calibri" pitchFamily="34" charset="-120"/>
              </a:rPr>
              <a:t>Multi-step leave approvals and drag-and-drop rosters</a:t>
            </a:r>
            <a:endParaRPr lang="en-US" sz="1800" dirty="0"/>
          </a:p>
          <a:p>
            <a:pPr marL="342900" indent="-342900">
              <a:spcAft>
                <a:spcPts val="1200"/>
              </a:spcAft>
              <a:buSzPct val="100000"/>
              <a:buChar char="•"/>
            </a:pPr>
            <a:r>
              <a:rPr lang="en-US" sz="1800" dirty="0">
                <a:solidFill>
                  <a:srgbClr val="1F2937"/>
                </a:solidFill>
                <a:latin typeface="Calibri" pitchFamily="34" charset="0"/>
                <a:ea typeface="Calibri" pitchFamily="34" charset="-122"/>
                <a:cs typeface="Calibri" pitchFamily="34" charset="-120"/>
              </a:rPr>
              <a:t>Payroll runs with PDF payslips</a:t>
            </a:r>
            <a:endParaRPr lang="en-US" sz="1800" dirty="0"/>
          </a:p>
          <a:p>
            <a:pPr marL="342900" indent="-342900">
              <a:spcAft>
                <a:spcPts val="1200"/>
              </a:spcAft>
              <a:buSzPct val="100000"/>
              <a:buChar char="•"/>
            </a:pPr>
            <a:r>
              <a:rPr lang="en-US" sz="1800" dirty="0">
                <a:solidFill>
                  <a:srgbClr val="1F2937"/>
                </a:solidFill>
                <a:latin typeface="Calibri" pitchFamily="34" charset="0"/>
                <a:ea typeface="Calibri" pitchFamily="34" charset="-122"/>
                <a:cs typeface="Calibri" pitchFamily="34" charset="-120"/>
              </a:rPr>
              <a:t>Recruitment pipeline with AI-generated assessments</a:t>
            </a:r>
            <a:endParaRPr lang="en-US" sz="1800" dirty="0"/>
          </a:p>
          <a:p>
            <a:pPr marL="342900" indent="-342900">
              <a:spcAft>
                <a:spcPts val="1200"/>
              </a:spcAft>
              <a:buSzPct val="100000"/>
              <a:buChar char="•"/>
            </a:pPr>
            <a:r>
              <a:rPr lang="en-US" sz="1800" dirty="0">
                <a:solidFill>
                  <a:srgbClr val="1F2937"/>
                </a:solidFill>
                <a:latin typeface="Calibri" pitchFamily="34" charset="0"/>
                <a:ea typeface="Calibri" pitchFamily="34" charset="-122"/>
                <a:cs typeface="Calibri" pitchFamily="34" charset="-120"/>
              </a:rPr>
              <a:t>Deployed and running on AWS</a:t>
            </a:r>
            <a:endParaRPr lang="en-US" sz="1800" dirty="0"/>
          </a:p>
        </p:txBody>
      </p:sp>
      <p:sp>
        <p:nvSpPr>
          <p:cNvPr id="5" name="Numbers heading"/>
          <p:cNvSpPr txBox="1"/>
          <p:nvPr/>
        </p:nvSpPr>
        <p:spPr>
          <a:xfrm>
            <a:off x="6583680" y="1371600"/>
            <a:ext cx="5029200" cy="36576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By the numbers</a:t>
            </a:r>
            <a:endParaRPr lang="en-US" sz="2200" dirty="0"/>
          </a:p>
        </p:txBody>
      </p:sp>
      <p:sp>
        <p:nvSpPr>
          <p:cNvPr id="6" name="Stat row 1"/>
          <p:cNvSpPr/>
          <p:nvPr/>
        </p:nvSpPr>
        <p:spPr>
          <a:xfrm>
            <a:off x="6583680" y="1874520"/>
            <a:ext cx="5056632" cy="585216"/>
          </a:xfrm>
          <a:prstGeom prst="rect">
            <a:avLst/>
          </a:prstGeom>
          <a:solidFill>
            <a:srgbClr val="F3F4F6"/>
          </a:solidFill>
          <a:ln w="12700">
            <a:solidFill>
              <a:srgbClr val="C9CED8"/>
            </a:solidFill>
            <a:prstDash val="solid"/>
          </a:ln>
        </p:spPr>
        <p:txBody>
          <a:bodyPr/>
          <a:lstStyle/>
          <a:p>
            <a:endParaRPr lang="en-US"/>
          </a:p>
        </p:txBody>
      </p:sp>
      <p:sp>
        <p:nvSpPr>
          <p:cNvPr id="7" name="Stat number 1"/>
          <p:cNvSpPr txBox="1"/>
          <p:nvPr/>
        </p:nvSpPr>
        <p:spPr>
          <a:xfrm>
            <a:off x="6720840" y="1874520"/>
            <a:ext cx="822960" cy="585216"/>
          </a:xfrm>
          <a:prstGeom prst="rect">
            <a:avLst/>
          </a:prstGeom>
          <a:noFill/>
          <a:ln/>
        </p:spPr>
        <p:txBody>
          <a:bodyPr wrap="square" lIns="0" tIns="0" rIns="0" bIns="0" rtlCol="0" anchor="ctr"/>
          <a:lstStyle/>
          <a:p>
            <a:pPr marL="0" indent="0">
              <a:buNone/>
            </a:pPr>
            <a:r>
              <a:rPr lang="en-US" sz="2600" b="1" dirty="0">
                <a:solidFill>
                  <a:srgbClr val="4453B0"/>
                </a:solidFill>
                <a:latin typeface="Calibri" pitchFamily="34" charset="0"/>
                <a:ea typeface="Calibri" pitchFamily="34" charset="-122"/>
                <a:cs typeface="Calibri" pitchFamily="34" charset="-120"/>
              </a:rPr>
              <a:t>55</a:t>
            </a:r>
            <a:endParaRPr lang="en-US" sz="2600" dirty="0"/>
          </a:p>
        </p:txBody>
      </p:sp>
      <p:sp>
        <p:nvSpPr>
          <p:cNvPr id="8" name="Stat label 1"/>
          <p:cNvSpPr txBox="1"/>
          <p:nvPr/>
        </p:nvSpPr>
        <p:spPr>
          <a:xfrm>
            <a:off x="7589520" y="1874520"/>
            <a:ext cx="3931920" cy="585216"/>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backend feature modules</a:t>
            </a:r>
            <a:endParaRPr lang="en-US" sz="1600" dirty="0"/>
          </a:p>
        </p:txBody>
      </p:sp>
      <p:sp>
        <p:nvSpPr>
          <p:cNvPr id="9" name="Stat row 2"/>
          <p:cNvSpPr/>
          <p:nvPr/>
        </p:nvSpPr>
        <p:spPr>
          <a:xfrm>
            <a:off x="6583680" y="2560320"/>
            <a:ext cx="5056632" cy="585216"/>
          </a:xfrm>
          <a:prstGeom prst="rect">
            <a:avLst/>
          </a:prstGeom>
          <a:solidFill>
            <a:srgbClr val="FFFFFF"/>
          </a:solidFill>
          <a:ln w="12700">
            <a:solidFill>
              <a:srgbClr val="C9CED8"/>
            </a:solidFill>
            <a:prstDash val="solid"/>
          </a:ln>
        </p:spPr>
        <p:txBody>
          <a:bodyPr/>
          <a:lstStyle/>
          <a:p>
            <a:endParaRPr lang="en-US"/>
          </a:p>
        </p:txBody>
      </p:sp>
      <p:sp>
        <p:nvSpPr>
          <p:cNvPr id="10" name="Stat number 2"/>
          <p:cNvSpPr txBox="1"/>
          <p:nvPr/>
        </p:nvSpPr>
        <p:spPr>
          <a:xfrm>
            <a:off x="6720840" y="2560320"/>
            <a:ext cx="822960" cy="585216"/>
          </a:xfrm>
          <a:prstGeom prst="rect">
            <a:avLst/>
          </a:prstGeom>
          <a:noFill/>
          <a:ln/>
        </p:spPr>
        <p:txBody>
          <a:bodyPr wrap="square" lIns="0" tIns="0" rIns="0" bIns="0" rtlCol="0" anchor="ctr"/>
          <a:lstStyle/>
          <a:p>
            <a:pPr marL="0" indent="0">
              <a:buNone/>
            </a:pPr>
            <a:r>
              <a:rPr lang="en-US" sz="2600" b="1" dirty="0">
                <a:solidFill>
                  <a:srgbClr val="4453B0"/>
                </a:solidFill>
                <a:latin typeface="Calibri" pitchFamily="34" charset="0"/>
                <a:ea typeface="Calibri" pitchFamily="34" charset="-122"/>
                <a:cs typeface="Calibri" pitchFamily="34" charset="-120"/>
              </a:rPr>
              <a:t>96</a:t>
            </a:r>
            <a:endParaRPr lang="en-US" sz="2600" dirty="0"/>
          </a:p>
        </p:txBody>
      </p:sp>
      <p:sp>
        <p:nvSpPr>
          <p:cNvPr id="11" name="Stat label 2"/>
          <p:cNvSpPr txBox="1"/>
          <p:nvPr/>
        </p:nvSpPr>
        <p:spPr>
          <a:xfrm>
            <a:off x="7589520" y="2560320"/>
            <a:ext cx="3931920" cy="585216"/>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database models (11 control + 85 tenant)</a:t>
            </a:r>
            <a:endParaRPr lang="en-US" sz="1600" dirty="0"/>
          </a:p>
        </p:txBody>
      </p:sp>
      <p:sp>
        <p:nvSpPr>
          <p:cNvPr id="12" name="Stat row 3"/>
          <p:cNvSpPr/>
          <p:nvPr/>
        </p:nvSpPr>
        <p:spPr>
          <a:xfrm>
            <a:off x="6583680" y="3246120"/>
            <a:ext cx="5056632" cy="585216"/>
          </a:xfrm>
          <a:prstGeom prst="rect">
            <a:avLst/>
          </a:prstGeom>
          <a:solidFill>
            <a:srgbClr val="F3F4F6"/>
          </a:solidFill>
          <a:ln w="12700">
            <a:solidFill>
              <a:srgbClr val="C9CED8"/>
            </a:solidFill>
            <a:prstDash val="solid"/>
          </a:ln>
        </p:spPr>
        <p:txBody>
          <a:bodyPr/>
          <a:lstStyle/>
          <a:p>
            <a:endParaRPr lang="en-US"/>
          </a:p>
        </p:txBody>
      </p:sp>
      <p:sp>
        <p:nvSpPr>
          <p:cNvPr id="13" name="Stat number 3"/>
          <p:cNvSpPr txBox="1"/>
          <p:nvPr/>
        </p:nvSpPr>
        <p:spPr>
          <a:xfrm>
            <a:off x="6720840" y="3246120"/>
            <a:ext cx="822960" cy="585216"/>
          </a:xfrm>
          <a:prstGeom prst="rect">
            <a:avLst/>
          </a:prstGeom>
          <a:noFill/>
          <a:ln/>
        </p:spPr>
        <p:txBody>
          <a:bodyPr wrap="square" lIns="0" tIns="0" rIns="0" bIns="0" rtlCol="0" anchor="ctr"/>
          <a:lstStyle/>
          <a:p>
            <a:pPr marL="0" indent="0">
              <a:buNone/>
            </a:pPr>
            <a:r>
              <a:rPr lang="en-US" sz="2600" b="1" dirty="0">
                <a:solidFill>
                  <a:srgbClr val="4453B0"/>
                </a:solidFill>
                <a:latin typeface="Calibri" pitchFamily="34" charset="0"/>
                <a:ea typeface="Calibri" pitchFamily="34" charset="-122"/>
                <a:cs typeface="Calibri" pitchFamily="34" charset="-120"/>
              </a:rPr>
              <a:t>47</a:t>
            </a:r>
            <a:endParaRPr lang="en-US" sz="2600" dirty="0"/>
          </a:p>
        </p:txBody>
      </p:sp>
      <p:sp>
        <p:nvSpPr>
          <p:cNvPr id="14" name="Stat label 3"/>
          <p:cNvSpPr txBox="1"/>
          <p:nvPr/>
        </p:nvSpPr>
        <p:spPr>
          <a:xfrm>
            <a:off x="7589520" y="3246120"/>
            <a:ext cx="3931920" cy="585216"/>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automated test files, with CI</a:t>
            </a:r>
            <a:endParaRPr lang="en-US" sz="1600" dirty="0"/>
          </a:p>
        </p:txBody>
      </p:sp>
      <p:sp>
        <p:nvSpPr>
          <p:cNvPr id="15" name="Stat row 4"/>
          <p:cNvSpPr/>
          <p:nvPr/>
        </p:nvSpPr>
        <p:spPr>
          <a:xfrm>
            <a:off x="6583680" y="3931920"/>
            <a:ext cx="5056632" cy="585216"/>
          </a:xfrm>
          <a:prstGeom prst="rect">
            <a:avLst/>
          </a:prstGeom>
          <a:solidFill>
            <a:srgbClr val="FFFFFF"/>
          </a:solidFill>
          <a:ln w="12700">
            <a:solidFill>
              <a:srgbClr val="C9CED8"/>
            </a:solidFill>
            <a:prstDash val="solid"/>
          </a:ln>
        </p:spPr>
        <p:txBody>
          <a:bodyPr/>
          <a:lstStyle/>
          <a:p>
            <a:endParaRPr lang="en-US"/>
          </a:p>
        </p:txBody>
      </p:sp>
      <p:sp>
        <p:nvSpPr>
          <p:cNvPr id="16" name="Stat number 4"/>
          <p:cNvSpPr txBox="1"/>
          <p:nvPr/>
        </p:nvSpPr>
        <p:spPr>
          <a:xfrm>
            <a:off x="6720840" y="3931920"/>
            <a:ext cx="822960" cy="585216"/>
          </a:xfrm>
          <a:prstGeom prst="rect">
            <a:avLst/>
          </a:prstGeom>
          <a:noFill/>
          <a:ln/>
        </p:spPr>
        <p:txBody>
          <a:bodyPr wrap="square" lIns="0" tIns="0" rIns="0" bIns="0" rtlCol="0" anchor="ctr"/>
          <a:lstStyle/>
          <a:p>
            <a:pPr marL="0" indent="0">
              <a:buNone/>
            </a:pPr>
            <a:r>
              <a:rPr lang="en-US" sz="2600" b="1" dirty="0">
                <a:solidFill>
                  <a:srgbClr val="4453B0"/>
                </a:solidFill>
                <a:latin typeface="Calibri" pitchFamily="34" charset="0"/>
                <a:ea typeface="Calibri" pitchFamily="34" charset="-122"/>
                <a:cs typeface="Calibri" pitchFamily="34" charset="-120"/>
              </a:rPr>
              <a:t>6</a:t>
            </a:r>
            <a:endParaRPr lang="en-US" sz="2600" dirty="0"/>
          </a:p>
        </p:txBody>
      </p:sp>
      <p:sp>
        <p:nvSpPr>
          <p:cNvPr id="17" name="Stat label 4"/>
          <p:cNvSpPr txBox="1"/>
          <p:nvPr/>
        </p:nvSpPr>
        <p:spPr>
          <a:xfrm>
            <a:off x="7589520" y="3931920"/>
            <a:ext cx="3931920" cy="585216"/>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roles, 6 BullMQ queues</a:t>
            </a:r>
            <a:endParaRPr lang="en-US" sz="1600" dirty="0"/>
          </a:p>
        </p:txBody>
      </p:sp>
      <p:sp>
        <p:nvSpPr>
          <p:cNvPr id="18" name="Stat row 5"/>
          <p:cNvSpPr/>
          <p:nvPr/>
        </p:nvSpPr>
        <p:spPr>
          <a:xfrm>
            <a:off x="6583680" y="4617720"/>
            <a:ext cx="5056632" cy="585216"/>
          </a:xfrm>
          <a:prstGeom prst="rect">
            <a:avLst/>
          </a:prstGeom>
          <a:solidFill>
            <a:srgbClr val="F3F4F6"/>
          </a:solidFill>
          <a:ln w="12700">
            <a:solidFill>
              <a:srgbClr val="C9CED8"/>
            </a:solidFill>
            <a:prstDash val="solid"/>
          </a:ln>
        </p:spPr>
        <p:txBody>
          <a:bodyPr/>
          <a:lstStyle/>
          <a:p>
            <a:endParaRPr lang="en-US"/>
          </a:p>
        </p:txBody>
      </p:sp>
      <p:sp>
        <p:nvSpPr>
          <p:cNvPr id="19" name="Stat number 5"/>
          <p:cNvSpPr txBox="1"/>
          <p:nvPr/>
        </p:nvSpPr>
        <p:spPr>
          <a:xfrm>
            <a:off x="6720840" y="4617720"/>
            <a:ext cx="822960" cy="585216"/>
          </a:xfrm>
          <a:prstGeom prst="rect">
            <a:avLst/>
          </a:prstGeom>
          <a:noFill/>
          <a:ln/>
        </p:spPr>
        <p:txBody>
          <a:bodyPr wrap="square" lIns="0" tIns="0" rIns="0" bIns="0" rtlCol="0" anchor="ctr"/>
          <a:lstStyle/>
          <a:p>
            <a:pPr marL="0" indent="0">
              <a:buNone/>
            </a:pPr>
            <a:r>
              <a:rPr lang="en-US" sz="2600" b="1" dirty="0">
                <a:solidFill>
                  <a:srgbClr val="4453B0"/>
                </a:solidFill>
                <a:latin typeface="Calibri" pitchFamily="34" charset="0"/>
                <a:ea typeface="Calibri" pitchFamily="34" charset="-122"/>
                <a:cs typeface="Calibri" pitchFamily="34" charset="-120"/>
              </a:rPr>
              <a:t>4</a:t>
            </a:r>
            <a:endParaRPr lang="en-US" sz="2600" dirty="0"/>
          </a:p>
        </p:txBody>
      </p:sp>
      <p:sp>
        <p:nvSpPr>
          <p:cNvPr id="20" name="Stat label 5"/>
          <p:cNvSpPr txBox="1"/>
          <p:nvPr/>
        </p:nvSpPr>
        <p:spPr>
          <a:xfrm>
            <a:off x="7589520" y="4617720"/>
            <a:ext cx="3931920" cy="585216"/>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pluggable LLM providers</a:t>
            </a:r>
            <a:endParaRPr lang="en-US" sz="1600" dirty="0"/>
          </a:p>
        </p:txBody>
      </p:sp>
      <p:sp>
        <p:nvSpPr>
          <p:cNvPr id="21" name="Stat row 6"/>
          <p:cNvSpPr/>
          <p:nvPr/>
        </p:nvSpPr>
        <p:spPr>
          <a:xfrm>
            <a:off x="6583680" y="5303520"/>
            <a:ext cx="5056632" cy="585216"/>
          </a:xfrm>
          <a:prstGeom prst="rect">
            <a:avLst/>
          </a:prstGeom>
          <a:solidFill>
            <a:srgbClr val="FFFFFF"/>
          </a:solidFill>
          <a:ln w="12700">
            <a:solidFill>
              <a:srgbClr val="C9CED8"/>
            </a:solidFill>
            <a:prstDash val="solid"/>
          </a:ln>
        </p:spPr>
        <p:txBody>
          <a:bodyPr/>
          <a:lstStyle/>
          <a:p>
            <a:endParaRPr lang="en-US"/>
          </a:p>
        </p:txBody>
      </p:sp>
      <p:sp>
        <p:nvSpPr>
          <p:cNvPr id="22" name="Stat number 6"/>
          <p:cNvSpPr txBox="1"/>
          <p:nvPr/>
        </p:nvSpPr>
        <p:spPr>
          <a:xfrm>
            <a:off x="6720840" y="5303520"/>
            <a:ext cx="822960" cy="585216"/>
          </a:xfrm>
          <a:prstGeom prst="rect">
            <a:avLst/>
          </a:prstGeom>
          <a:noFill/>
          <a:ln/>
        </p:spPr>
        <p:txBody>
          <a:bodyPr wrap="square" lIns="0" tIns="0" rIns="0" bIns="0" rtlCol="0" anchor="ctr"/>
          <a:lstStyle/>
          <a:p>
            <a:pPr marL="0" indent="0">
              <a:buNone/>
            </a:pPr>
            <a:r>
              <a:rPr lang="en-US" sz="2600" b="1" dirty="0">
                <a:solidFill>
                  <a:srgbClr val="4453B0"/>
                </a:solidFill>
                <a:latin typeface="Calibri" pitchFamily="34" charset="0"/>
                <a:ea typeface="Calibri" pitchFamily="34" charset="-122"/>
                <a:cs typeface="Calibri" pitchFamily="34" charset="-120"/>
              </a:rPr>
              <a:t>43</a:t>
            </a:r>
            <a:endParaRPr lang="en-US" sz="2600" dirty="0"/>
          </a:p>
        </p:txBody>
      </p:sp>
      <p:sp>
        <p:nvSpPr>
          <p:cNvPr id="23" name="Stat label 6"/>
          <p:cNvSpPr txBox="1"/>
          <p:nvPr/>
        </p:nvSpPr>
        <p:spPr>
          <a:xfrm>
            <a:off x="7589520" y="5303520"/>
            <a:ext cx="3931920" cy="585216"/>
          </a:xfrm>
          <a:prstGeom prst="rect">
            <a:avLst/>
          </a:prstGeom>
          <a:noFill/>
          <a:ln/>
        </p:spPr>
        <p:txBody>
          <a:bodyPr wrap="square" lIns="0" tIns="0" rIns="0" bIns="0" rtlCol="0" anchor="ctr"/>
          <a:lstStyle/>
          <a:p>
            <a:pPr marL="0" indent="0">
              <a:buNone/>
            </a:pPr>
            <a:r>
              <a:rPr lang="en-US" sz="1600" dirty="0">
                <a:solidFill>
                  <a:srgbClr val="1F2937"/>
                </a:solidFill>
                <a:latin typeface="Calibri" pitchFamily="34" charset="0"/>
                <a:ea typeface="Calibri" pitchFamily="34" charset="-122"/>
                <a:cs typeface="Calibri" pitchFamily="34" charset="-120"/>
              </a:rPr>
              <a:t>commits since July</a:t>
            </a:r>
            <a:endParaRPr lang="en-US" sz="16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640080" y="402336"/>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Live Demo </a:t>
            </a:r>
            <a:endParaRPr lang="en-US" sz="3200" dirty="0"/>
          </a:p>
        </p:txBody>
      </p:sp>
      <p:sp>
        <p:nvSpPr>
          <p:cNvPr id="3" name="Demo row 1"/>
          <p:cNvSpPr/>
          <p:nvPr/>
        </p:nvSpPr>
        <p:spPr>
          <a:xfrm>
            <a:off x="548640" y="1371600"/>
            <a:ext cx="7498080" cy="585216"/>
          </a:xfrm>
          <a:prstGeom prst="rect">
            <a:avLst/>
          </a:prstGeom>
          <a:solidFill>
            <a:srgbClr val="F3F4F6"/>
          </a:solidFill>
          <a:ln w="12700">
            <a:solidFill>
              <a:srgbClr val="C9CED8"/>
            </a:solidFill>
            <a:prstDash val="solid"/>
          </a:ln>
        </p:spPr>
        <p:txBody>
          <a:bodyPr/>
          <a:lstStyle/>
          <a:p>
            <a:endParaRPr lang="en-US"/>
          </a:p>
        </p:txBody>
      </p:sp>
      <p:sp>
        <p:nvSpPr>
          <p:cNvPr id="4" name="Demo time 1"/>
          <p:cNvSpPr txBox="1"/>
          <p:nvPr/>
        </p:nvSpPr>
        <p:spPr>
          <a:xfrm>
            <a:off x="685800" y="1371600"/>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0:40</a:t>
            </a:r>
            <a:endParaRPr lang="en-US" sz="1600" dirty="0"/>
          </a:p>
        </p:txBody>
      </p:sp>
      <p:sp>
        <p:nvSpPr>
          <p:cNvPr id="5" name="Demo text 1"/>
          <p:cNvSpPr txBox="1"/>
          <p:nvPr/>
        </p:nvSpPr>
        <p:spPr>
          <a:xfrm>
            <a:off x="1508760" y="1371600"/>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Sign up   </a:t>
            </a:r>
            <a:r>
              <a:rPr lang="en-US" sz="1400" dirty="0">
                <a:solidFill>
                  <a:srgbClr val="6B7280"/>
                </a:solidFill>
                <a:latin typeface="Calibri" pitchFamily="34" charset="0"/>
                <a:ea typeface="Calibri" pitchFamily="34" charset="-122"/>
                <a:cs typeface="Calibri" pitchFamily="34" charset="-120"/>
              </a:rPr>
              <a:t>Landing page, choose a package, submit</a:t>
            </a:r>
            <a:endParaRPr lang="en-US" sz="1800" dirty="0"/>
          </a:p>
        </p:txBody>
      </p:sp>
      <p:sp>
        <p:nvSpPr>
          <p:cNvPr id="6" name="Demo row 2"/>
          <p:cNvSpPr/>
          <p:nvPr/>
        </p:nvSpPr>
        <p:spPr>
          <a:xfrm>
            <a:off x="548640" y="2048256"/>
            <a:ext cx="7498080" cy="585216"/>
          </a:xfrm>
          <a:prstGeom prst="rect">
            <a:avLst/>
          </a:prstGeom>
          <a:solidFill>
            <a:srgbClr val="FFFFFF"/>
          </a:solidFill>
          <a:ln w="12700">
            <a:solidFill>
              <a:srgbClr val="C9CED8"/>
            </a:solidFill>
            <a:prstDash val="solid"/>
          </a:ln>
        </p:spPr>
        <p:txBody>
          <a:bodyPr/>
          <a:lstStyle/>
          <a:p>
            <a:endParaRPr lang="en-US"/>
          </a:p>
        </p:txBody>
      </p:sp>
      <p:sp>
        <p:nvSpPr>
          <p:cNvPr id="7" name="Demo time 2"/>
          <p:cNvSpPr txBox="1"/>
          <p:nvPr/>
        </p:nvSpPr>
        <p:spPr>
          <a:xfrm>
            <a:off x="685800" y="2048256"/>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0:25</a:t>
            </a:r>
            <a:endParaRPr lang="en-US" sz="1600" dirty="0"/>
          </a:p>
        </p:txBody>
      </p:sp>
      <p:sp>
        <p:nvSpPr>
          <p:cNvPr id="8" name="Demo text 2"/>
          <p:cNvSpPr txBox="1"/>
          <p:nvPr/>
        </p:nvSpPr>
        <p:spPr>
          <a:xfrm>
            <a:off x="1508760" y="2048256"/>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Approve   </a:t>
            </a:r>
            <a:r>
              <a:rPr lang="en-US" sz="1400" dirty="0">
                <a:solidFill>
                  <a:srgbClr val="6B7280"/>
                </a:solidFill>
                <a:latin typeface="Calibri" pitchFamily="34" charset="0"/>
                <a:ea typeface="Calibri" pitchFamily="34" charset="-122"/>
                <a:cs typeface="Calibri" pitchFamily="34" charset="-120"/>
              </a:rPr>
              <a:t>Super-admin approves, company is provisioned</a:t>
            </a:r>
            <a:endParaRPr lang="en-US" sz="1800" dirty="0"/>
          </a:p>
        </p:txBody>
      </p:sp>
      <p:sp>
        <p:nvSpPr>
          <p:cNvPr id="9" name="Demo row 3"/>
          <p:cNvSpPr/>
          <p:nvPr/>
        </p:nvSpPr>
        <p:spPr>
          <a:xfrm>
            <a:off x="548640" y="2724912"/>
            <a:ext cx="7498080" cy="585216"/>
          </a:xfrm>
          <a:prstGeom prst="rect">
            <a:avLst/>
          </a:prstGeom>
          <a:solidFill>
            <a:srgbClr val="F3F4F6"/>
          </a:solidFill>
          <a:ln w="12700">
            <a:solidFill>
              <a:srgbClr val="C9CED8"/>
            </a:solidFill>
            <a:prstDash val="solid"/>
          </a:ln>
        </p:spPr>
        <p:txBody>
          <a:bodyPr/>
          <a:lstStyle/>
          <a:p>
            <a:endParaRPr lang="en-US"/>
          </a:p>
        </p:txBody>
      </p:sp>
      <p:sp>
        <p:nvSpPr>
          <p:cNvPr id="10" name="Demo time 3"/>
          <p:cNvSpPr txBox="1"/>
          <p:nvPr/>
        </p:nvSpPr>
        <p:spPr>
          <a:xfrm>
            <a:off x="685800" y="2724912"/>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0:25</a:t>
            </a:r>
            <a:endParaRPr lang="en-US" sz="1600" dirty="0"/>
          </a:p>
        </p:txBody>
      </p:sp>
      <p:sp>
        <p:nvSpPr>
          <p:cNvPr id="11" name="Demo text 3"/>
          <p:cNvSpPr txBox="1"/>
          <p:nvPr/>
        </p:nvSpPr>
        <p:spPr>
          <a:xfrm>
            <a:off x="1508760" y="2724912"/>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First login   </a:t>
            </a:r>
            <a:r>
              <a:rPr lang="en-US" sz="1400" dirty="0">
                <a:solidFill>
                  <a:srgbClr val="6B7280"/>
                </a:solidFill>
                <a:latin typeface="Calibri" pitchFamily="34" charset="0"/>
                <a:ea typeface="Calibri" pitchFamily="34" charset="-122"/>
                <a:cs typeface="Calibri" pitchFamily="34" charset="-120"/>
              </a:rPr>
              <a:t>New Admin signs in, changes password</a:t>
            </a:r>
            <a:endParaRPr lang="en-US" sz="1800" dirty="0"/>
          </a:p>
        </p:txBody>
      </p:sp>
      <p:sp>
        <p:nvSpPr>
          <p:cNvPr id="12" name="Demo row 4"/>
          <p:cNvSpPr/>
          <p:nvPr/>
        </p:nvSpPr>
        <p:spPr>
          <a:xfrm>
            <a:off x="548640" y="3401568"/>
            <a:ext cx="7498080" cy="585216"/>
          </a:xfrm>
          <a:prstGeom prst="rect">
            <a:avLst/>
          </a:prstGeom>
          <a:solidFill>
            <a:srgbClr val="FFFFFF"/>
          </a:solidFill>
          <a:ln w="12700">
            <a:solidFill>
              <a:srgbClr val="C9CED8"/>
            </a:solidFill>
            <a:prstDash val="solid"/>
          </a:ln>
        </p:spPr>
        <p:txBody>
          <a:bodyPr/>
          <a:lstStyle/>
          <a:p>
            <a:endParaRPr lang="en-US"/>
          </a:p>
        </p:txBody>
      </p:sp>
      <p:sp>
        <p:nvSpPr>
          <p:cNvPr id="13" name="Demo time 4"/>
          <p:cNvSpPr txBox="1"/>
          <p:nvPr/>
        </p:nvSpPr>
        <p:spPr>
          <a:xfrm>
            <a:off x="685800" y="3401568"/>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0:45</a:t>
            </a:r>
            <a:endParaRPr lang="en-US" sz="1600" dirty="0"/>
          </a:p>
        </p:txBody>
      </p:sp>
      <p:sp>
        <p:nvSpPr>
          <p:cNvPr id="14" name="Demo text 4"/>
          <p:cNvSpPr txBox="1"/>
          <p:nvPr/>
        </p:nvSpPr>
        <p:spPr>
          <a:xfrm>
            <a:off x="1508760" y="3401568"/>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Attendance   </a:t>
            </a:r>
            <a:r>
              <a:rPr lang="en-US" sz="1400" dirty="0">
                <a:solidFill>
                  <a:srgbClr val="6B7280"/>
                </a:solidFill>
                <a:latin typeface="Calibri" pitchFamily="34" charset="0"/>
                <a:ea typeface="Calibri" pitchFamily="34" charset="-122"/>
                <a:cs typeface="Calibri" pitchFamily="34" charset="-120"/>
              </a:rPr>
              <a:t>Dashboard, check in with restrictions</a:t>
            </a:r>
            <a:endParaRPr lang="en-US" sz="1800" dirty="0"/>
          </a:p>
        </p:txBody>
      </p:sp>
      <p:sp>
        <p:nvSpPr>
          <p:cNvPr id="15" name="Demo row 5"/>
          <p:cNvSpPr/>
          <p:nvPr/>
        </p:nvSpPr>
        <p:spPr>
          <a:xfrm>
            <a:off x="548640" y="4078224"/>
            <a:ext cx="7498080" cy="585216"/>
          </a:xfrm>
          <a:prstGeom prst="rect">
            <a:avLst/>
          </a:prstGeom>
          <a:solidFill>
            <a:srgbClr val="F3F4F6"/>
          </a:solidFill>
          <a:ln w="12700">
            <a:solidFill>
              <a:srgbClr val="C9CED8"/>
            </a:solidFill>
            <a:prstDash val="solid"/>
          </a:ln>
        </p:spPr>
        <p:txBody>
          <a:bodyPr/>
          <a:lstStyle/>
          <a:p>
            <a:endParaRPr lang="en-US"/>
          </a:p>
        </p:txBody>
      </p:sp>
      <p:sp>
        <p:nvSpPr>
          <p:cNvPr id="16" name="Demo time 5"/>
          <p:cNvSpPr txBox="1"/>
          <p:nvPr/>
        </p:nvSpPr>
        <p:spPr>
          <a:xfrm>
            <a:off x="685800" y="4078224"/>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0:30</a:t>
            </a:r>
            <a:endParaRPr lang="en-US" sz="1600" dirty="0"/>
          </a:p>
        </p:txBody>
      </p:sp>
      <p:sp>
        <p:nvSpPr>
          <p:cNvPr id="17" name="Demo text 5"/>
          <p:cNvSpPr txBox="1"/>
          <p:nvPr/>
        </p:nvSpPr>
        <p:spPr>
          <a:xfrm>
            <a:off x="1508760" y="4078224"/>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Roster   </a:t>
            </a:r>
            <a:r>
              <a:rPr lang="en-US" sz="1400" dirty="0">
                <a:solidFill>
                  <a:srgbClr val="6B7280"/>
                </a:solidFill>
                <a:latin typeface="Calibri" pitchFamily="34" charset="0"/>
                <a:ea typeface="Calibri" pitchFamily="34" charset="-122"/>
                <a:cs typeface="Calibri" pitchFamily="34" charset="-120"/>
              </a:rPr>
              <a:t>Auto-generated duty roster</a:t>
            </a:r>
            <a:endParaRPr lang="en-US" sz="1800" dirty="0"/>
          </a:p>
        </p:txBody>
      </p:sp>
      <p:sp>
        <p:nvSpPr>
          <p:cNvPr id="18" name="Demo row 6"/>
          <p:cNvSpPr/>
          <p:nvPr/>
        </p:nvSpPr>
        <p:spPr>
          <a:xfrm>
            <a:off x="548640" y="4754880"/>
            <a:ext cx="7498080" cy="585216"/>
          </a:xfrm>
          <a:prstGeom prst="rect">
            <a:avLst/>
          </a:prstGeom>
          <a:solidFill>
            <a:srgbClr val="FFFFFF"/>
          </a:solidFill>
          <a:ln w="12700">
            <a:solidFill>
              <a:srgbClr val="C9CED8"/>
            </a:solidFill>
            <a:prstDash val="solid"/>
          </a:ln>
        </p:spPr>
        <p:txBody>
          <a:bodyPr/>
          <a:lstStyle/>
          <a:p>
            <a:endParaRPr lang="en-US"/>
          </a:p>
        </p:txBody>
      </p:sp>
      <p:sp>
        <p:nvSpPr>
          <p:cNvPr id="19" name="Demo time 6"/>
          <p:cNvSpPr txBox="1"/>
          <p:nvPr/>
        </p:nvSpPr>
        <p:spPr>
          <a:xfrm>
            <a:off x="685800" y="4754880"/>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0:40</a:t>
            </a:r>
            <a:endParaRPr lang="en-US" sz="1600" dirty="0"/>
          </a:p>
        </p:txBody>
      </p:sp>
      <p:sp>
        <p:nvSpPr>
          <p:cNvPr id="20" name="Demo text 6"/>
          <p:cNvSpPr txBox="1"/>
          <p:nvPr/>
        </p:nvSpPr>
        <p:spPr>
          <a:xfrm>
            <a:off x="1508760" y="4754880"/>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Leave   </a:t>
            </a:r>
            <a:r>
              <a:rPr lang="en-US" sz="1400" dirty="0">
                <a:solidFill>
                  <a:srgbClr val="6B7280"/>
                </a:solidFill>
                <a:latin typeface="Calibri" pitchFamily="34" charset="0"/>
                <a:ea typeface="Calibri" pitchFamily="34" charset="-122"/>
                <a:cs typeface="Calibri" pitchFamily="34" charset="-120"/>
              </a:rPr>
              <a:t>Request, then approve as a manager</a:t>
            </a:r>
            <a:endParaRPr lang="en-US" sz="1800" dirty="0"/>
          </a:p>
        </p:txBody>
      </p:sp>
      <p:sp>
        <p:nvSpPr>
          <p:cNvPr id="21" name="Demo row 7"/>
          <p:cNvSpPr/>
          <p:nvPr/>
        </p:nvSpPr>
        <p:spPr>
          <a:xfrm>
            <a:off x="548640" y="5431536"/>
            <a:ext cx="7498080" cy="585216"/>
          </a:xfrm>
          <a:prstGeom prst="rect">
            <a:avLst/>
          </a:prstGeom>
          <a:solidFill>
            <a:srgbClr val="F3F4F6"/>
          </a:solidFill>
          <a:ln w="12700">
            <a:solidFill>
              <a:srgbClr val="C9CED8"/>
            </a:solidFill>
            <a:prstDash val="solid"/>
          </a:ln>
        </p:spPr>
        <p:txBody>
          <a:bodyPr/>
          <a:lstStyle/>
          <a:p>
            <a:endParaRPr lang="en-US"/>
          </a:p>
        </p:txBody>
      </p:sp>
      <p:sp>
        <p:nvSpPr>
          <p:cNvPr id="22" name="Demo time 7"/>
          <p:cNvSpPr txBox="1"/>
          <p:nvPr/>
        </p:nvSpPr>
        <p:spPr>
          <a:xfrm>
            <a:off x="685800" y="5431536"/>
            <a:ext cx="731520" cy="585216"/>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0:15</a:t>
            </a:r>
            <a:endParaRPr lang="en-US" sz="1600" dirty="0"/>
          </a:p>
        </p:txBody>
      </p:sp>
      <p:sp>
        <p:nvSpPr>
          <p:cNvPr id="23" name="Demo text 7"/>
          <p:cNvSpPr txBox="1"/>
          <p:nvPr/>
        </p:nvSpPr>
        <p:spPr>
          <a:xfrm>
            <a:off x="1508760" y="5431536"/>
            <a:ext cx="6400800" cy="585216"/>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Payslip or AI   </a:t>
            </a:r>
            <a:r>
              <a:rPr lang="en-US" sz="1400" dirty="0">
                <a:solidFill>
                  <a:srgbClr val="6B7280"/>
                </a:solidFill>
                <a:latin typeface="Calibri" pitchFamily="34" charset="0"/>
                <a:ea typeface="Calibri" pitchFamily="34" charset="-122"/>
                <a:cs typeface="Calibri" pitchFamily="34" charset="-120"/>
              </a:rPr>
              <a:t>Open a payslip PDF or AI KPI report</a:t>
            </a:r>
            <a:endParaRPr lang="en-US" sz="1800" dirty="0"/>
          </a:p>
        </p:txBody>
      </p:sp>
      <p:sp>
        <p:nvSpPr>
          <p:cNvPr id="24" name="Before box"/>
          <p:cNvSpPr/>
          <p:nvPr/>
        </p:nvSpPr>
        <p:spPr>
          <a:xfrm>
            <a:off x="8412480" y="1371600"/>
            <a:ext cx="3227832" cy="2194560"/>
          </a:xfrm>
          <a:prstGeom prst="rect">
            <a:avLst/>
          </a:prstGeom>
          <a:solidFill>
            <a:srgbClr val="EEF1FB"/>
          </a:solidFill>
          <a:ln w="12700">
            <a:solidFill>
              <a:srgbClr val="4453B0"/>
            </a:solidFill>
            <a:prstDash val="solid"/>
          </a:ln>
        </p:spPr>
        <p:txBody>
          <a:bodyPr/>
          <a:lstStyle/>
          <a:p>
            <a:endParaRPr lang="en-US"/>
          </a:p>
        </p:txBody>
      </p:sp>
      <p:sp>
        <p:nvSpPr>
          <p:cNvPr id="25" name="Before text"/>
          <p:cNvSpPr txBox="1"/>
          <p:nvPr/>
        </p:nvSpPr>
        <p:spPr>
          <a:xfrm>
            <a:off x="8595360" y="1371600"/>
            <a:ext cx="2880360" cy="2194560"/>
          </a:xfrm>
          <a:prstGeom prst="rect">
            <a:avLst/>
          </a:prstGeom>
          <a:noFill/>
          <a:ln/>
        </p:spPr>
        <p:txBody>
          <a:bodyPr wrap="square" lIns="0" tIns="0" rIns="0" bIns="0" rtlCol="0" anchor="ctr"/>
          <a:lstStyle/>
          <a:p>
            <a:pPr marL="0" indent="0">
              <a:buNone/>
            </a:pPr>
            <a:r>
              <a:rPr lang="en-US" sz="1600" b="1" dirty="0">
                <a:solidFill>
                  <a:srgbClr val="4453B0"/>
                </a:solidFill>
                <a:latin typeface="Calibri" pitchFamily="34" charset="0"/>
                <a:ea typeface="Calibri" pitchFamily="34" charset="-122"/>
                <a:cs typeface="Calibri" pitchFamily="34" charset="-120"/>
              </a:rPr>
              <a:t>Before recording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AWS site is up</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Demo logins tested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Browser tabs ready</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Notifications off</a:t>
            </a:r>
            <a:endParaRPr lang="en-US" sz="1400" dirty="0"/>
          </a:p>
        </p:txBody>
      </p:sp>
      <p:sp>
        <p:nvSpPr>
          <p:cNvPr id="26" name="Time box"/>
          <p:cNvSpPr/>
          <p:nvPr/>
        </p:nvSpPr>
        <p:spPr>
          <a:xfrm>
            <a:off x="8412480" y="3749040"/>
            <a:ext cx="3227832" cy="1371600"/>
          </a:xfrm>
          <a:prstGeom prst="rect">
            <a:avLst/>
          </a:prstGeom>
          <a:solidFill>
            <a:srgbClr val="F3F4F6"/>
          </a:solidFill>
          <a:ln w="12700">
            <a:solidFill>
              <a:srgbClr val="C9CED8"/>
            </a:solidFill>
            <a:prstDash val="solid"/>
          </a:ln>
        </p:spPr>
        <p:txBody>
          <a:bodyPr/>
          <a:lstStyle/>
          <a:p>
            <a:endParaRPr lang="en-US"/>
          </a:p>
        </p:txBody>
      </p:sp>
      <p:sp>
        <p:nvSpPr>
          <p:cNvPr id="27" name="Time text"/>
          <p:cNvSpPr txBox="1"/>
          <p:nvPr/>
        </p:nvSpPr>
        <p:spPr>
          <a:xfrm>
            <a:off x="8595360" y="3749040"/>
            <a:ext cx="2880360" cy="1371600"/>
          </a:xfrm>
          <a:prstGeom prst="rect">
            <a:avLst/>
          </a:prstGeom>
          <a:noFill/>
          <a:ln/>
        </p:spPr>
        <p:txBody>
          <a:bodyPr wrap="square" lIns="0" tIns="0" rIns="0" bIns="0" rtlCol="0" anchor="ctr"/>
          <a:lstStyle/>
          <a:p>
            <a:pPr marL="0" indent="0">
              <a:buNone/>
            </a:pPr>
            <a:r>
              <a:rPr lang="en-US" sz="1800" b="1" dirty="0">
                <a:solidFill>
                  <a:srgbClr val="1F2937"/>
                </a:solidFill>
                <a:latin typeface="Calibri" pitchFamily="34" charset="0"/>
                <a:ea typeface="Calibri" pitchFamily="34" charset="-122"/>
                <a:cs typeface="Calibri" pitchFamily="34" charset="-120"/>
              </a:rPr>
              <a:t>Total 3:40</a:t>
            </a:r>
            <a:endParaRPr lang="en-US" sz="1800" dirty="0"/>
          </a:p>
          <a:p>
            <a:pPr marL="0" indent="0">
              <a:buNone/>
            </a:pPr>
            <a:r>
              <a:rPr lang="en-US" sz="1400" dirty="0">
                <a:solidFill>
                  <a:srgbClr val="6B7280"/>
                </a:solidFill>
                <a:latin typeface="Calibri" pitchFamily="34" charset="0"/>
                <a:ea typeface="Calibri" pitchFamily="34" charset="-122"/>
                <a:cs typeface="Calibri" pitchFamily="34" charset="-120"/>
              </a:rPr>
              <a:t>20 s spare for a slow page load</a:t>
            </a:r>
            <a:endParaRPr lang="en-US" sz="1800" dirty="0"/>
          </a:p>
        </p:txBody>
      </p:sp>
      <p:sp>
        <p:nvSpPr>
          <p:cNvPr id="28"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Demo Access</a:t>
            </a:r>
            <a:endParaRPr lang="en-US" sz="3200" dirty="0"/>
          </a:p>
        </p:txBody>
      </p:sp>
      <p:sp>
        <p:nvSpPr>
          <p:cNvPr id="3" name="SaaS site and super admin card"/>
          <p:cNvSpPr/>
          <p:nvPr/>
        </p:nvSpPr>
        <p:spPr>
          <a:xfrm>
            <a:off x="548640" y="1371600"/>
            <a:ext cx="5394960" cy="4023360"/>
          </a:xfrm>
          <a:prstGeom prst="rect">
            <a:avLst/>
          </a:prstGeom>
          <a:solidFill>
            <a:srgbClr val="FFFFFF"/>
          </a:solidFill>
          <a:ln w="12700">
            <a:solidFill>
              <a:srgbClr val="C9CED8"/>
            </a:solidFill>
            <a:prstDash val="solid"/>
          </a:ln>
        </p:spPr>
        <p:txBody>
          <a:bodyPr/>
          <a:lstStyle/>
          <a:p>
            <a:endParaRPr lang="en-US"/>
          </a:p>
        </p:txBody>
      </p:sp>
      <p:sp>
        <p:nvSpPr>
          <p:cNvPr id="4" name="SaaS site and super admin heading"/>
          <p:cNvSpPr txBox="1"/>
          <p:nvPr/>
        </p:nvSpPr>
        <p:spPr>
          <a:xfrm>
            <a:off x="822960" y="1554480"/>
            <a:ext cx="4846320" cy="41148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SaaS site and super admin</a:t>
            </a:r>
            <a:endParaRPr lang="en-US" sz="2200" dirty="0"/>
          </a:p>
        </p:txBody>
      </p:sp>
      <p:sp>
        <p:nvSpPr>
          <p:cNvPr id="5" name="SaaS site and super admin url label"/>
          <p:cNvSpPr txBox="1"/>
          <p:nvPr/>
        </p:nvSpPr>
        <p:spPr>
          <a:xfrm>
            <a:off x="822960" y="214884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URL</a:t>
            </a:r>
            <a:endParaRPr lang="en-US" sz="1400" dirty="0"/>
          </a:p>
        </p:txBody>
      </p:sp>
      <p:sp>
        <p:nvSpPr>
          <p:cNvPr id="6" name="SaaS site and super admin url"/>
          <p:cNvSpPr txBox="1"/>
          <p:nvPr/>
        </p:nvSpPr>
        <p:spPr>
          <a:xfrm>
            <a:off x="822960" y="242316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hlinkClick r:id="rId3"/>
              </a:rPr>
              <a:t>http://34.231.195.176:5174/</a:t>
            </a:r>
            <a:endParaRPr lang="en-US" sz="1800" dirty="0"/>
          </a:p>
        </p:txBody>
      </p:sp>
      <p:sp>
        <p:nvSpPr>
          <p:cNvPr id="7" name="SaaS site and super admin label 1"/>
          <p:cNvSpPr txBox="1"/>
          <p:nvPr/>
        </p:nvSpPr>
        <p:spPr>
          <a:xfrm>
            <a:off x="822960" y="301752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Super-admin sign-in page</a:t>
            </a:r>
            <a:endParaRPr lang="en-US" sz="1400" dirty="0"/>
          </a:p>
        </p:txBody>
      </p:sp>
      <p:sp>
        <p:nvSpPr>
          <p:cNvPr id="8" name="SaaS site and super admin value 1"/>
          <p:cNvSpPr txBox="1"/>
          <p:nvPr/>
        </p:nvSpPr>
        <p:spPr>
          <a:xfrm>
            <a:off x="822960" y="329184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rPr>
              <a:t>/admin/login</a:t>
            </a:r>
            <a:endParaRPr lang="en-US" sz="1800" dirty="0"/>
          </a:p>
        </p:txBody>
      </p:sp>
      <p:sp>
        <p:nvSpPr>
          <p:cNvPr id="9" name="SaaS site and super admin label 2"/>
          <p:cNvSpPr txBox="1"/>
          <p:nvPr/>
        </p:nvSpPr>
        <p:spPr>
          <a:xfrm>
            <a:off x="822960" y="379476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Email</a:t>
            </a:r>
            <a:endParaRPr lang="en-US" sz="1400" dirty="0"/>
          </a:p>
        </p:txBody>
      </p:sp>
      <p:sp>
        <p:nvSpPr>
          <p:cNvPr id="10" name="SaaS site and super admin value 2"/>
          <p:cNvSpPr txBox="1"/>
          <p:nvPr/>
        </p:nvSpPr>
        <p:spPr>
          <a:xfrm>
            <a:off x="822960" y="406908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rPr>
              <a:t>saas@hrmplus.test</a:t>
            </a:r>
            <a:endParaRPr lang="en-US" sz="1800" dirty="0"/>
          </a:p>
        </p:txBody>
      </p:sp>
      <p:sp>
        <p:nvSpPr>
          <p:cNvPr id="11" name="SaaS site and super admin label 3"/>
          <p:cNvSpPr txBox="1"/>
          <p:nvPr/>
        </p:nvSpPr>
        <p:spPr>
          <a:xfrm>
            <a:off x="822960" y="457200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Password</a:t>
            </a:r>
            <a:endParaRPr lang="en-US" sz="1400" dirty="0"/>
          </a:p>
        </p:txBody>
      </p:sp>
      <p:sp>
        <p:nvSpPr>
          <p:cNvPr id="12" name="SaaS site and super admin value 3"/>
          <p:cNvSpPr txBox="1"/>
          <p:nvPr/>
        </p:nvSpPr>
        <p:spPr>
          <a:xfrm>
            <a:off x="822960" y="484632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rPr>
              <a:t>1234abcd</a:t>
            </a:r>
            <a:endParaRPr lang="en-US" sz="1800" dirty="0"/>
          </a:p>
        </p:txBody>
      </p:sp>
      <p:sp>
        <p:nvSpPr>
          <p:cNvPr id="13" name="Demo company login card"/>
          <p:cNvSpPr/>
          <p:nvPr/>
        </p:nvSpPr>
        <p:spPr>
          <a:xfrm>
            <a:off x="6245352" y="1371600"/>
            <a:ext cx="5394960" cy="4023360"/>
          </a:xfrm>
          <a:prstGeom prst="rect">
            <a:avLst/>
          </a:prstGeom>
          <a:solidFill>
            <a:srgbClr val="FFFFFF"/>
          </a:solidFill>
          <a:ln w="12700">
            <a:solidFill>
              <a:srgbClr val="C9CED8"/>
            </a:solidFill>
            <a:prstDash val="solid"/>
          </a:ln>
        </p:spPr>
        <p:txBody>
          <a:bodyPr/>
          <a:lstStyle/>
          <a:p>
            <a:endParaRPr lang="en-US"/>
          </a:p>
        </p:txBody>
      </p:sp>
      <p:sp>
        <p:nvSpPr>
          <p:cNvPr id="14" name="Demo company login heading"/>
          <p:cNvSpPr txBox="1"/>
          <p:nvPr/>
        </p:nvSpPr>
        <p:spPr>
          <a:xfrm>
            <a:off x="6519672" y="1554480"/>
            <a:ext cx="4846320" cy="41148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Demo company login</a:t>
            </a:r>
            <a:endParaRPr lang="en-US" sz="2200" dirty="0"/>
          </a:p>
        </p:txBody>
      </p:sp>
      <p:sp>
        <p:nvSpPr>
          <p:cNvPr id="15" name="Demo company login url label"/>
          <p:cNvSpPr txBox="1"/>
          <p:nvPr/>
        </p:nvSpPr>
        <p:spPr>
          <a:xfrm>
            <a:off x="6519672" y="214884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URL</a:t>
            </a:r>
            <a:endParaRPr lang="en-US" sz="1400" dirty="0"/>
          </a:p>
        </p:txBody>
      </p:sp>
      <p:sp>
        <p:nvSpPr>
          <p:cNvPr id="16" name="Demo company login url"/>
          <p:cNvSpPr txBox="1"/>
          <p:nvPr/>
        </p:nvSpPr>
        <p:spPr>
          <a:xfrm>
            <a:off x="6519672" y="242316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hlinkClick r:id="rId4"/>
              </a:rPr>
              <a:t>http://34.231.195.176:5173/</a:t>
            </a:r>
            <a:endParaRPr lang="en-US" sz="1800" dirty="0"/>
          </a:p>
        </p:txBody>
      </p:sp>
      <p:sp>
        <p:nvSpPr>
          <p:cNvPr id="17" name="Demo company login label 1"/>
          <p:cNvSpPr txBox="1"/>
          <p:nvPr/>
        </p:nvSpPr>
        <p:spPr>
          <a:xfrm>
            <a:off x="6519672" y="301752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Organisation slug</a:t>
            </a:r>
            <a:endParaRPr lang="en-US" sz="1400" dirty="0"/>
          </a:p>
        </p:txBody>
      </p:sp>
      <p:sp>
        <p:nvSpPr>
          <p:cNvPr id="18" name="Demo company login value 1"/>
          <p:cNvSpPr txBox="1"/>
          <p:nvPr/>
        </p:nvSpPr>
        <p:spPr>
          <a:xfrm>
            <a:off x="6519672" y="329184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rPr>
              <a:t>demo</a:t>
            </a:r>
            <a:endParaRPr lang="en-US" sz="1800" dirty="0"/>
          </a:p>
        </p:txBody>
      </p:sp>
      <p:sp>
        <p:nvSpPr>
          <p:cNvPr id="19" name="Demo company login label 2"/>
          <p:cNvSpPr txBox="1"/>
          <p:nvPr/>
        </p:nvSpPr>
        <p:spPr>
          <a:xfrm>
            <a:off x="6519672" y="379476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Email</a:t>
            </a:r>
            <a:endParaRPr lang="en-US" sz="1400" dirty="0"/>
          </a:p>
        </p:txBody>
      </p:sp>
      <p:sp>
        <p:nvSpPr>
          <p:cNvPr id="20" name="Demo company login value 2"/>
          <p:cNvSpPr txBox="1"/>
          <p:nvPr/>
        </p:nvSpPr>
        <p:spPr>
          <a:xfrm>
            <a:off x="6519672" y="406908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rPr>
              <a:t>demo@gmail.com</a:t>
            </a:r>
            <a:endParaRPr lang="en-US" sz="1800" dirty="0"/>
          </a:p>
        </p:txBody>
      </p:sp>
      <p:sp>
        <p:nvSpPr>
          <p:cNvPr id="21" name="Demo company login label 3"/>
          <p:cNvSpPr txBox="1"/>
          <p:nvPr/>
        </p:nvSpPr>
        <p:spPr>
          <a:xfrm>
            <a:off x="6519672" y="4572000"/>
            <a:ext cx="484632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Password</a:t>
            </a:r>
            <a:endParaRPr lang="en-US" sz="1400" dirty="0"/>
          </a:p>
        </p:txBody>
      </p:sp>
      <p:sp>
        <p:nvSpPr>
          <p:cNvPr id="22" name="Demo company login value 3"/>
          <p:cNvSpPr txBox="1"/>
          <p:nvPr/>
        </p:nvSpPr>
        <p:spPr>
          <a:xfrm>
            <a:off x="6519672" y="4846320"/>
            <a:ext cx="4846320" cy="365760"/>
          </a:xfrm>
          <a:prstGeom prst="rect">
            <a:avLst/>
          </a:prstGeom>
          <a:noFill/>
          <a:ln/>
        </p:spPr>
        <p:txBody>
          <a:bodyPr wrap="square" lIns="0" tIns="0" rIns="0" bIns="0" rtlCol="0" anchor="t"/>
          <a:lstStyle/>
          <a:p>
            <a:pPr marL="0" indent="0">
              <a:buNone/>
            </a:pPr>
            <a:r>
              <a:rPr lang="en-US" sz="1800" b="1" dirty="0">
                <a:solidFill>
                  <a:srgbClr val="1F2937"/>
                </a:solidFill>
                <a:latin typeface="Courier New" pitchFamily="34" charset="0"/>
                <a:ea typeface="Courier New" pitchFamily="34" charset="-122"/>
                <a:cs typeface="Courier New" pitchFamily="34" charset="-120"/>
              </a:rPr>
              <a:t>1234abcd</a:t>
            </a:r>
            <a:endParaRPr lang="en-US" sz="1800" dirty="0"/>
          </a:p>
        </p:txBody>
      </p:sp>
      <p:sp>
        <p:nvSpPr>
          <p:cNvPr id="23" name="Expiry box"/>
          <p:cNvSpPr/>
          <p:nvPr/>
        </p:nvSpPr>
        <p:spPr>
          <a:xfrm>
            <a:off x="548640" y="5577840"/>
            <a:ext cx="11091672" cy="548640"/>
          </a:xfrm>
          <a:prstGeom prst="rect">
            <a:avLst/>
          </a:prstGeom>
          <a:solidFill>
            <a:srgbClr val="F3F4F6"/>
          </a:solidFill>
          <a:ln w="12700">
            <a:solidFill>
              <a:srgbClr val="C9CED8"/>
            </a:solidFill>
            <a:prstDash val="solid"/>
          </a:ln>
        </p:spPr>
        <p:txBody>
          <a:bodyPr/>
          <a:lstStyle/>
          <a:p>
            <a:endParaRPr lang="en-US"/>
          </a:p>
        </p:txBody>
      </p:sp>
      <p:sp>
        <p:nvSpPr>
          <p:cNvPr id="24" name="Expiry text"/>
          <p:cNvSpPr txBox="1"/>
          <p:nvPr/>
        </p:nvSpPr>
        <p:spPr>
          <a:xfrm>
            <a:off x="731520" y="5577840"/>
            <a:ext cx="10698480" cy="548640"/>
          </a:xfrm>
          <a:prstGeom prst="rect">
            <a:avLst/>
          </a:prstGeom>
          <a:noFill/>
          <a:ln/>
        </p:spPr>
        <p:txBody>
          <a:bodyPr wrap="square" lIns="0" tIns="0" rIns="0" bIns="0" rtlCol="0" anchor="ctr"/>
          <a:lstStyle/>
          <a:p>
            <a:pPr marL="0" indent="0">
              <a:buNone/>
            </a:pPr>
            <a:r>
              <a:rPr lang="en-US" sz="1600" b="1" dirty="0">
                <a:solidFill>
                  <a:srgbClr val="C00000"/>
                </a:solidFill>
                <a:latin typeface="Calibri" pitchFamily="34" charset="0"/>
                <a:ea typeface="Calibri" pitchFamily="34" charset="-122"/>
                <a:cs typeface="Calibri" pitchFamily="34" charset="-120"/>
              </a:rPr>
              <a:t>Temporary demo credentials, available until 15 October 2026</a:t>
            </a:r>
            <a:endParaRPr lang="en-US" sz="1600" b="1" dirty="0">
              <a:solidFill>
                <a:srgbClr val="C00000"/>
              </a:solidFill>
            </a:endParaRPr>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Summary and Questions</a:t>
            </a:r>
            <a:endParaRPr lang="en-US" sz="3200" dirty="0"/>
          </a:p>
        </p:txBody>
      </p:sp>
      <p:sp>
        <p:nvSpPr>
          <p:cNvPr id="3" name="Takeaway 1"/>
          <p:cNvSpPr/>
          <p:nvPr/>
        </p:nvSpPr>
        <p:spPr>
          <a:xfrm>
            <a:off x="548640" y="1463040"/>
            <a:ext cx="3566160" cy="2377440"/>
          </a:xfrm>
          <a:prstGeom prst="rect">
            <a:avLst/>
          </a:prstGeom>
          <a:solidFill>
            <a:srgbClr val="EEF1FB"/>
          </a:solidFill>
          <a:ln w="12700">
            <a:solidFill>
              <a:srgbClr val="4453B0"/>
            </a:solidFill>
            <a:prstDash val="solid"/>
          </a:ln>
        </p:spPr>
        <p:txBody>
          <a:bodyPr/>
          <a:lstStyle/>
          <a:p>
            <a:endParaRPr lang="en-US"/>
          </a:p>
        </p:txBody>
      </p:sp>
      <p:sp>
        <p:nvSpPr>
          <p:cNvPr id="4" name="Takeaway title 1"/>
          <p:cNvSpPr txBox="1"/>
          <p:nvPr/>
        </p:nvSpPr>
        <p:spPr>
          <a:xfrm>
            <a:off x="777240" y="1691640"/>
            <a:ext cx="3108960" cy="45720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Isolated by design</a:t>
            </a:r>
            <a:endParaRPr lang="en-US" sz="2200" dirty="0"/>
          </a:p>
        </p:txBody>
      </p:sp>
      <p:sp>
        <p:nvSpPr>
          <p:cNvPr id="5" name="Takeaway text 1"/>
          <p:cNvSpPr txBox="1"/>
          <p:nvPr/>
        </p:nvSpPr>
        <p:spPr>
          <a:xfrm>
            <a:off x="777240" y="2286000"/>
            <a:ext cx="3108960" cy="1371600"/>
          </a:xfrm>
          <a:prstGeom prst="rect">
            <a:avLst/>
          </a:prstGeom>
          <a:noFill/>
          <a:ln/>
        </p:spPr>
        <p:txBody>
          <a:bodyPr wrap="square" lIns="0" tIns="0" rIns="0" bIns="0" rtlCol="0" anchor="t"/>
          <a:lstStyle/>
          <a:p>
            <a:pPr marL="0" indent="0">
              <a:buNone/>
            </a:pPr>
            <a:r>
              <a:rPr lang="en-US" sz="1800" dirty="0">
                <a:solidFill>
                  <a:srgbClr val="1F2937"/>
                </a:solidFill>
                <a:latin typeface="Calibri" pitchFamily="34" charset="0"/>
                <a:ea typeface="Calibri" pitchFamily="34" charset="-122"/>
                <a:cs typeface="Calibri" pitchFamily="34" charset="-120"/>
              </a:rPr>
              <a:t>Database per company, JWT tenant check, server-side RBAC</a:t>
            </a:r>
            <a:endParaRPr lang="en-US" sz="1800" dirty="0"/>
          </a:p>
        </p:txBody>
      </p:sp>
      <p:sp>
        <p:nvSpPr>
          <p:cNvPr id="6" name="Takeaway 2"/>
          <p:cNvSpPr/>
          <p:nvPr/>
        </p:nvSpPr>
        <p:spPr>
          <a:xfrm>
            <a:off x="4297680" y="1463040"/>
            <a:ext cx="3566160" cy="2377440"/>
          </a:xfrm>
          <a:prstGeom prst="rect">
            <a:avLst/>
          </a:prstGeom>
          <a:solidFill>
            <a:srgbClr val="FFFFFF"/>
          </a:solidFill>
          <a:ln w="12700">
            <a:solidFill>
              <a:srgbClr val="C9CED8"/>
            </a:solidFill>
            <a:prstDash val="solid"/>
          </a:ln>
        </p:spPr>
        <p:txBody>
          <a:bodyPr/>
          <a:lstStyle/>
          <a:p>
            <a:endParaRPr lang="en-US"/>
          </a:p>
        </p:txBody>
      </p:sp>
      <p:sp>
        <p:nvSpPr>
          <p:cNvPr id="7" name="Takeaway title 2"/>
          <p:cNvSpPr txBox="1"/>
          <p:nvPr/>
        </p:nvSpPr>
        <p:spPr>
          <a:xfrm>
            <a:off x="4526280" y="1691640"/>
            <a:ext cx="3108960" cy="45720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Automated</a:t>
            </a:r>
            <a:endParaRPr lang="en-US" sz="2200" dirty="0"/>
          </a:p>
        </p:txBody>
      </p:sp>
      <p:sp>
        <p:nvSpPr>
          <p:cNvPr id="8" name="Takeaway text 2"/>
          <p:cNvSpPr txBox="1"/>
          <p:nvPr/>
        </p:nvSpPr>
        <p:spPr>
          <a:xfrm>
            <a:off x="4526280" y="2286000"/>
            <a:ext cx="3108960" cy="1371600"/>
          </a:xfrm>
          <a:prstGeom prst="rect">
            <a:avLst/>
          </a:prstGeom>
          <a:noFill/>
          <a:ln/>
        </p:spPr>
        <p:txBody>
          <a:bodyPr wrap="square" lIns="0" tIns="0" rIns="0" bIns="0" rtlCol="0" anchor="t"/>
          <a:lstStyle/>
          <a:p>
            <a:pPr marL="0" indent="0">
              <a:buNone/>
            </a:pPr>
            <a:r>
              <a:rPr lang="en-US" sz="1800" dirty="0">
                <a:solidFill>
                  <a:srgbClr val="1F2937"/>
                </a:solidFill>
                <a:latin typeface="Calibri" pitchFamily="34" charset="0"/>
                <a:ea typeface="Calibri" pitchFamily="34" charset="-122"/>
                <a:cs typeface="Calibri" pitchFamily="34" charset="-120"/>
              </a:rPr>
              <a:t>Approval provisions a whole company, jobs run in the background</a:t>
            </a:r>
            <a:endParaRPr lang="en-US" sz="1800" dirty="0"/>
          </a:p>
        </p:txBody>
      </p:sp>
      <p:sp>
        <p:nvSpPr>
          <p:cNvPr id="9" name="Takeaway 3"/>
          <p:cNvSpPr/>
          <p:nvPr/>
        </p:nvSpPr>
        <p:spPr>
          <a:xfrm>
            <a:off x="8046720" y="1463040"/>
            <a:ext cx="3566160" cy="2377440"/>
          </a:xfrm>
          <a:prstGeom prst="rect">
            <a:avLst/>
          </a:prstGeom>
          <a:solidFill>
            <a:srgbClr val="FFFFFF"/>
          </a:solidFill>
          <a:ln w="12700">
            <a:solidFill>
              <a:srgbClr val="C9CED8"/>
            </a:solidFill>
            <a:prstDash val="solid"/>
          </a:ln>
        </p:spPr>
        <p:txBody>
          <a:bodyPr/>
          <a:lstStyle/>
          <a:p>
            <a:endParaRPr lang="en-US"/>
          </a:p>
        </p:txBody>
      </p:sp>
      <p:sp>
        <p:nvSpPr>
          <p:cNvPr id="10" name="Takeaway title 3"/>
          <p:cNvSpPr txBox="1"/>
          <p:nvPr/>
        </p:nvSpPr>
        <p:spPr>
          <a:xfrm>
            <a:off x="8275320" y="1691640"/>
            <a:ext cx="3108960" cy="457200"/>
          </a:xfrm>
          <a:prstGeom prst="rect">
            <a:avLst/>
          </a:prstGeom>
          <a:noFill/>
          <a:ln/>
        </p:spPr>
        <p:txBody>
          <a:bodyPr wrap="square" lIns="0" tIns="0" rIns="0" bIns="0" rtlCol="0" anchor="t"/>
          <a:lstStyle/>
          <a:p>
            <a:pPr marL="0" indent="0">
              <a:buNone/>
            </a:pPr>
            <a:r>
              <a:rPr lang="en-US" sz="2200" b="1" dirty="0">
                <a:solidFill>
                  <a:srgbClr val="4453B0"/>
                </a:solidFill>
                <a:latin typeface="Calibri" pitchFamily="34" charset="0"/>
                <a:ea typeface="Calibri" pitchFamily="34" charset="-122"/>
                <a:cs typeface="Calibri" pitchFamily="34" charset="-120"/>
              </a:rPr>
              <a:t>Deployed</a:t>
            </a:r>
            <a:endParaRPr lang="en-US" sz="2200" dirty="0"/>
          </a:p>
        </p:txBody>
      </p:sp>
      <p:sp>
        <p:nvSpPr>
          <p:cNvPr id="11" name="Takeaway text 3"/>
          <p:cNvSpPr txBox="1"/>
          <p:nvPr/>
        </p:nvSpPr>
        <p:spPr>
          <a:xfrm>
            <a:off x="8275320" y="2286000"/>
            <a:ext cx="3108960" cy="1371600"/>
          </a:xfrm>
          <a:prstGeom prst="rect">
            <a:avLst/>
          </a:prstGeom>
          <a:noFill/>
          <a:ln/>
        </p:spPr>
        <p:txBody>
          <a:bodyPr wrap="square" lIns="0" tIns="0" rIns="0" bIns="0" rtlCol="0" anchor="t"/>
          <a:lstStyle/>
          <a:p>
            <a:pPr marL="0" indent="0">
              <a:buNone/>
            </a:pPr>
            <a:r>
              <a:rPr lang="en-US" sz="1800" dirty="0">
                <a:solidFill>
                  <a:srgbClr val="1F2937"/>
                </a:solidFill>
                <a:latin typeface="Calibri" pitchFamily="34" charset="0"/>
                <a:ea typeface="Calibri" pitchFamily="34" charset="-122"/>
                <a:cs typeface="Calibri" pitchFamily="34" charset="-120"/>
              </a:rPr>
              <a:t>Running on AWS EC2 with Docker Compose, tested in CI</a:t>
            </a:r>
            <a:endParaRPr lang="en-US" sz="1800" dirty="0"/>
          </a:p>
        </p:txBody>
      </p:sp>
      <p:sp>
        <p:nvSpPr>
          <p:cNvPr id="12" name="Questions"/>
          <p:cNvSpPr txBox="1"/>
          <p:nvPr/>
        </p:nvSpPr>
        <p:spPr>
          <a:xfrm>
            <a:off x="548640" y="4389120"/>
            <a:ext cx="5486400" cy="731520"/>
          </a:xfrm>
          <a:prstGeom prst="rect">
            <a:avLst/>
          </a:prstGeom>
          <a:noFill/>
          <a:ln/>
        </p:spPr>
        <p:txBody>
          <a:bodyPr wrap="square" lIns="0" tIns="0" rIns="0" bIns="0" rtlCol="0" anchor="t"/>
          <a:lstStyle/>
          <a:p>
            <a:pPr marL="0" indent="0">
              <a:buNone/>
            </a:pPr>
            <a:r>
              <a:rPr lang="en-US" sz="4000" b="1" dirty="0">
                <a:solidFill>
                  <a:srgbClr val="1F2937"/>
                </a:solidFill>
                <a:latin typeface="Calibri" pitchFamily="34" charset="0"/>
                <a:ea typeface="Calibri" pitchFamily="34" charset="-122"/>
                <a:cs typeface="Calibri" pitchFamily="34" charset="-120"/>
              </a:rPr>
              <a:t>Questions?</a:t>
            </a:r>
            <a:endParaRPr lang="en-US" sz="40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548640" y="365760"/>
            <a:ext cx="11094415" cy="731520"/>
          </a:xfrm>
          <a:prstGeom prst="rect">
            <a:avLst/>
          </a:prstGeom>
          <a:noFill/>
          <a:ln/>
        </p:spPr>
        <p:txBody>
          <a:bodyPr wrap="square" lIns="0" tIns="0" rIns="0" bIns="0" rtlCol="0" anchor="ctr"/>
          <a:lstStyle/>
          <a:p>
            <a:pPr marL="0" indent="0">
              <a:buNone/>
            </a:pPr>
            <a:r>
              <a:rPr lang="en-US" sz="3200" b="1" dirty="0">
                <a:solidFill>
                  <a:srgbClr val="1F2937"/>
                </a:solidFill>
                <a:latin typeface="Calibri" pitchFamily="34" charset="0"/>
                <a:ea typeface="Calibri" pitchFamily="34" charset="-122"/>
                <a:cs typeface="Calibri" pitchFamily="34" charset="-120"/>
              </a:rPr>
              <a:t>Backup: Who Can Do What</a:t>
            </a:r>
            <a:endParaRPr lang="en-US" sz="3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4242816"/>
        </p:xfrm>
        <a:graphic>
          <a:graphicData uri="http://schemas.openxmlformats.org/drawingml/2006/table">
            <a:tbl>
              <a:tblPr/>
              <a:tblGrid>
                <a:gridCol w="3657600">
                  <a:extLst>
                    <a:ext uri="{9D8B030D-6E8A-4147-A177-3AD203B41FA5}">
                      <a16:colId xmlns:a16="http://schemas.microsoft.com/office/drawing/2014/main" val="20000"/>
                    </a:ext>
                  </a:extLst>
                </a:gridCol>
                <a:gridCol w="1239012">
                  <a:extLst>
                    <a:ext uri="{9D8B030D-6E8A-4147-A177-3AD203B41FA5}">
                      <a16:colId xmlns:a16="http://schemas.microsoft.com/office/drawing/2014/main" val="20001"/>
                    </a:ext>
                  </a:extLst>
                </a:gridCol>
                <a:gridCol w="1239012">
                  <a:extLst>
                    <a:ext uri="{9D8B030D-6E8A-4147-A177-3AD203B41FA5}">
                      <a16:colId xmlns:a16="http://schemas.microsoft.com/office/drawing/2014/main" val="20002"/>
                    </a:ext>
                  </a:extLst>
                </a:gridCol>
                <a:gridCol w="1239012">
                  <a:extLst>
                    <a:ext uri="{9D8B030D-6E8A-4147-A177-3AD203B41FA5}">
                      <a16:colId xmlns:a16="http://schemas.microsoft.com/office/drawing/2014/main" val="20003"/>
                    </a:ext>
                  </a:extLst>
                </a:gridCol>
                <a:gridCol w="1239012">
                  <a:extLst>
                    <a:ext uri="{9D8B030D-6E8A-4147-A177-3AD203B41FA5}">
                      <a16:colId xmlns:a16="http://schemas.microsoft.com/office/drawing/2014/main" val="20004"/>
                    </a:ext>
                  </a:extLst>
                </a:gridCol>
                <a:gridCol w="1239012">
                  <a:extLst>
                    <a:ext uri="{9D8B030D-6E8A-4147-A177-3AD203B41FA5}">
                      <a16:colId xmlns:a16="http://schemas.microsoft.com/office/drawing/2014/main" val="20005"/>
                    </a:ext>
                  </a:extLst>
                </a:gridCol>
                <a:gridCol w="1239012">
                  <a:extLst>
                    <a:ext uri="{9D8B030D-6E8A-4147-A177-3AD203B41FA5}">
                      <a16:colId xmlns:a16="http://schemas.microsoft.com/office/drawing/2014/main" val="20006"/>
                    </a:ext>
                  </a:extLst>
                </a:gridCol>
              </a:tblGrid>
              <a:tr h="530352">
                <a:tc>
                  <a:txBody>
                    <a:bodyPr/>
                    <a:lstStyle/>
                    <a:p>
                      <a:pPr marL="0" indent="0" algn="l">
                        <a:buNone/>
                      </a:pPr>
                      <a:r>
                        <a:rPr lang="en-US" sz="1600" b="1" dirty="0">
                          <a:solidFill>
                            <a:srgbClr val="FFFFFF"/>
                          </a:solidFill>
                          <a:latin typeface="Calibri" pitchFamily="34" charset="0"/>
                          <a:ea typeface="Calibri" pitchFamily="34" charset="-122"/>
                          <a:cs typeface="Calibri" pitchFamily="34" charset="-120"/>
                        </a:rPr>
                        <a:t>Capability</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Admin</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HR</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Manager</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Staff</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Payroll</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tc>
                  <a:txBody>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Finance</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4453B0"/>
                    </a:solidFill>
                  </a:tcPr>
                </a:tc>
                <a:extLst>
                  <a:ext uri="{0D108BD9-81ED-4DB2-BD59-A6C34878D82A}">
                    <a16:rowId xmlns:a16="http://schemas.microsoft.com/office/drawing/2014/main" val="10000"/>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Own attendance, leave, payslips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Employees and settings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1F2937"/>
                          </a:solidFill>
                          <a:latin typeface="Calibri" pitchFamily="34" charset="0"/>
                          <a:ea typeface="Calibri" pitchFamily="34" charset="-122"/>
                          <a:cs typeface="Calibri" pitchFamily="34" charset="-120"/>
                        </a:rPr>
                        <a:t>View</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extLst>
                  <a:ext uri="{0D108BD9-81ED-4DB2-BD59-A6C34878D82A}">
                    <a16:rowId xmlns:a16="http://schemas.microsoft.com/office/drawing/2014/main" val="10002"/>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Rosters and duty schedules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937"/>
                          </a:solidFill>
                          <a:latin typeface="Calibri" pitchFamily="34" charset="0"/>
                          <a:ea typeface="Calibri" pitchFamily="34" charset="-122"/>
                          <a:cs typeface="Calibri" pitchFamily="34" charset="-120"/>
                        </a:rPr>
                        <a:t>Own</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937"/>
                          </a:solidFill>
                          <a:latin typeface="Calibri" pitchFamily="34" charset="0"/>
                          <a:ea typeface="Calibri" pitchFamily="34" charset="-122"/>
                          <a:cs typeface="Calibri" pitchFamily="34" charset="-120"/>
                        </a:rPr>
                        <a:t>Own</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1F2937"/>
                          </a:solidFill>
                          <a:latin typeface="Calibri" pitchFamily="34" charset="0"/>
                          <a:ea typeface="Calibri" pitchFamily="34" charset="-122"/>
                          <a:cs typeface="Calibri" pitchFamily="34" charset="-120"/>
                        </a:rPr>
                        <a:t>Own</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Recruitment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extLst>
                  <a:ext uri="{0D108BD9-81ED-4DB2-BD59-A6C34878D82A}">
                    <a16:rowId xmlns:a16="http://schemas.microsoft.com/office/drawing/2014/main" val="10004"/>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Work reports and pay cycles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Payroll runs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3F4F6"/>
                    </a:solidFill>
                  </a:tcPr>
                </a:tc>
                <a:extLst>
                  <a:ext uri="{0D108BD9-81ED-4DB2-BD59-A6C34878D82A}">
                    <a16:rowId xmlns:a16="http://schemas.microsoft.com/office/drawing/2014/main" val="10006"/>
                  </a:ext>
                </a:extLst>
              </a:tr>
              <a:tr h="530352">
                <a:tc>
                  <a:txBody>
                    <a:bodyPr/>
                    <a:lstStyle/>
                    <a:p>
                      <a:pPr marL="0" indent="0" algn="l">
                        <a:buNone/>
                      </a:pPr>
                      <a:r>
                        <a:rPr lang="en-US" sz="1600" b="1" dirty="0">
                          <a:solidFill>
                            <a:srgbClr val="1F2937"/>
                          </a:solidFill>
                          <a:latin typeface="Calibri" pitchFamily="34" charset="0"/>
                          <a:ea typeface="Calibri" pitchFamily="34" charset="-122"/>
                          <a:cs typeface="Calibri" pitchFamily="34" charset="-120"/>
                        </a:rPr>
                        <a:t>AI settings and support tickets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b="1" dirty="0">
                          <a:solidFill>
                            <a:srgbClr val="1F2937"/>
                          </a:solidFill>
                          <a:latin typeface="Calibri" pitchFamily="34" charset="0"/>
                          <a:ea typeface="Calibri" pitchFamily="34" charset="-122"/>
                          <a:cs typeface="Calibri" pitchFamily="34" charset="-120"/>
                        </a:rPr>
                        <a:t>Yes</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tc>
                  <a:txBody>
                    <a:bodyPr/>
                    <a:lstStyle/>
                    <a:p>
                      <a:pPr marL="0" indent="0" algn="ctr">
                        <a:buNone/>
                      </a:pPr>
                      <a:r>
                        <a:rPr lang="en-US" sz="1600" dirty="0">
                          <a:solidFill>
                            <a:srgbClr val="9CA3A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37160" marR="137160" marT="0" marB="0" anchor="ctr">
                    <a:lnL w="6350" cap="flat" cmpd="sng" algn="ctr">
                      <a:solidFill>
                        <a:srgbClr val="C9CED8"/>
                      </a:solidFill>
                      <a:prstDash val="solid"/>
                      <a:round/>
                      <a:headEnd type="none" w="med" len="med"/>
                      <a:tailEnd type="none" w="med" len="med"/>
                    </a:lnL>
                    <a:lnR w="6350" cap="flat" cmpd="sng" algn="ctr">
                      <a:solidFill>
                        <a:srgbClr val="C9CED8"/>
                      </a:solidFill>
                      <a:prstDash val="solid"/>
                      <a:round/>
                      <a:headEnd type="none" w="med" len="med"/>
                      <a:tailEnd type="none" w="med" len="med"/>
                    </a:lnR>
                    <a:lnT w="6350" cap="flat" cmpd="sng" algn="ctr">
                      <a:solidFill>
                        <a:srgbClr val="C9CED8"/>
                      </a:solidFill>
                      <a:prstDash val="solid"/>
                      <a:round/>
                      <a:headEnd type="none" w="med" len="med"/>
                      <a:tailEnd type="none" w="med" len="med"/>
                    </a:lnT>
                    <a:lnB w="6350" cap="flat" cmpd="sng" algn="ctr">
                      <a:solidFill>
                        <a:srgbClr val="C9CED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RBAC footnote"/>
          <p:cNvSpPr txBox="1"/>
          <p:nvPr/>
        </p:nvSpPr>
        <p:spPr>
          <a:xfrm>
            <a:off x="548640" y="5760720"/>
            <a:ext cx="11091672" cy="36576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Summary of tenant-portal route guards. The server re-checks every request with requireRole, and each company can edit its roles.</a:t>
            </a:r>
            <a:endParaRPr lang="en-US" sz="1400" dirty="0"/>
          </a:p>
        </p:txBody>
      </p:sp>
      <p:sp>
        <p:nvSpPr>
          <p:cNvPr id="25" name="Slide Number Placeholder 0"/>
          <p:cNvSpPr>
            <a:spLocks noGrp="1"/>
          </p:cNvSpPr>
          <p:nvPr>
            <p:ph type="sldNum" sz="quarter" idx="4294967295"/>
          </p:nvPr>
        </p:nvSpPr>
        <p:spPr>
          <a:xfrm>
            <a:off x="11277295"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200">
                <a:solidFill>
                  <a:srgbClr val="6B728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1876</Words>
  <Application>Microsoft Macintosh PowerPoint</Application>
  <PresentationFormat>Widescreen</PresentationFormat>
  <Paragraphs>275</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HRM PLUS - Project Presentation</dc:title>
  <dc:subject>PptxGenJS Presentation</dc:subject>
  <dc:creator>Pranta Roy</dc:creator>
  <cp:lastModifiedBy>Roy, Pranta (Student)</cp:lastModifiedBy>
  <cp:revision>9</cp:revision>
  <dcterms:created xsi:type="dcterms:W3CDTF">2026-10-11T01:37:31Z</dcterms:created>
  <dcterms:modified xsi:type="dcterms:W3CDTF">2026-10-11T05:08:35Z</dcterms:modified>
</cp:coreProperties>
</file>