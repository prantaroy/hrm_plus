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665D1D-8E2E-8DFC-D4F7-6E21F736382A}">
          <p14:sldIdLst>
            <p14:sldId id="256"/>
          </p14:sldIdLst>
        </p14:section>
        <p14:section name="Context" id="{A25FFE49-ED61-1EA9-4A3A-E5D48FD7A4FA}">
          <p14:sldIdLst>
            <p14:sldId id="257"/>
            <p14:sldId id="258"/>
          </p14:sldIdLst>
        </p14:section>
        <p14:section name="Technical design" id="{032AFD35-3477-B006-E0CE-1D5A6F558132}">
          <p14:sldIdLst>
            <p14:sldId id="259"/>
            <p14:sldId id="260"/>
            <p14:sldId id="261"/>
            <p14:sldId id="262"/>
            <p14:sldId id="263"/>
            <p14:sldId id="264"/>
          </p14:sldIdLst>
        </p14:section>
        <p14:section name="Features" id="{882EB966-2DF7-F0D6-396E-4E96CC6C8B75}">
          <p14:sldIdLst>
            <p14:sldId id="265"/>
            <p14:sldId id="266"/>
          </p14:sldIdLst>
        </p14:section>
        <p14:section name="Demo" id="{49F922FC-3FDC-359F-F1B8-0E801046AAF4}">
          <p14:sldIdLst>
            <p14:sldId id="267"/>
          </p14:sldIdLst>
        </p14:section>
        <p14:section name="Wrap-up" id="{99F7D788-4C5A-28A1-E883-86A7149E74E6}">
          <p14:sldIdLst>
            <p14:sldId id="268"/>
            <p14:sldId id="269"/>
          </p14:sldIdLst>
        </p14:section>
        <p14:section name="Backup" id="{57C0B8F2-9AA8-F0A4-760E-FA8CF021E3C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1" d="100"/>
          <a:sy n="211" d="100"/>
        </p:scale>
        <p:origin x="11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530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Hello, I'm Pranta Roy, and this is HRM PLUS, my capstone project. It is a multi-tenant HR and workforce management platform: one product that lets many companies each run their own HR, attendance, leave, rostering and payroll, with their data completely separate.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Small and mid-size companies usually run HR across many disconnected tools: staff records in one place, attendance in another, leave in email, payroll in spreadsheets. On top of that, if you want to offer this as a service you need strict separation between companies, an easy way for a new company to sign up, and proper roles so people only see what they should. HRM PLUS is my answer to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The product is two portals. The company portal is where each organisation's people work every day. The SaaS owner site is the public landing page plus the super-admin area where I approve new companies and manage packages. Inside each company there are six roles, Admin, HR, Manager, Staff, Payroll and Finance, and each sees only what its role allows.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 quick tour of the stack by layer. Everything is TypeScript. The frontends are React with Vite and Tailwind, using TanStack Query for server state. The API is Express with zod validating every request. Prisma talks to MySQL 8.4. Redis and BullMQ run background jobs, and Puppeteer renders PDFs. Security is JWT plus bcrypt plus role-based access control. It all ships through Docker Compose, with GitHub Actions running Jest and Supertest tests. Don't read the chips, just point at the layers.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is the full system design, read left to right. Two single-page apps are served by nginx and share a UI and types package. Both call one stateless Express API. Every request passes the same chain of layers: security headers and rate limiting, the tenant resolver, authentication and role checks, then routes, controllers and services, and finally Prisma. The API talks to MySQL, which holds one control database plus a separate database for every company. Slow work goes onto Redis queues, and a separate worker process, built from the same image, consumes them. The API also reaches out to file storage, SMTP and the LLM providers. Everything runs under Docker Compose.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core design decision is database per tenant. A small control-plane database, hrm_control, knows who the tenants are, their packages and the landing page content. Each company then gets its own physical database with the same 85-model schema. On every request the tenant resolver finds the slug, looks up the tenant, and fetches a cached Prisma client for that company's database, so queries can never reach another company's data. The trade-off: you get the strongest isolation and easy per-company backup and restore, but every schema change has to be rolled out to every database, which is why migrations are scripted.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Here is the life of one request. Edge middleware sets security headers and parses the body. The tenant resolver picks the company database. requireAuth verifies the JWT and checks that its tenant claim matches the resolved tenant, so a token from one company is rejected by another. requireRole applies the role allow-list. A zod schema validates the input, and then the controller calls a service which uses Prisma. Every one of the 50-plus feature modules follows the same routes, controller, service, mapper shape. Platform admins use a completely separate token and secret.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Provisioning is one service function triggered by the approval. It checks that the application is still Pending, creates a database named from the signup slug, runs prisma migrate deploy, which replays the 27 migrations, then inserts the tenant into the control database. It seeds the default roles, creates the Admin user with a bcrypt hash and a forced password change, marks the application approved and emails the credentials. Honest limit if asked: the steps run in sequence rather than in one distributed transaction, so cleanup on a mid-way failure is a future improvement.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Anything slow or periodic leaves the request path. The API drops a job on a BullMQ queue in Redis, tagged with the tenant slug, and a separate worker process picks it up, resolves that company's database and does the work. There are six queues. Three run on demand, payslip PDFs rendered with Puppeteer, LLM grading of assessment answers, and IRD payday filing. Three run on a schedule, assessment expiry, asset reminders and recurring tasks. That keeps the API fast and lets jobs retry independently.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Inside each company there are nine areas. Pick the three or four you want to highlight rather than listing all of them: attendance, where check-in can be restricted by IP address, location, device or a QR kiosk; leave, with configurable multi-step approvals; duty rosters that auto-generate and can be edited by drag and drop; and payroll with PDF payslips. The rest, documents, recruitment, projects, assets and meetings, round it out into one workforce platform.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AI is built in through a pluggable provider layer, so a company can use Groq, OpenAI, Anthropic or Gemini. Today it generates assessment questions for recruitment, grades short-text answers in the background, and produces an AI KPI report with a written impression of staff performance.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Switch to the running app now. Walk the same story as the slides: sign up a company on the landing page at port 5174, approve it as super-admin, log in as the new company admin, then jump to the demo company to show the dashboard, an attendance check-in, the duty roster and a leave request approved by a manager. Keep to about 12 seconds per step and talk while you click. Before recording: run docker compose up and confirm the logins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On quality: the whole stack is dockerised, CI runs on GitHub Actions, and the tests run against real tenant databases, including isolation tests. Honest limits: payroll tax is a simplified NZ and AU model, in-app notifications currently fire for leave decisions, and audit logging is not yet wired up. Those are my next steps.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To sum up: HRM PLUS is isolated by design, self-serve from signup to a running company, and AI-ready. Thank you, I'm happy to take questions. Be ready to explain why database-per-tenant instead of a tenant_id column, how provisioning works, and what the role model looks like.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deployment. Docker Compose starts MySQL and Redis, waits for their health checks, runs the one-shot migrate service which applies the control migrations and seeds demo data, then starts the backend. The worker and both nginx-served frontends start after that. The API and worker run from the same image and share the uploads volume.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the role model. Six default roles are seeded per company, and each company can edit them. The front end hides what a role can't use, but the real enforcement is requireRole on the server.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DAAE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C3CDE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marL="0" indent="0">
              <a:buNone/>
            </a:pPr>
            <a:r>
              <a:rPr lang="en-US" sz="1100" b="1" dirty="0">
                <a:solidFill>
                  <a:schemeClr val="accent1"/>
                </a:solidFill>
                <a:latin typeface="Calibri" pitchFamily="34" charset="0"/>
                <a:ea typeface="Calibri" pitchFamily="34" charset="-122"/>
                <a:cs typeface="Calibri" pitchFamily="34" charset="-120"/>
              </a:rPr>
              <a:t>HRM PLUS</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DAAE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731520" y="1097280"/>
            <a:ext cx="6400800" cy="365760"/>
          </a:xfrm>
          <a:prstGeom prst="rect">
            <a:avLst/>
          </a:prstGeom>
          <a:noFill/>
          <a:ln/>
        </p:spPr>
        <p:txBody>
          <a:bodyPr wrap="square" lIns="0" tIns="0" rIns="0" bIns="0" rtlCol="0" anchor="t"/>
          <a:lstStyle/>
          <a:p>
            <a:pPr marL="0" indent="0">
              <a:buNone/>
            </a:pPr>
            <a:r>
              <a:rPr lang="en-US" sz="1600" b="1" kern="0" spc="300" dirty="0">
                <a:solidFill>
                  <a:srgbClr val="9DAAE2"/>
                </a:solidFill>
                <a:latin typeface="Calibri" pitchFamily="34" charset="0"/>
                <a:ea typeface="Calibri" pitchFamily="34" charset="-122"/>
                <a:cs typeface="Calibri" pitchFamily="34" charset="-120"/>
              </a:rPr>
              <a:t>COMPX576 CAPSTONE PROJECT</a:t>
            </a:r>
            <a:endParaRPr lang="en-US" sz="1600" dirty="0"/>
          </a:p>
        </p:txBody>
      </p:sp>
      <p:sp>
        <p:nvSpPr>
          <p:cNvPr id="3" name="Title"/>
          <p:cNvSpPr txBox="1"/>
          <p:nvPr/>
        </p:nvSpPr>
        <p:spPr>
          <a:xfrm>
            <a:off x="731520" y="1645920"/>
            <a:ext cx="6583680" cy="1280160"/>
          </a:xfrm>
          <a:prstGeom prst="rect">
            <a:avLst/>
          </a:prstGeom>
          <a:noFill/>
          <a:ln/>
        </p:spPr>
        <p:txBody>
          <a:bodyPr wrap="square" lIns="0" tIns="0" rIns="0" bIns="0" rtlCol="0" anchor="t"/>
          <a:lstStyle/>
          <a:p>
            <a:pPr marL="0" indent="0">
              <a:buNone/>
            </a:pPr>
            <a:r>
              <a:rPr lang="en-US" sz="8000" b="1" dirty="0">
                <a:solidFill>
                  <a:schemeClr val="bg1"/>
                </a:solidFill>
                <a:latin typeface="Calibri" pitchFamily="34" charset="0"/>
                <a:ea typeface="Calibri" pitchFamily="34" charset="-122"/>
                <a:cs typeface="Calibri" pitchFamily="34" charset="-120"/>
              </a:rPr>
              <a:t>HRM PLUS</a:t>
            </a:r>
            <a:endParaRPr lang="en-US" sz="8000" dirty="0"/>
          </a:p>
        </p:txBody>
      </p:sp>
      <p:sp>
        <p:nvSpPr>
          <p:cNvPr id="4" name="Subtitle"/>
          <p:cNvSpPr txBox="1"/>
          <p:nvPr/>
        </p:nvSpPr>
        <p:spPr>
          <a:xfrm>
            <a:off x="731520" y="3017520"/>
            <a:ext cx="6217920" cy="1188720"/>
          </a:xfrm>
          <a:prstGeom prst="rect">
            <a:avLst/>
          </a:prstGeom>
          <a:noFill/>
          <a:ln/>
        </p:spPr>
        <p:txBody>
          <a:bodyPr wrap="square" lIns="0" tIns="0" rIns="0" bIns="0" rtlCol="0" anchor="t"/>
          <a:lstStyle/>
          <a:p>
            <a:pPr marL="0" indent="0">
              <a:buNone/>
            </a:pPr>
            <a:r>
              <a:rPr lang="en-US" sz="2600" dirty="0">
                <a:solidFill>
                  <a:srgbClr val="DFE5F7"/>
                </a:solidFill>
                <a:latin typeface="Calibri" pitchFamily="34" charset="0"/>
                <a:ea typeface="Calibri" pitchFamily="34" charset="-122"/>
                <a:cs typeface="Calibri" pitchFamily="34" charset="-120"/>
              </a:rPr>
              <a:t>An AI-enabled, multi-tenant HR and workforce management platform</a:t>
            </a:r>
            <a:endParaRPr lang="en-US" sz="2600" dirty="0"/>
          </a:p>
        </p:txBody>
      </p:sp>
      <p:sp>
        <p:nvSpPr>
          <p:cNvPr id="5" name="Presenter"/>
          <p:cNvSpPr txBox="1"/>
          <p:nvPr/>
        </p:nvSpPr>
        <p:spPr>
          <a:xfrm>
            <a:off x="731520" y="4937760"/>
            <a:ext cx="5486400" cy="365760"/>
          </a:xfrm>
          <a:prstGeom prst="rect">
            <a:avLst/>
          </a:prstGeom>
          <a:noFill/>
          <a:ln/>
        </p:spPr>
        <p:txBody>
          <a:bodyPr wrap="square" lIns="0" tIns="0" rIns="0" bIns="0" rtlCol="0" anchor="t"/>
          <a:lstStyle/>
          <a:p>
            <a:pPr marL="0" indent="0">
              <a:buNone/>
            </a:pPr>
            <a:r>
              <a:rPr lang="en-US" sz="1600" dirty="0">
                <a:solidFill>
                  <a:srgbClr val="9DAAE2"/>
                </a:solidFill>
                <a:latin typeface="Calibri" pitchFamily="34" charset="0"/>
                <a:ea typeface="Calibri" pitchFamily="34" charset="-122"/>
                <a:cs typeface="Calibri" pitchFamily="34" charset="-120"/>
              </a:rPr>
              <a:t>Pranta Roy  |  October 2026</a:t>
            </a:r>
            <a:endParaRPr lang="en-US" sz="1600" dirty="0"/>
          </a:p>
        </p:txBody>
      </p:sp>
      <p:sp>
        <p:nvSpPr>
          <p:cNvPr id="6" name="Stat card 1"/>
          <p:cNvSpPr/>
          <p:nvPr/>
        </p:nvSpPr>
        <p:spPr>
          <a:xfrm>
            <a:off x="7406640" y="1188720"/>
            <a:ext cx="4206240" cy="1280160"/>
          </a:xfrm>
          <a:prstGeom prst="roundRect">
            <a:avLst>
              <a:gd name="adj" fmla="val 10000"/>
            </a:avLst>
          </a:prstGeom>
          <a:solidFill>
            <a:schemeClr val="bg1">
              <a:alpha val="10000"/>
            </a:schemeClr>
          </a:solidFill>
          <a:ln w="12700">
            <a:solidFill>
              <a:srgbClr val="9DAAE2"/>
            </a:solidFill>
            <a:prstDash val="solid"/>
          </a:ln>
        </p:spPr>
        <p:txBody>
          <a:bodyPr/>
          <a:lstStyle/>
          <a:p>
            <a:endParaRPr lang="en-US"/>
          </a:p>
        </p:txBody>
      </p:sp>
      <p:sp>
        <p:nvSpPr>
          <p:cNvPr id="7" name="Stat value 1"/>
          <p:cNvSpPr txBox="1"/>
          <p:nvPr/>
        </p:nvSpPr>
        <p:spPr>
          <a:xfrm>
            <a:off x="7635240" y="1280160"/>
            <a:ext cx="914400" cy="1097280"/>
          </a:xfrm>
          <a:prstGeom prst="rect">
            <a:avLst/>
          </a:prstGeom>
          <a:noFill/>
          <a:ln/>
        </p:spPr>
        <p:txBody>
          <a:bodyPr wrap="square" lIns="0" tIns="0" rIns="0" bIns="0" rtlCol="0" anchor="ctr"/>
          <a:lstStyle/>
          <a:p>
            <a:pPr marL="0" indent="0">
              <a:buNone/>
            </a:pPr>
            <a:r>
              <a:rPr lang="en-US" sz="6000" b="1" dirty="0">
                <a:solidFill>
                  <a:srgbClr val="F472B6"/>
                </a:solidFill>
                <a:latin typeface="Calibri" pitchFamily="34" charset="0"/>
                <a:ea typeface="Calibri" pitchFamily="34" charset="-122"/>
                <a:cs typeface="Calibri" pitchFamily="34" charset="-120"/>
              </a:rPr>
              <a:t>2</a:t>
            </a:r>
            <a:endParaRPr lang="en-US" sz="6000" dirty="0"/>
          </a:p>
        </p:txBody>
      </p:sp>
      <p:sp>
        <p:nvSpPr>
          <p:cNvPr id="8" name="Stat label 1"/>
          <p:cNvSpPr txBox="1"/>
          <p:nvPr/>
        </p:nvSpPr>
        <p:spPr>
          <a:xfrm>
            <a:off x="8641080" y="1325880"/>
            <a:ext cx="2834640" cy="100584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portals</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Company portal and SaaS owner site</a:t>
            </a:r>
            <a:endParaRPr lang="en-US" sz="2000" dirty="0"/>
          </a:p>
        </p:txBody>
      </p:sp>
      <p:sp>
        <p:nvSpPr>
          <p:cNvPr id="9" name="Stat card 2"/>
          <p:cNvSpPr/>
          <p:nvPr/>
        </p:nvSpPr>
        <p:spPr>
          <a:xfrm>
            <a:off x="7406640" y="2743200"/>
            <a:ext cx="4206240" cy="1280160"/>
          </a:xfrm>
          <a:prstGeom prst="roundRect">
            <a:avLst>
              <a:gd name="adj" fmla="val 10000"/>
            </a:avLst>
          </a:prstGeom>
          <a:solidFill>
            <a:schemeClr val="bg1">
              <a:alpha val="10000"/>
            </a:schemeClr>
          </a:solidFill>
          <a:ln w="12700">
            <a:solidFill>
              <a:srgbClr val="9DAAE2"/>
            </a:solidFill>
            <a:prstDash val="solid"/>
          </a:ln>
        </p:spPr>
        <p:txBody>
          <a:bodyPr/>
          <a:lstStyle/>
          <a:p>
            <a:endParaRPr lang="en-US"/>
          </a:p>
        </p:txBody>
      </p:sp>
      <p:sp>
        <p:nvSpPr>
          <p:cNvPr id="10" name="Stat value 2"/>
          <p:cNvSpPr txBox="1"/>
          <p:nvPr/>
        </p:nvSpPr>
        <p:spPr>
          <a:xfrm>
            <a:off x="7635240" y="2834640"/>
            <a:ext cx="914400" cy="1097280"/>
          </a:xfrm>
          <a:prstGeom prst="rect">
            <a:avLst/>
          </a:prstGeom>
          <a:noFill/>
          <a:ln/>
        </p:spPr>
        <p:txBody>
          <a:bodyPr wrap="square" lIns="0" tIns="0" rIns="0" bIns="0" rtlCol="0" anchor="ctr"/>
          <a:lstStyle/>
          <a:p>
            <a:pPr marL="0" indent="0">
              <a:buNone/>
            </a:pPr>
            <a:r>
              <a:rPr lang="en-US" sz="6000" b="1" dirty="0">
                <a:solidFill>
                  <a:srgbClr val="F472B6"/>
                </a:solidFill>
                <a:latin typeface="Calibri" pitchFamily="34" charset="0"/>
                <a:ea typeface="Calibri" pitchFamily="34" charset="-122"/>
                <a:cs typeface="Calibri" pitchFamily="34" charset="-120"/>
              </a:rPr>
              <a:t>6</a:t>
            </a:r>
            <a:endParaRPr lang="en-US" sz="6000" dirty="0"/>
          </a:p>
        </p:txBody>
      </p:sp>
      <p:sp>
        <p:nvSpPr>
          <p:cNvPr id="11" name="Stat label 2"/>
          <p:cNvSpPr txBox="1"/>
          <p:nvPr/>
        </p:nvSpPr>
        <p:spPr>
          <a:xfrm>
            <a:off x="8641080" y="2880360"/>
            <a:ext cx="2834640" cy="100584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roles</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Admin, HR, Manager, Staff, Payroll, Finance</a:t>
            </a:r>
            <a:endParaRPr lang="en-US" sz="2000" dirty="0"/>
          </a:p>
        </p:txBody>
      </p:sp>
      <p:sp>
        <p:nvSpPr>
          <p:cNvPr id="12" name="Stat card 3"/>
          <p:cNvSpPr/>
          <p:nvPr/>
        </p:nvSpPr>
        <p:spPr>
          <a:xfrm>
            <a:off x="7406640" y="4297680"/>
            <a:ext cx="4206240" cy="1280160"/>
          </a:xfrm>
          <a:prstGeom prst="roundRect">
            <a:avLst>
              <a:gd name="adj" fmla="val 10000"/>
            </a:avLst>
          </a:prstGeom>
          <a:solidFill>
            <a:schemeClr val="bg1">
              <a:alpha val="10000"/>
            </a:schemeClr>
          </a:solidFill>
          <a:ln w="12700">
            <a:solidFill>
              <a:srgbClr val="9DAAE2"/>
            </a:solidFill>
            <a:prstDash val="solid"/>
          </a:ln>
        </p:spPr>
        <p:txBody>
          <a:bodyPr/>
          <a:lstStyle/>
          <a:p>
            <a:endParaRPr lang="en-US"/>
          </a:p>
        </p:txBody>
      </p:sp>
      <p:sp>
        <p:nvSpPr>
          <p:cNvPr id="13" name="Stat value 3"/>
          <p:cNvSpPr txBox="1"/>
          <p:nvPr/>
        </p:nvSpPr>
        <p:spPr>
          <a:xfrm>
            <a:off x="7635240" y="4389120"/>
            <a:ext cx="914400" cy="1097280"/>
          </a:xfrm>
          <a:prstGeom prst="rect">
            <a:avLst/>
          </a:prstGeom>
          <a:noFill/>
          <a:ln/>
        </p:spPr>
        <p:txBody>
          <a:bodyPr wrap="square" lIns="0" tIns="0" rIns="0" bIns="0" rtlCol="0" anchor="ctr"/>
          <a:lstStyle/>
          <a:p>
            <a:pPr marL="0" indent="0">
              <a:buNone/>
            </a:pPr>
            <a:r>
              <a:rPr lang="en-US" sz="6000" b="1" dirty="0">
                <a:solidFill>
                  <a:srgbClr val="F472B6"/>
                </a:solidFill>
                <a:latin typeface="Calibri" pitchFamily="34" charset="0"/>
                <a:ea typeface="Calibri" pitchFamily="34" charset="-122"/>
                <a:cs typeface="Calibri" pitchFamily="34" charset="-120"/>
              </a:rPr>
              <a:t>1</a:t>
            </a:r>
            <a:endParaRPr lang="en-US" sz="6000" dirty="0"/>
          </a:p>
        </p:txBody>
      </p:sp>
      <p:sp>
        <p:nvSpPr>
          <p:cNvPr id="14" name="Stat label 3"/>
          <p:cNvSpPr txBox="1"/>
          <p:nvPr/>
        </p:nvSpPr>
        <p:spPr>
          <a:xfrm>
            <a:off x="8641080" y="4434840"/>
            <a:ext cx="2834640" cy="100584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database per company</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Isolation by design</a:t>
            </a:r>
            <a:endParaRPr lang="en-US" sz="2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DAAE2"/>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The problem: HR work is scattered</a:t>
            </a:r>
            <a:endParaRPr lang="en-US" sz="3600" dirty="0"/>
          </a:p>
        </p:txBody>
      </p:sp>
      <p:sp>
        <p:nvSpPr>
          <p:cNvPr id="3" name="Today label"/>
          <p:cNvSpPr txBox="1"/>
          <p:nvPr/>
        </p:nvSpPr>
        <p:spPr>
          <a:xfrm>
            <a:off x="548640" y="1508760"/>
            <a:ext cx="274320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TODAY</a:t>
            </a:r>
            <a:endParaRPr lang="en-US" sz="1400" dirty="0"/>
          </a:p>
        </p:txBody>
      </p:sp>
      <p:sp>
        <p:nvSpPr>
          <p:cNvPr id="4" name="Tool chip Staff records"/>
          <p:cNvSpPr/>
          <p:nvPr/>
        </p:nvSpPr>
        <p:spPr>
          <a:xfrm>
            <a:off x="548640" y="192024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5" name="Tool label Staff records"/>
          <p:cNvSpPr txBox="1"/>
          <p:nvPr/>
        </p:nvSpPr>
        <p:spPr>
          <a:xfrm>
            <a:off x="548640" y="192024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Staff records</a:t>
            </a:r>
            <a:endParaRPr lang="en-US" sz="1400" dirty="0"/>
          </a:p>
        </p:txBody>
      </p:sp>
      <p:sp>
        <p:nvSpPr>
          <p:cNvPr id="6" name="Tool chip Attendance"/>
          <p:cNvSpPr/>
          <p:nvPr/>
        </p:nvSpPr>
        <p:spPr>
          <a:xfrm>
            <a:off x="2331720" y="210312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7" name="Tool label Attendance"/>
          <p:cNvSpPr txBox="1"/>
          <p:nvPr/>
        </p:nvSpPr>
        <p:spPr>
          <a:xfrm>
            <a:off x="2331720" y="210312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Attendance</a:t>
            </a:r>
            <a:endParaRPr lang="en-US" sz="1400" dirty="0"/>
          </a:p>
        </p:txBody>
      </p:sp>
      <p:sp>
        <p:nvSpPr>
          <p:cNvPr id="8" name="Tool chip Leave"/>
          <p:cNvSpPr/>
          <p:nvPr/>
        </p:nvSpPr>
        <p:spPr>
          <a:xfrm>
            <a:off x="3931920" y="192024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9" name="Tool label Leave"/>
          <p:cNvSpPr txBox="1"/>
          <p:nvPr/>
        </p:nvSpPr>
        <p:spPr>
          <a:xfrm>
            <a:off x="3931920" y="192024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Leave</a:t>
            </a:r>
            <a:endParaRPr lang="en-US" sz="1400" dirty="0"/>
          </a:p>
        </p:txBody>
      </p:sp>
      <p:sp>
        <p:nvSpPr>
          <p:cNvPr id="10" name="Tool chip Rosters"/>
          <p:cNvSpPr/>
          <p:nvPr/>
        </p:nvSpPr>
        <p:spPr>
          <a:xfrm>
            <a:off x="914400" y="269748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11" name="Tool label Rosters"/>
          <p:cNvSpPr txBox="1"/>
          <p:nvPr/>
        </p:nvSpPr>
        <p:spPr>
          <a:xfrm>
            <a:off x="914400" y="269748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Rosters</a:t>
            </a:r>
            <a:endParaRPr lang="en-US" sz="1400" dirty="0"/>
          </a:p>
        </p:txBody>
      </p:sp>
      <p:sp>
        <p:nvSpPr>
          <p:cNvPr id="12" name="Tool chip Payroll"/>
          <p:cNvSpPr/>
          <p:nvPr/>
        </p:nvSpPr>
        <p:spPr>
          <a:xfrm>
            <a:off x="2651760" y="288036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13" name="Tool label Payroll"/>
          <p:cNvSpPr txBox="1"/>
          <p:nvPr/>
        </p:nvSpPr>
        <p:spPr>
          <a:xfrm>
            <a:off x="2651760" y="288036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Payroll</a:t>
            </a:r>
            <a:endParaRPr lang="en-US" sz="1400" dirty="0"/>
          </a:p>
        </p:txBody>
      </p:sp>
      <p:sp>
        <p:nvSpPr>
          <p:cNvPr id="14" name="Tool chip Recruitment"/>
          <p:cNvSpPr/>
          <p:nvPr/>
        </p:nvSpPr>
        <p:spPr>
          <a:xfrm>
            <a:off x="548640" y="3474720"/>
            <a:ext cx="173736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15" name="Tool label Recruitment"/>
          <p:cNvSpPr txBox="1"/>
          <p:nvPr/>
        </p:nvSpPr>
        <p:spPr>
          <a:xfrm>
            <a:off x="548640" y="3474720"/>
            <a:ext cx="173736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Recruitment</a:t>
            </a:r>
            <a:endParaRPr lang="en-US" sz="1400" dirty="0"/>
          </a:p>
        </p:txBody>
      </p:sp>
      <p:sp>
        <p:nvSpPr>
          <p:cNvPr id="16" name="Tool chip Documents"/>
          <p:cNvSpPr/>
          <p:nvPr/>
        </p:nvSpPr>
        <p:spPr>
          <a:xfrm>
            <a:off x="2468880" y="3657600"/>
            <a:ext cx="1554480" cy="548640"/>
          </a:xfrm>
          <a:prstGeom prst="roundRect">
            <a:avLst>
              <a:gd name="adj" fmla="val 50000"/>
            </a:avLst>
          </a:prstGeom>
          <a:solidFill>
            <a:srgbClr val="FFFFFF"/>
          </a:solidFill>
          <a:ln w="12700">
            <a:solidFill>
              <a:srgbClr val="C3CDEF"/>
            </a:solidFill>
            <a:prstDash val="dash"/>
          </a:ln>
        </p:spPr>
        <p:txBody>
          <a:bodyPr/>
          <a:lstStyle/>
          <a:p>
            <a:endParaRPr lang="en-US"/>
          </a:p>
        </p:txBody>
      </p:sp>
      <p:sp>
        <p:nvSpPr>
          <p:cNvPr id="17" name="Tool label Documents"/>
          <p:cNvSpPr txBox="1"/>
          <p:nvPr/>
        </p:nvSpPr>
        <p:spPr>
          <a:xfrm>
            <a:off x="2468880" y="3657600"/>
            <a:ext cx="1554480" cy="548640"/>
          </a:xfrm>
          <a:prstGeom prst="rect">
            <a:avLst/>
          </a:prstGeom>
          <a:noFill/>
          <a:ln/>
        </p:spPr>
        <p:txBody>
          <a:bodyPr wrap="square" lIns="0" tIns="0" rIns="0" bIns="0" rtlCol="0" anchor="ctr"/>
          <a:lstStyle/>
          <a:p>
            <a:pPr marL="0" indent="0" algn="ctr">
              <a:buNone/>
            </a:pPr>
            <a:r>
              <a:rPr lang="en-US" sz="1400" dirty="0">
                <a:solidFill>
                  <a:srgbClr val="5B6478"/>
                </a:solidFill>
                <a:latin typeface="Calibri" pitchFamily="34" charset="0"/>
                <a:ea typeface="Calibri" pitchFamily="34" charset="-122"/>
                <a:cs typeface="Calibri" pitchFamily="34" charset="-120"/>
              </a:rPr>
              <a:t>Documents</a:t>
            </a:r>
            <a:endParaRPr lang="en-US" sz="1400" dirty="0"/>
          </a:p>
        </p:txBody>
      </p:sp>
      <p:sp>
        <p:nvSpPr>
          <p:cNvPr id="18" name="Today caption"/>
          <p:cNvSpPr txBox="1"/>
          <p:nvPr/>
        </p:nvSpPr>
        <p:spPr>
          <a:xfrm>
            <a:off x="548640" y="4206240"/>
            <a:ext cx="4937760" cy="365760"/>
          </a:xfrm>
          <a:prstGeom prst="rect">
            <a:avLst/>
          </a:prstGeom>
          <a:noFill/>
          <a:ln/>
        </p:spPr>
        <p:txBody>
          <a:bodyPr wrap="square" lIns="0" tIns="0" rIns="0" bIns="0" rtlCol="0" anchor="t"/>
          <a:lstStyle/>
          <a:p>
            <a:pPr marL="0" indent="0">
              <a:buNone/>
            </a:pPr>
            <a:r>
              <a:rPr lang="en-US" sz="1600" i="1" dirty="0">
                <a:solidFill>
                  <a:srgbClr val="5B6478"/>
                </a:solidFill>
                <a:latin typeface="Calibri" pitchFamily="34" charset="0"/>
                <a:ea typeface="Calibri" pitchFamily="34" charset="-122"/>
                <a:cs typeface="Calibri" pitchFamily="34" charset="-120"/>
              </a:rPr>
              <a:t>Separate tools, spreadsheets and emails</a:t>
            </a:r>
            <a:endParaRPr lang="en-US" sz="1600" dirty="0"/>
          </a:p>
        </p:txBody>
      </p:sp>
      <p:sp>
        <p:nvSpPr>
          <p:cNvPr id="19" name="Arrow"/>
          <p:cNvSpPr/>
          <p:nvPr/>
        </p:nvSpPr>
        <p:spPr>
          <a:xfrm>
            <a:off x="5760720" y="2834640"/>
            <a:ext cx="731520" cy="548640"/>
          </a:xfrm>
          <a:prstGeom prst="rightArrow">
            <a:avLst/>
          </a:prstGeom>
          <a:solidFill>
            <a:schemeClr val="accent1"/>
          </a:solidFill>
          <a:ln/>
        </p:spPr>
        <p:txBody>
          <a:bodyPr/>
          <a:lstStyle/>
          <a:p>
            <a:endParaRPr lang="en-US"/>
          </a:p>
        </p:txBody>
      </p:sp>
      <p:sp>
        <p:nvSpPr>
          <p:cNvPr id="20" name="HRM PLUS card"/>
          <p:cNvSpPr/>
          <p:nvPr/>
        </p:nvSpPr>
        <p:spPr>
          <a:xfrm>
            <a:off x="6858000" y="1783080"/>
            <a:ext cx="4754880" cy="2743200"/>
          </a:xfrm>
          <a:prstGeom prst="roundRect">
            <a:avLst>
              <a:gd name="adj" fmla="val 5000"/>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21" name="Platform label"/>
          <p:cNvSpPr txBox="1"/>
          <p:nvPr/>
        </p:nvSpPr>
        <p:spPr>
          <a:xfrm>
            <a:off x="7178040" y="2011680"/>
            <a:ext cx="411480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ONE PLATFORM</a:t>
            </a:r>
            <a:endParaRPr lang="en-US" sz="1400" dirty="0"/>
          </a:p>
        </p:txBody>
      </p:sp>
      <p:sp>
        <p:nvSpPr>
          <p:cNvPr id="22" name="Platform name"/>
          <p:cNvSpPr txBox="1"/>
          <p:nvPr/>
        </p:nvSpPr>
        <p:spPr>
          <a:xfrm>
            <a:off x="7178040" y="2331720"/>
            <a:ext cx="4114800" cy="822960"/>
          </a:xfrm>
          <a:prstGeom prst="rect">
            <a:avLst/>
          </a:prstGeom>
          <a:noFill/>
          <a:ln/>
        </p:spPr>
        <p:txBody>
          <a:bodyPr wrap="square" lIns="0" tIns="0" rIns="0" bIns="0" rtlCol="0" anchor="t"/>
          <a:lstStyle/>
          <a:p>
            <a:pPr marL="0" indent="0">
              <a:buNone/>
            </a:pPr>
            <a:r>
              <a:rPr lang="en-US" sz="4800" b="1" dirty="0">
                <a:solidFill>
                  <a:schemeClr val="bg1"/>
                </a:solidFill>
                <a:latin typeface="Calibri" pitchFamily="34" charset="0"/>
                <a:ea typeface="Calibri" pitchFamily="34" charset="-122"/>
                <a:cs typeface="Calibri" pitchFamily="34" charset="-120"/>
              </a:rPr>
              <a:t>HRM PLUS</a:t>
            </a:r>
            <a:endParaRPr lang="en-US" sz="4800" dirty="0"/>
          </a:p>
        </p:txBody>
      </p:sp>
      <p:sp>
        <p:nvSpPr>
          <p:cNvPr id="23" name="Platform caption"/>
          <p:cNvSpPr txBox="1"/>
          <p:nvPr/>
        </p:nvSpPr>
        <p:spPr>
          <a:xfrm>
            <a:off x="7178040" y="3200400"/>
            <a:ext cx="4023360" cy="1097280"/>
          </a:xfrm>
          <a:prstGeom prst="rect">
            <a:avLst/>
          </a:prstGeom>
          <a:noFill/>
          <a:ln/>
        </p:spPr>
        <p:txBody>
          <a:bodyPr wrap="square" lIns="0" tIns="0" rIns="0" bIns="0" rtlCol="0" anchor="t"/>
          <a:lstStyle/>
          <a:p>
            <a:pPr marL="0" indent="0">
              <a:buNone/>
            </a:pPr>
            <a:r>
              <a:rPr lang="en-US" sz="1800" dirty="0">
                <a:solidFill>
                  <a:srgbClr val="EEF1FB"/>
                </a:solidFill>
                <a:latin typeface="Calibri" pitchFamily="34" charset="0"/>
                <a:ea typeface="Calibri" pitchFamily="34" charset="-122"/>
                <a:cs typeface="Calibri" pitchFamily="34" charset="-120"/>
              </a:rPr>
              <a:t>Everything above in one place, for every company that signs up</a:t>
            </a:r>
            <a:endParaRPr lang="en-US" sz="1800" dirty="0"/>
          </a:p>
        </p:txBody>
      </p:sp>
      <p:sp>
        <p:nvSpPr>
          <p:cNvPr id="24" name="Need 1 circle"/>
          <p:cNvSpPr/>
          <p:nvPr/>
        </p:nvSpPr>
        <p:spPr>
          <a:xfrm>
            <a:off x="548640" y="5029200"/>
            <a:ext cx="640080" cy="640080"/>
          </a:xfrm>
          <a:prstGeom prst="ellipse">
            <a:avLst/>
          </a:prstGeom>
          <a:solidFill>
            <a:schemeClr val="accent1"/>
          </a:solidFill>
          <a:ln/>
        </p:spPr>
        <p:txBody>
          <a:bodyPr/>
          <a:lstStyle/>
          <a:p>
            <a:endParaRPr lang="en-US"/>
          </a:p>
        </p:txBody>
      </p:sp>
      <p:pic>
        <p:nvPicPr>
          <p:cNvPr id="25" name="Need 1 icon" descr="preencoded.png"/>
          <p:cNvPicPr>
            <a:picLocks noChangeAspect="1"/>
          </p:cNvPicPr>
          <p:nvPr/>
        </p:nvPicPr>
        <p:blipFill>
          <a:blip r:embed="rId3"/>
          <a:stretch>
            <a:fillRect/>
          </a:stretch>
        </p:blipFill>
        <p:spPr>
          <a:xfrm>
            <a:off x="727862" y="5208422"/>
            <a:ext cx="281635" cy="281635"/>
          </a:xfrm>
          <a:prstGeom prst="rect">
            <a:avLst/>
          </a:prstGeom>
        </p:spPr>
      </p:pic>
      <p:sp>
        <p:nvSpPr>
          <p:cNvPr id="26" name="Need text 1"/>
          <p:cNvSpPr txBox="1"/>
          <p:nvPr/>
        </p:nvSpPr>
        <p:spPr>
          <a:xfrm>
            <a:off x="1325880" y="5029200"/>
            <a:ext cx="2697480" cy="6400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Strict data separation between companies</a:t>
            </a:r>
            <a:endParaRPr lang="en-US" sz="1600" dirty="0"/>
          </a:p>
        </p:txBody>
      </p:sp>
      <p:sp>
        <p:nvSpPr>
          <p:cNvPr id="27" name="Need 2 circle"/>
          <p:cNvSpPr/>
          <p:nvPr/>
        </p:nvSpPr>
        <p:spPr>
          <a:xfrm>
            <a:off x="4297680" y="5029200"/>
            <a:ext cx="640080" cy="640080"/>
          </a:xfrm>
          <a:prstGeom prst="ellipse">
            <a:avLst/>
          </a:prstGeom>
          <a:solidFill>
            <a:schemeClr val="accent1"/>
          </a:solidFill>
          <a:ln/>
        </p:spPr>
        <p:txBody>
          <a:bodyPr/>
          <a:lstStyle/>
          <a:p>
            <a:endParaRPr lang="en-US"/>
          </a:p>
        </p:txBody>
      </p:sp>
      <p:pic>
        <p:nvPicPr>
          <p:cNvPr id="28" name="Need 2 icon" descr="preencoded.png"/>
          <p:cNvPicPr>
            <a:picLocks noChangeAspect="1"/>
          </p:cNvPicPr>
          <p:nvPr/>
        </p:nvPicPr>
        <p:blipFill>
          <a:blip r:embed="rId4"/>
          <a:stretch>
            <a:fillRect/>
          </a:stretch>
        </p:blipFill>
        <p:spPr>
          <a:xfrm>
            <a:off x="4476902" y="5208422"/>
            <a:ext cx="281635" cy="281635"/>
          </a:xfrm>
          <a:prstGeom prst="rect">
            <a:avLst/>
          </a:prstGeom>
        </p:spPr>
      </p:pic>
      <p:sp>
        <p:nvSpPr>
          <p:cNvPr id="29" name="Need text 2"/>
          <p:cNvSpPr txBox="1"/>
          <p:nvPr/>
        </p:nvSpPr>
        <p:spPr>
          <a:xfrm>
            <a:off x="5074920" y="5029200"/>
            <a:ext cx="2697480" cy="6400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Self-serve signup and onboarding</a:t>
            </a:r>
            <a:endParaRPr lang="en-US" sz="1600" dirty="0"/>
          </a:p>
        </p:txBody>
      </p:sp>
      <p:sp>
        <p:nvSpPr>
          <p:cNvPr id="30" name="Need 3 circle"/>
          <p:cNvSpPr/>
          <p:nvPr/>
        </p:nvSpPr>
        <p:spPr>
          <a:xfrm>
            <a:off x="8046720" y="5029200"/>
            <a:ext cx="640080" cy="640080"/>
          </a:xfrm>
          <a:prstGeom prst="ellipse">
            <a:avLst/>
          </a:prstGeom>
          <a:solidFill>
            <a:schemeClr val="accent1"/>
          </a:solidFill>
          <a:ln/>
        </p:spPr>
        <p:txBody>
          <a:bodyPr/>
          <a:lstStyle/>
          <a:p>
            <a:endParaRPr lang="en-US"/>
          </a:p>
        </p:txBody>
      </p:sp>
      <p:pic>
        <p:nvPicPr>
          <p:cNvPr id="31" name="Need 3 icon" descr="preencoded.png"/>
          <p:cNvPicPr>
            <a:picLocks noChangeAspect="1"/>
          </p:cNvPicPr>
          <p:nvPr/>
        </p:nvPicPr>
        <p:blipFill>
          <a:blip r:embed="rId5"/>
          <a:stretch>
            <a:fillRect/>
          </a:stretch>
        </p:blipFill>
        <p:spPr>
          <a:xfrm>
            <a:off x="8225942" y="5208422"/>
            <a:ext cx="281635" cy="281635"/>
          </a:xfrm>
          <a:prstGeom prst="rect">
            <a:avLst/>
          </a:prstGeom>
        </p:spPr>
      </p:pic>
      <p:sp>
        <p:nvSpPr>
          <p:cNvPr id="32" name="Need text 3"/>
          <p:cNvSpPr txBox="1"/>
          <p:nvPr/>
        </p:nvSpPr>
        <p:spPr>
          <a:xfrm>
            <a:off x="8823960" y="5029200"/>
            <a:ext cx="2697480" cy="6400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Role-based access for every person</a:t>
            </a:r>
            <a:endParaRPr lang="en-US" sz="1600" dirty="0"/>
          </a:p>
        </p:txBody>
      </p:sp>
      <p:sp>
        <p:nvSpPr>
          <p:cNvPr id="33"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One platform, two portals, six roles</a:t>
            </a:r>
            <a:endParaRPr lang="en-US" sz="3600" dirty="0"/>
          </a:p>
        </p:txBody>
      </p:sp>
      <p:sp>
        <p:nvSpPr>
          <p:cNvPr id="3" name="Portal card 1"/>
          <p:cNvSpPr/>
          <p:nvPr/>
        </p:nvSpPr>
        <p:spPr>
          <a:xfrm>
            <a:off x="548640" y="1417320"/>
            <a:ext cx="5394960" cy="3246120"/>
          </a:xfrm>
          <a:prstGeom prst="roundRect">
            <a:avLst>
              <a:gd name="adj" fmla="val 338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Portal 1 circle"/>
          <p:cNvSpPr/>
          <p:nvPr/>
        </p:nvSpPr>
        <p:spPr>
          <a:xfrm>
            <a:off x="822960" y="1645920"/>
            <a:ext cx="594360" cy="594360"/>
          </a:xfrm>
          <a:prstGeom prst="ellipse">
            <a:avLst/>
          </a:prstGeom>
          <a:solidFill>
            <a:schemeClr val="accent1"/>
          </a:solidFill>
          <a:ln/>
        </p:spPr>
        <p:txBody>
          <a:bodyPr/>
          <a:lstStyle/>
          <a:p>
            <a:endParaRPr lang="en-US"/>
          </a:p>
        </p:txBody>
      </p:sp>
      <p:pic>
        <p:nvPicPr>
          <p:cNvPr id="5" name="Portal 1 icon" descr="preencoded.png"/>
          <p:cNvPicPr>
            <a:picLocks noChangeAspect="1"/>
          </p:cNvPicPr>
          <p:nvPr/>
        </p:nvPicPr>
        <p:blipFill>
          <a:blip r:embed="rId3"/>
          <a:stretch>
            <a:fillRect/>
          </a:stretch>
        </p:blipFill>
        <p:spPr>
          <a:xfrm>
            <a:off x="989381" y="1812341"/>
            <a:ext cx="261518" cy="261518"/>
          </a:xfrm>
          <a:prstGeom prst="rect">
            <a:avLst/>
          </a:prstGeom>
        </p:spPr>
      </p:pic>
      <p:sp>
        <p:nvSpPr>
          <p:cNvPr id="6" name="Portal name 1"/>
          <p:cNvSpPr txBox="1"/>
          <p:nvPr/>
        </p:nvSpPr>
        <p:spPr>
          <a:xfrm>
            <a:off x="1554480" y="1627632"/>
            <a:ext cx="4114800" cy="365760"/>
          </a:xfrm>
          <a:prstGeom prst="rect">
            <a:avLst/>
          </a:prstGeom>
          <a:noFill/>
          <a:ln/>
        </p:spPr>
        <p:txBody>
          <a:bodyPr wrap="square" lIns="0" tIns="0" rIns="0" bIns="0" rtlCol="0" anchor="t"/>
          <a:lstStyle/>
          <a:p>
            <a:pPr marL="0" indent="0">
              <a:buNone/>
            </a:pPr>
            <a:r>
              <a:rPr lang="en-US" sz="2200" b="1" dirty="0">
                <a:solidFill>
                  <a:schemeClr val="tx2"/>
                </a:solidFill>
                <a:latin typeface="Calibri" pitchFamily="34" charset="0"/>
                <a:ea typeface="Calibri" pitchFamily="34" charset="-122"/>
                <a:cs typeface="Calibri" pitchFamily="34" charset="-120"/>
              </a:rPr>
              <a:t>Company portal</a:t>
            </a:r>
            <a:endParaRPr lang="en-US" sz="2200" dirty="0"/>
          </a:p>
        </p:txBody>
      </p:sp>
      <p:sp>
        <p:nvSpPr>
          <p:cNvPr id="7" name="Portal sub 1"/>
          <p:cNvSpPr txBox="1"/>
          <p:nvPr/>
        </p:nvSpPr>
        <p:spPr>
          <a:xfrm>
            <a:off x="1554480" y="2011680"/>
            <a:ext cx="4114800" cy="274320"/>
          </a:xfrm>
          <a:prstGeom prst="rect">
            <a:avLst/>
          </a:prstGeom>
          <a:noFill/>
          <a:ln/>
        </p:spPr>
        <p:txBody>
          <a:bodyPr wrap="square" lIns="0" tIns="0" rIns="0" bIns="0" rtlCol="0" anchor="t"/>
          <a:lstStyle/>
          <a:p>
            <a:pPr marL="0" indent="0">
              <a:buNone/>
            </a:pPr>
            <a:r>
              <a:rPr lang="en-US" sz="1400" dirty="0">
                <a:solidFill>
                  <a:srgbClr val="5B6478"/>
                </a:solidFill>
                <a:latin typeface="Calibri" pitchFamily="34" charset="0"/>
                <a:ea typeface="Calibri" pitchFamily="34" charset="-122"/>
                <a:cs typeface="Calibri" pitchFamily="34" charset="-120"/>
              </a:rPr>
              <a:t>Used daily by each company's staff</a:t>
            </a:r>
            <a:endParaRPr lang="en-US" sz="1400" dirty="0"/>
          </a:p>
        </p:txBody>
      </p:sp>
      <p:sp>
        <p:nvSpPr>
          <p:cNvPr id="8" name="Portal bullets 1"/>
          <p:cNvSpPr txBox="1"/>
          <p:nvPr/>
        </p:nvSpPr>
        <p:spPr>
          <a:xfrm>
            <a:off x="868680" y="2560320"/>
            <a:ext cx="24231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Dashboard, attendance, leave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Rosters, payroll, recruitment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Own public website CMS</a:t>
            </a:r>
            <a:endParaRPr lang="en-US" sz="1400" dirty="0"/>
          </a:p>
        </p:txBody>
      </p:sp>
      <p:sp>
        <p:nvSpPr>
          <p:cNvPr id="9" name="Screenshot frame 1"/>
          <p:cNvSpPr/>
          <p:nvPr/>
        </p:nvSpPr>
        <p:spPr>
          <a:xfrm>
            <a:off x="3383280" y="2514600"/>
            <a:ext cx="2286000" cy="1920240"/>
          </a:xfrm>
          <a:prstGeom prst="roundRect">
            <a:avLst>
              <a:gd name="adj" fmla="val 3810"/>
            </a:avLst>
          </a:prstGeom>
          <a:solidFill>
            <a:srgbClr val="EEF1FB"/>
          </a:solidFill>
          <a:ln w="12700">
            <a:solidFill>
              <a:schemeClr val="accent5"/>
            </a:solidFill>
            <a:prstDash val="dash"/>
          </a:ln>
        </p:spPr>
        <p:txBody>
          <a:bodyPr/>
          <a:lstStyle/>
          <a:p>
            <a:endParaRPr lang="en-US"/>
          </a:p>
        </p:txBody>
      </p:sp>
      <p:sp>
        <p:nvSpPr>
          <p:cNvPr id="10" name="Screenshot label 1"/>
          <p:cNvSpPr txBox="1"/>
          <p:nvPr/>
        </p:nvSpPr>
        <p:spPr>
          <a:xfrm>
            <a:off x="3383280" y="2514600"/>
            <a:ext cx="2286000" cy="1920240"/>
          </a:xfrm>
          <a:prstGeom prst="rect">
            <a:avLst/>
          </a:prstGeom>
          <a:noFill/>
          <a:ln/>
        </p:spPr>
        <p:txBody>
          <a:bodyPr wrap="square" lIns="0" tIns="0" rIns="0" bIns="0" rtlCol="0" anchor="ctr"/>
          <a:lstStyle/>
          <a:p>
            <a:pPr marL="0" indent="0" algn="ctr">
              <a:buNone/>
            </a:pPr>
            <a:r>
              <a:rPr lang="en-US" sz="1200" dirty="0">
                <a:solidFill>
                  <a:schemeClr val="accent1"/>
                </a:solidFill>
                <a:latin typeface="Calibri" pitchFamily="34" charset="0"/>
                <a:ea typeface="Calibri" pitchFamily="34" charset="-122"/>
                <a:cs typeface="Calibri" pitchFamily="34" charset="-120"/>
              </a:rPr>
              <a:t>Screenshot: dashboard</a:t>
            </a:r>
            <a:endParaRPr lang="en-US" sz="1200" dirty="0"/>
          </a:p>
        </p:txBody>
      </p:sp>
      <p:sp>
        <p:nvSpPr>
          <p:cNvPr id="11" name="Portal card 2"/>
          <p:cNvSpPr/>
          <p:nvPr/>
        </p:nvSpPr>
        <p:spPr>
          <a:xfrm>
            <a:off x="6217920" y="1417320"/>
            <a:ext cx="5394960" cy="3246120"/>
          </a:xfrm>
          <a:prstGeom prst="roundRect">
            <a:avLst>
              <a:gd name="adj" fmla="val 338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2" name="Portal 2 circle"/>
          <p:cNvSpPr/>
          <p:nvPr/>
        </p:nvSpPr>
        <p:spPr>
          <a:xfrm>
            <a:off x="6492240" y="1645920"/>
            <a:ext cx="594360" cy="594360"/>
          </a:xfrm>
          <a:prstGeom prst="ellipse">
            <a:avLst/>
          </a:prstGeom>
          <a:solidFill>
            <a:schemeClr val="accent1"/>
          </a:solidFill>
          <a:ln/>
        </p:spPr>
        <p:txBody>
          <a:bodyPr/>
          <a:lstStyle/>
          <a:p>
            <a:endParaRPr lang="en-US"/>
          </a:p>
        </p:txBody>
      </p:sp>
      <p:pic>
        <p:nvPicPr>
          <p:cNvPr id="13" name="Portal 2 icon" descr="preencoded.png"/>
          <p:cNvPicPr>
            <a:picLocks noChangeAspect="1"/>
          </p:cNvPicPr>
          <p:nvPr/>
        </p:nvPicPr>
        <p:blipFill>
          <a:blip r:embed="rId4"/>
          <a:stretch>
            <a:fillRect/>
          </a:stretch>
        </p:blipFill>
        <p:spPr>
          <a:xfrm>
            <a:off x="6658661" y="1812341"/>
            <a:ext cx="261518" cy="261518"/>
          </a:xfrm>
          <a:prstGeom prst="rect">
            <a:avLst/>
          </a:prstGeom>
        </p:spPr>
      </p:pic>
      <p:sp>
        <p:nvSpPr>
          <p:cNvPr id="14" name="Portal name 2"/>
          <p:cNvSpPr txBox="1"/>
          <p:nvPr/>
        </p:nvSpPr>
        <p:spPr>
          <a:xfrm>
            <a:off x="7223760" y="1627632"/>
            <a:ext cx="4114800" cy="365760"/>
          </a:xfrm>
          <a:prstGeom prst="rect">
            <a:avLst/>
          </a:prstGeom>
          <a:noFill/>
          <a:ln/>
        </p:spPr>
        <p:txBody>
          <a:bodyPr wrap="square" lIns="0" tIns="0" rIns="0" bIns="0" rtlCol="0" anchor="t"/>
          <a:lstStyle/>
          <a:p>
            <a:pPr marL="0" indent="0">
              <a:buNone/>
            </a:pPr>
            <a:r>
              <a:rPr lang="en-US" sz="2200" b="1" dirty="0">
                <a:solidFill>
                  <a:schemeClr val="tx2"/>
                </a:solidFill>
                <a:latin typeface="Calibri" pitchFamily="34" charset="0"/>
                <a:ea typeface="Calibri" pitchFamily="34" charset="-122"/>
                <a:cs typeface="Calibri" pitchFamily="34" charset="-120"/>
              </a:rPr>
              <a:t>SaaS owner site</a:t>
            </a:r>
            <a:endParaRPr lang="en-US" sz="2200" dirty="0"/>
          </a:p>
        </p:txBody>
      </p:sp>
      <p:sp>
        <p:nvSpPr>
          <p:cNvPr id="15" name="Portal sub 2"/>
          <p:cNvSpPr txBox="1"/>
          <p:nvPr/>
        </p:nvSpPr>
        <p:spPr>
          <a:xfrm>
            <a:off x="7223760" y="2011680"/>
            <a:ext cx="4114800" cy="274320"/>
          </a:xfrm>
          <a:prstGeom prst="rect">
            <a:avLst/>
          </a:prstGeom>
          <a:noFill/>
          <a:ln/>
        </p:spPr>
        <p:txBody>
          <a:bodyPr wrap="square" lIns="0" tIns="0" rIns="0" bIns="0" rtlCol="0" anchor="t"/>
          <a:lstStyle/>
          <a:p>
            <a:pPr marL="0" indent="0">
              <a:buNone/>
            </a:pPr>
            <a:r>
              <a:rPr lang="en-US" sz="1400" dirty="0">
                <a:solidFill>
                  <a:srgbClr val="5B6478"/>
                </a:solidFill>
                <a:latin typeface="Calibri" pitchFamily="34" charset="0"/>
                <a:ea typeface="Calibri" pitchFamily="34" charset="-122"/>
                <a:cs typeface="Calibri" pitchFamily="34" charset="-120"/>
              </a:rPr>
              <a:t>Used by the platform owner</a:t>
            </a:r>
            <a:endParaRPr lang="en-US" sz="1400" dirty="0"/>
          </a:p>
        </p:txBody>
      </p:sp>
      <p:sp>
        <p:nvSpPr>
          <p:cNvPr id="16" name="Portal bullets 2"/>
          <p:cNvSpPr txBox="1"/>
          <p:nvPr/>
        </p:nvSpPr>
        <p:spPr>
          <a:xfrm>
            <a:off x="6537960" y="2560320"/>
            <a:ext cx="24231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Public landing page and signup</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Approve applications, set packages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Manage companies and support</a:t>
            </a:r>
            <a:endParaRPr lang="en-US" sz="1400" dirty="0"/>
          </a:p>
        </p:txBody>
      </p:sp>
      <p:sp>
        <p:nvSpPr>
          <p:cNvPr id="17" name="Screenshot frame 2"/>
          <p:cNvSpPr/>
          <p:nvPr/>
        </p:nvSpPr>
        <p:spPr>
          <a:xfrm>
            <a:off x="9052560" y="2514600"/>
            <a:ext cx="2286000" cy="1920240"/>
          </a:xfrm>
          <a:prstGeom prst="roundRect">
            <a:avLst>
              <a:gd name="adj" fmla="val 3810"/>
            </a:avLst>
          </a:prstGeom>
          <a:solidFill>
            <a:srgbClr val="EEF1FB"/>
          </a:solidFill>
          <a:ln w="12700">
            <a:solidFill>
              <a:schemeClr val="accent5"/>
            </a:solidFill>
            <a:prstDash val="dash"/>
          </a:ln>
        </p:spPr>
        <p:txBody>
          <a:bodyPr/>
          <a:lstStyle/>
          <a:p>
            <a:endParaRPr lang="en-US"/>
          </a:p>
        </p:txBody>
      </p:sp>
      <p:sp>
        <p:nvSpPr>
          <p:cNvPr id="18" name="Screenshot label 2"/>
          <p:cNvSpPr txBox="1"/>
          <p:nvPr/>
        </p:nvSpPr>
        <p:spPr>
          <a:xfrm>
            <a:off x="9052560" y="2514600"/>
            <a:ext cx="2286000" cy="1920240"/>
          </a:xfrm>
          <a:prstGeom prst="rect">
            <a:avLst/>
          </a:prstGeom>
          <a:noFill/>
          <a:ln/>
        </p:spPr>
        <p:txBody>
          <a:bodyPr wrap="square" lIns="0" tIns="0" rIns="0" bIns="0" rtlCol="0" anchor="ctr"/>
          <a:lstStyle/>
          <a:p>
            <a:pPr marL="0" indent="0" algn="ctr">
              <a:buNone/>
            </a:pPr>
            <a:r>
              <a:rPr lang="en-US" sz="1200" dirty="0">
                <a:solidFill>
                  <a:schemeClr val="accent1"/>
                </a:solidFill>
                <a:latin typeface="Calibri" pitchFamily="34" charset="0"/>
                <a:ea typeface="Calibri" pitchFamily="34" charset="-122"/>
                <a:cs typeface="Calibri" pitchFamily="34" charset="-120"/>
              </a:rPr>
              <a:t>Screenshot: landing page</a:t>
            </a:r>
            <a:endParaRPr lang="en-US" sz="1200" dirty="0"/>
          </a:p>
        </p:txBody>
      </p:sp>
      <p:sp>
        <p:nvSpPr>
          <p:cNvPr id="19" name="Roles label"/>
          <p:cNvSpPr txBox="1"/>
          <p:nvPr/>
        </p:nvSpPr>
        <p:spPr>
          <a:xfrm>
            <a:off x="548640" y="4937760"/>
            <a:ext cx="274320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WHO USES IT</a:t>
            </a:r>
            <a:endParaRPr lang="en-US" sz="1400" dirty="0"/>
          </a:p>
        </p:txBody>
      </p:sp>
      <p:sp>
        <p:nvSpPr>
          <p:cNvPr id="20" name="Role chip Admin"/>
          <p:cNvSpPr/>
          <p:nvPr/>
        </p:nvSpPr>
        <p:spPr>
          <a:xfrm>
            <a:off x="548640" y="5303520"/>
            <a:ext cx="1691640" cy="640080"/>
          </a:xfrm>
          <a:prstGeom prst="roundRect">
            <a:avLst>
              <a:gd name="adj" fmla="val 50000"/>
            </a:avLst>
          </a:prstGeom>
          <a:solidFill>
            <a:schemeClr val="accent1"/>
          </a:solidFill>
          <a:ln/>
        </p:spPr>
        <p:txBody>
          <a:bodyPr/>
          <a:lstStyle/>
          <a:p>
            <a:endParaRPr lang="en-US"/>
          </a:p>
        </p:txBody>
      </p:sp>
      <p:sp>
        <p:nvSpPr>
          <p:cNvPr id="21" name="Role label Admin"/>
          <p:cNvSpPr txBox="1"/>
          <p:nvPr/>
        </p:nvSpPr>
        <p:spPr>
          <a:xfrm>
            <a:off x="548640" y="5303520"/>
            <a:ext cx="169164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Admin</a:t>
            </a:r>
            <a:endParaRPr lang="en-US" sz="1800" dirty="0"/>
          </a:p>
        </p:txBody>
      </p:sp>
      <p:sp>
        <p:nvSpPr>
          <p:cNvPr id="22" name="Role chip HR"/>
          <p:cNvSpPr/>
          <p:nvPr/>
        </p:nvSpPr>
        <p:spPr>
          <a:xfrm>
            <a:off x="2423160" y="5303520"/>
            <a:ext cx="1691640" cy="640080"/>
          </a:xfrm>
          <a:prstGeom prst="roundRect">
            <a:avLst>
              <a:gd name="adj" fmla="val 50000"/>
            </a:avLst>
          </a:prstGeom>
          <a:solidFill>
            <a:srgbClr val="DFE5F7"/>
          </a:solidFill>
          <a:ln/>
        </p:spPr>
        <p:txBody>
          <a:bodyPr/>
          <a:lstStyle/>
          <a:p>
            <a:endParaRPr lang="en-US"/>
          </a:p>
        </p:txBody>
      </p:sp>
      <p:sp>
        <p:nvSpPr>
          <p:cNvPr id="23" name="Role label HR"/>
          <p:cNvSpPr txBox="1"/>
          <p:nvPr/>
        </p:nvSpPr>
        <p:spPr>
          <a:xfrm>
            <a:off x="2423160" y="5303520"/>
            <a:ext cx="169164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HR</a:t>
            </a:r>
            <a:endParaRPr lang="en-US" sz="1800" dirty="0"/>
          </a:p>
        </p:txBody>
      </p:sp>
      <p:sp>
        <p:nvSpPr>
          <p:cNvPr id="24" name="Role chip Manager"/>
          <p:cNvSpPr/>
          <p:nvPr/>
        </p:nvSpPr>
        <p:spPr>
          <a:xfrm>
            <a:off x="4297680" y="5303520"/>
            <a:ext cx="1691640" cy="640080"/>
          </a:xfrm>
          <a:prstGeom prst="roundRect">
            <a:avLst>
              <a:gd name="adj" fmla="val 50000"/>
            </a:avLst>
          </a:prstGeom>
          <a:solidFill>
            <a:srgbClr val="DFE5F7"/>
          </a:solidFill>
          <a:ln/>
        </p:spPr>
        <p:txBody>
          <a:bodyPr/>
          <a:lstStyle/>
          <a:p>
            <a:endParaRPr lang="en-US"/>
          </a:p>
        </p:txBody>
      </p:sp>
      <p:sp>
        <p:nvSpPr>
          <p:cNvPr id="25" name="Role label Manager"/>
          <p:cNvSpPr txBox="1"/>
          <p:nvPr/>
        </p:nvSpPr>
        <p:spPr>
          <a:xfrm>
            <a:off x="4297680" y="5303520"/>
            <a:ext cx="169164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Manager</a:t>
            </a:r>
            <a:endParaRPr lang="en-US" sz="1800" dirty="0"/>
          </a:p>
        </p:txBody>
      </p:sp>
      <p:sp>
        <p:nvSpPr>
          <p:cNvPr id="26" name="Role chip Staff"/>
          <p:cNvSpPr/>
          <p:nvPr/>
        </p:nvSpPr>
        <p:spPr>
          <a:xfrm>
            <a:off x="6172200" y="5303520"/>
            <a:ext cx="1691640" cy="640080"/>
          </a:xfrm>
          <a:prstGeom prst="roundRect">
            <a:avLst>
              <a:gd name="adj" fmla="val 50000"/>
            </a:avLst>
          </a:prstGeom>
          <a:solidFill>
            <a:srgbClr val="DFE5F7"/>
          </a:solidFill>
          <a:ln/>
        </p:spPr>
        <p:txBody>
          <a:bodyPr/>
          <a:lstStyle/>
          <a:p>
            <a:endParaRPr lang="en-US"/>
          </a:p>
        </p:txBody>
      </p:sp>
      <p:sp>
        <p:nvSpPr>
          <p:cNvPr id="27" name="Role label Staff"/>
          <p:cNvSpPr txBox="1"/>
          <p:nvPr/>
        </p:nvSpPr>
        <p:spPr>
          <a:xfrm>
            <a:off x="6172200" y="5303520"/>
            <a:ext cx="169164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Staff</a:t>
            </a:r>
            <a:endParaRPr lang="en-US" sz="1800" dirty="0"/>
          </a:p>
        </p:txBody>
      </p:sp>
      <p:sp>
        <p:nvSpPr>
          <p:cNvPr id="28" name="Role chip Payroll"/>
          <p:cNvSpPr/>
          <p:nvPr/>
        </p:nvSpPr>
        <p:spPr>
          <a:xfrm>
            <a:off x="8046720" y="5303520"/>
            <a:ext cx="1691640" cy="640080"/>
          </a:xfrm>
          <a:prstGeom prst="roundRect">
            <a:avLst>
              <a:gd name="adj" fmla="val 50000"/>
            </a:avLst>
          </a:prstGeom>
          <a:solidFill>
            <a:srgbClr val="DFE5F7"/>
          </a:solidFill>
          <a:ln/>
        </p:spPr>
        <p:txBody>
          <a:bodyPr/>
          <a:lstStyle/>
          <a:p>
            <a:endParaRPr lang="en-US"/>
          </a:p>
        </p:txBody>
      </p:sp>
      <p:sp>
        <p:nvSpPr>
          <p:cNvPr id="29" name="Role label Payroll"/>
          <p:cNvSpPr txBox="1"/>
          <p:nvPr/>
        </p:nvSpPr>
        <p:spPr>
          <a:xfrm>
            <a:off x="8046720" y="5303520"/>
            <a:ext cx="169164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Payroll</a:t>
            </a:r>
            <a:endParaRPr lang="en-US" sz="1800" dirty="0"/>
          </a:p>
        </p:txBody>
      </p:sp>
      <p:sp>
        <p:nvSpPr>
          <p:cNvPr id="30" name="Role chip Finance"/>
          <p:cNvSpPr/>
          <p:nvPr/>
        </p:nvSpPr>
        <p:spPr>
          <a:xfrm>
            <a:off x="9921240" y="5303520"/>
            <a:ext cx="1691640" cy="640080"/>
          </a:xfrm>
          <a:prstGeom prst="roundRect">
            <a:avLst>
              <a:gd name="adj" fmla="val 50000"/>
            </a:avLst>
          </a:prstGeom>
          <a:solidFill>
            <a:srgbClr val="DFE5F7"/>
          </a:solidFill>
          <a:ln/>
        </p:spPr>
        <p:txBody>
          <a:bodyPr/>
          <a:lstStyle/>
          <a:p>
            <a:endParaRPr lang="en-US"/>
          </a:p>
        </p:txBody>
      </p:sp>
      <p:sp>
        <p:nvSpPr>
          <p:cNvPr id="31" name="Role label Finance"/>
          <p:cNvSpPr txBox="1"/>
          <p:nvPr/>
        </p:nvSpPr>
        <p:spPr>
          <a:xfrm>
            <a:off x="9921240" y="5303520"/>
            <a:ext cx="169164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alibri" pitchFamily="34" charset="0"/>
                <a:ea typeface="Calibri" pitchFamily="34" charset="-122"/>
                <a:cs typeface="Calibri" pitchFamily="34" charset="-120"/>
              </a:rPr>
              <a:t>Finance</a:t>
            </a:r>
            <a:endParaRPr lang="en-US" sz="1800" dirty="0"/>
          </a:p>
        </p:txBody>
      </p:sp>
      <p:sp>
        <p:nvSpPr>
          <p:cNvPr id="32"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Technology stack</a:t>
            </a:r>
            <a:endParaRPr lang="en-US" sz="3600" dirty="0"/>
          </a:p>
        </p:txBody>
      </p:sp>
      <p:sp>
        <p:nvSpPr>
          <p:cNvPr id="3" name="Layer Frontend"/>
          <p:cNvSpPr/>
          <p:nvPr/>
        </p:nvSpPr>
        <p:spPr>
          <a:xfrm>
            <a:off x="548640" y="1371600"/>
            <a:ext cx="2194560" cy="640080"/>
          </a:xfrm>
          <a:prstGeom prst="roundRect">
            <a:avLst>
              <a:gd name="adj" fmla="val 14286"/>
            </a:avLst>
          </a:prstGeom>
          <a:solidFill>
            <a:schemeClr val="accent1"/>
          </a:solidFill>
          <a:ln/>
        </p:spPr>
        <p:txBody>
          <a:bodyPr/>
          <a:lstStyle/>
          <a:p>
            <a:endParaRPr lang="en-US"/>
          </a:p>
        </p:txBody>
      </p:sp>
      <p:sp>
        <p:nvSpPr>
          <p:cNvPr id="4" name="Layer label Frontend"/>
          <p:cNvSpPr txBox="1"/>
          <p:nvPr/>
        </p:nvSpPr>
        <p:spPr>
          <a:xfrm>
            <a:off x="548640" y="1371600"/>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Frontend</a:t>
            </a:r>
            <a:endParaRPr lang="en-US" sz="1800" dirty="0"/>
          </a:p>
        </p:txBody>
      </p:sp>
      <p:sp>
        <p:nvSpPr>
          <p:cNvPr id="5" name="Tech chip React 18"/>
          <p:cNvSpPr/>
          <p:nvPr/>
        </p:nvSpPr>
        <p:spPr>
          <a:xfrm>
            <a:off x="2971800" y="1426464"/>
            <a:ext cx="1060704"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6" name="Tech label React 18"/>
          <p:cNvSpPr txBox="1"/>
          <p:nvPr/>
        </p:nvSpPr>
        <p:spPr>
          <a:xfrm>
            <a:off x="2971800" y="1426464"/>
            <a:ext cx="1060704"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React 18</a:t>
            </a:r>
            <a:endParaRPr lang="en-US" sz="1400" dirty="0"/>
          </a:p>
        </p:txBody>
      </p:sp>
      <p:sp>
        <p:nvSpPr>
          <p:cNvPr id="7" name="Tech chip Vite"/>
          <p:cNvSpPr/>
          <p:nvPr/>
        </p:nvSpPr>
        <p:spPr>
          <a:xfrm>
            <a:off x="4169664" y="1426464"/>
            <a:ext cx="71323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8" name="Tech label Vite"/>
          <p:cNvSpPr txBox="1"/>
          <p:nvPr/>
        </p:nvSpPr>
        <p:spPr>
          <a:xfrm>
            <a:off x="4169664" y="1426464"/>
            <a:ext cx="71323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Vite</a:t>
            </a:r>
            <a:endParaRPr lang="en-US" sz="1400" dirty="0"/>
          </a:p>
        </p:txBody>
      </p:sp>
      <p:sp>
        <p:nvSpPr>
          <p:cNvPr id="9" name="Tech chip Tailwind CSS"/>
          <p:cNvSpPr/>
          <p:nvPr/>
        </p:nvSpPr>
        <p:spPr>
          <a:xfrm>
            <a:off x="5020056" y="1426464"/>
            <a:ext cx="1408176"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10" name="Tech label Tailwind CSS"/>
          <p:cNvSpPr txBox="1"/>
          <p:nvPr/>
        </p:nvSpPr>
        <p:spPr>
          <a:xfrm>
            <a:off x="5020056" y="1426464"/>
            <a:ext cx="1408176"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Tailwind CSS</a:t>
            </a:r>
            <a:endParaRPr lang="en-US" sz="1400" dirty="0"/>
          </a:p>
        </p:txBody>
      </p:sp>
      <p:sp>
        <p:nvSpPr>
          <p:cNvPr id="11" name="Tech chip TanStack Query"/>
          <p:cNvSpPr/>
          <p:nvPr/>
        </p:nvSpPr>
        <p:spPr>
          <a:xfrm>
            <a:off x="6565392" y="1426464"/>
            <a:ext cx="158191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12" name="Tech label TanStack Query"/>
          <p:cNvSpPr txBox="1"/>
          <p:nvPr/>
        </p:nvSpPr>
        <p:spPr>
          <a:xfrm>
            <a:off x="6565392" y="1426464"/>
            <a:ext cx="158191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TanStack Query</a:t>
            </a:r>
            <a:endParaRPr lang="en-US" sz="1400" dirty="0"/>
          </a:p>
        </p:txBody>
      </p:sp>
      <p:sp>
        <p:nvSpPr>
          <p:cNvPr id="13" name="Tech chip React Router"/>
          <p:cNvSpPr/>
          <p:nvPr/>
        </p:nvSpPr>
        <p:spPr>
          <a:xfrm>
            <a:off x="8284464" y="1426464"/>
            <a:ext cx="1408176"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14" name="Tech label React Router"/>
          <p:cNvSpPr txBox="1"/>
          <p:nvPr/>
        </p:nvSpPr>
        <p:spPr>
          <a:xfrm>
            <a:off x="8284464" y="1426464"/>
            <a:ext cx="1408176"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React Router</a:t>
            </a:r>
            <a:endParaRPr lang="en-US" sz="1400" dirty="0"/>
          </a:p>
        </p:txBody>
      </p:sp>
      <p:sp>
        <p:nvSpPr>
          <p:cNvPr id="15" name="Tech chip dnd-kit"/>
          <p:cNvSpPr/>
          <p:nvPr/>
        </p:nvSpPr>
        <p:spPr>
          <a:xfrm>
            <a:off x="9829800" y="1426464"/>
            <a:ext cx="973836"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16" name="Tech label dnd-kit"/>
          <p:cNvSpPr txBox="1"/>
          <p:nvPr/>
        </p:nvSpPr>
        <p:spPr>
          <a:xfrm>
            <a:off x="9829800" y="1426464"/>
            <a:ext cx="973836"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dnd-kit</a:t>
            </a:r>
            <a:endParaRPr lang="en-US" sz="1400" dirty="0"/>
          </a:p>
        </p:txBody>
      </p:sp>
      <p:sp>
        <p:nvSpPr>
          <p:cNvPr id="17" name="Layer API"/>
          <p:cNvSpPr/>
          <p:nvPr/>
        </p:nvSpPr>
        <p:spPr>
          <a:xfrm>
            <a:off x="548640" y="2139696"/>
            <a:ext cx="2194560" cy="640080"/>
          </a:xfrm>
          <a:prstGeom prst="roundRect">
            <a:avLst>
              <a:gd name="adj" fmla="val 14286"/>
            </a:avLst>
          </a:prstGeom>
          <a:solidFill>
            <a:schemeClr val="accent1"/>
          </a:solidFill>
          <a:ln/>
        </p:spPr>
        <p:txBody>
          <a:bodyPr/>
          <a:lstStyle/>
          <a:p>
            <a:endParaRPr lang="en-US"/>
          </a:p>
        </p:txBody>
      </p:sp>
      <p:sp>
        <p:nvSpPr>
          <p:cNvPr id="18" name="Layer label API"/>
          <p:cNvSpPr txBox="1"/>
          <p:nvPr/>
        </p:nvSpPr>
        <p:spPr>
          <a:xfrm>
            <a:off x="548640" y="2139696"/>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API</a:t>
            </a:r>
            <a:endParaRPr lang="en-US" sz="1800" dirty="0"/>
          </a:p>
        </p:txBody>
      </p:sp>
      <p:sp>
        <p:nvSpPr>
          <p:cNvPr id="19" name="Tech chip Node.js 20"/>
          <p:cNvSpPr/>
          <p:nvPr/>
        </p:nvSpPr>
        <p:spPr>
          <a:xfrm>
            <a:off x="2971800" y="2194560"/>
            <a:ext cx="1234440"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20" name="Tech label Node.js 20"/>
          <p:cNvSpPr txBox="1"/>
          <p:nvPr/>
        </p:nvSpPr>
        <p:spPr>
          <a:xfrm>
            <a:off x="2971800" y="2194560"/>
            <a:ext cx="1234440"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Node.js 20</a:t>
            </a:r>
            <a:endParaRPr lang="en-US" sz="1400" dirty="0"/>
          </a:p>
        </p:txBody>
      </p:sp>
      <p:sp>
        <p:nvSpPr>
          <p:cNvPr id="21" name="Tech chip Express 4"/>
          <p:cNvSpPr/>
          <p:nvPr/>
        </p:nvSpPr>
        <p:spPr>
          <a:xfrm>
            <a:off x="4343400" y="2194560"/>
            <a:ext cx="114757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22" name="Tech label Express 4"/>
          <p:cNvSpPr txBox="1"/>
          <p:nvPr/>
        </p:nvSpPr>
        <p:spPr>
          <a:xfrm>
            <a:off x="4343400" y="2194560"/>
            <a:ext cx="114757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Express 4</a:t>
            </a:r>
            <a:endParaRPr lang="en-US" sz="1400" dirty="0"/>
          </a:p>
        </p:txBody>
      </p:sp>
      <p:sp>
        <p:nvSpPr>
          <p:cNvPr id="23" name="Tech chip TypeScript"/>
          <p:cNvSpPr/>
          <p:nvPr/>
        </p:nvSpPr>
        <p:spPr>
          <a:xfrm>
            <a:off x="5628132" y="2194560"/>
            <a:ext cx="1234440"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24" name="Tech label TypeScript"/>
          <p:cNvSpPr txBox="1"/>
          <p:nvPr/>
        </p:nvSpPr>
        <p:spPr>
          <a:xfrm>
            <a:off x="5628132" y="2194560"/>
            <a:ext cx="1234440"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TypeScript</a:t>
            </a:r>
            <a:endParaRPr lang="en-US" sz="1400" dirty="0"/>
          </a:p>
        </p:txBody>
      </p:sp>
      <p:sp>
        <p:nvSpPr>
          <p:cNvPr id="25" name="Tech chip zod"/>
          <p:cNvSpPr/>
          <p:nvPr/>
        </p:nvSpPr>
        <p:spPr>
          <a:xfrm>
            <a:off x="6999732" y="2194560"/>
            <a:ext cx="626364"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26" name="Tech label zod"/>
          <p:cNvSpPr txBox="1"/>
          <p:nvPr/>
        </p:nvSpPr>
        <p:spPr>
          <a:xfrm>
            <a:off x="6999732" y="2194560"/>
            <a:ext cx="626364" cy="530352"/>
          </a:xfrm>
          <a:prstGeom prst="rect">
            <a:avLst/>
          </a:prstGeom>
          <a:noFill/>
          <a:ln/>
        </p:spPr>
        <p:txBody>
          <a:bodyPr wrap="square" lIns="0" tIns="0" rIns="0" bIns="0" rtlCol="0" anchor="ctr"/>
          <a:lstStyle/>
          <a:p>
            <a:pPr marL="0" indent="0" algn="ctr">
              <a:buNone/>
            </a:pPr>
            <a:r>
              <a:rPr lang="en-US" sz="1400" b="1" dirty="0" err="1">
                <a:solidFill>
                  <a:schemeClr val="tx2"/>
                </a:solidFill>
                <a:latin typeface="Calibri" pitchFamily="34" charset="0"/>
                <a:ea typeface="Calibri" pitchFamily="34" charset="-122"/>
                <a:cs typeface="Calibri" pitchFamily="34" charset="-120"/>
              </a:rPr>
              <a:t>zod</a:t>
            </a:r>
            <a:endParaRPr lang="en-US" sz="1400" dirty="0"/>
          </a:p>
        </p:txBody>
      </p:sp>
      <p:sp>
        <p:nvSpPr>
          <p:cNvPr id="27" name="Tech chip pino"/>
          <p:cNvSpPr/>
          <p:nvPr/>
        </p:nvSpPr>
        <p:spPr>
          <a:xfrm>
            <a:off x="7763256" y="2194560"/>
            <a:ext cx="71323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28" name="Tech label pino"/>
          <p:cNvSpPr txBox="1"/>
          <p:nvPr/>
        </p:nvSpPr>
        <p:spPr>
          <a:xfrm>
            <a:off x="7763256" y="2194560"/>
            <a:ext cx="71323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pino</a:t>
            </a:r>
            <a:endParaRPr lang="en-US" sz="1400" dirty="0"/>
          </a:p>
        </p:txBody>
      </p:sp>
      <p:sp>
        <p:nvSpPr>
          <p:cNvPr id="29" name="Tech chip helmet"/>
          <p:cNvSpPr/>
          <p:nvPr/>
        </p:nvSpPr>
        <p:spPr>
          <a:xfrm>
            <a:off x="8613648" y="2194560"/>
            <a:ext cx="886968"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30" name="Tech label helmet"/>
          <p:cNvSpPr txBox="1"/>
          <p:nvPr/>
        </p:nvSpPr>
        <p:spPr>
          <a:xfrm>
            <a:off x="8613648" y="2194560"/>
            <a:ext cx="886968"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helmet</a:t>
            </a:r>
            <a:endParaRPr lang="en-US" sz="1400" dirty="0"/>
          </a:p>
        </p:txBody>
      </p:sp>
      <p:sp>
        <p:nvSpPr>
          <p:cNvPr id="31" name="Layer Data"/>
          <p:cNvSpPr/>
          <p:nvPr/>
        </p:nvSpPr>
        <p:spPr>
          <a:xfrm>
            <a:off x="548640" y="2907792"/>
            <a:ext cx="2194560" cy="640080"/>
          </a:xfrm>
          <a:prstGeom prst="roundRect">
            <a:avLst>
              <a:gd name="adj" fmla="val 14286"/>
            </a:avLst>
          </a:prstGeom>
          <a:solidFill>
            <a:schemeClr val="accent1"/>
          </a:solidFill>
          <a:ln/>
        </p:spPr>
        <p:txBody>
          <a:bodyPr/>
          <a:lstStyle/>
          <a:p>
            <a:endParaRPr lang="en-US"/>
          </a:p>
        </p:txBody>
      </p:sp>
      <p:sp>
        <p:nvSpPr>
          <p:cNvPr id="32" name="Layer label Data"/>
          <p:cNvSpPr txBox="1"/>
          <p:nvPr/>
        </p:nvSpPr>
        <p:spPr>
          <a:xfrm>
            <a:off x="548640" y="2907792"/>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Data</a:t>
            </a:r>
            <a:endParaRPr lang="en-US" sz="1800" dirty="0"/>
          </a:p>
        </p:txBody>
      </p:sp>
      <p:sp>
        <p:nvSpPr>
          <p:cNvPr id="33" name="Tech chip Prisma 5"/>
          <p:cNvSpPr/>
          <p:nvPr/>
        </p:nvSpPr>
        <p:spPr>
          <a:xfrm>
            <a:off x="2971800" y="2962656"/>
            <a:ext cx="1060704"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34" name="Tech label Prisma 5"/>
          <p:cNvSpPr txBox="1"/>
          <p:nvPr/>
        </p:nvSpPr>
        <p:spPr>
          <a:xfrm>
            <a:off x="2971800" y="2962656"/>
            <a:ext cx="1060704"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Prisma 5</a:t>
            </a:r>
            <a:endParaRPr lang="en-US" sz="1400" dirty="0"/>
          </a:p>
        </p:txBody>
      </p:sp>
      <p:sp>
        <p:nvSpPr>
          <p:cNvPr id="35" name="Tech chip MySQL 8.4"/>
          <p:cNvSpPr/>
          <p:nvPr/>
        </p:nvSpPr>
        <p:spPr>
          <a:xfrm>
            <a:off x="4169664" y="2962656"/>
            <a:ext cx="114757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36" name="Tech label MySQL 8.4"/>
          <p:cNvSpPr txBox="1"/>
          <p:nvPr/>
        </p:nvSpPr>
        <p:spPr>
          <a:xfrm>
            <a:off x="4169664" y="2962656"/>
            <a:ext cx="114757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MySQL 8.4</a:t>
            </a:r>
            <a:endParaRPr lang="en-US" sz="1400" dirty="0"/>
          </a:p>
        </p:txBody>
      </p:sp>
      <p:sp>
        <p:nvSpPr>
          <p:cNvPr id="37" name="Tech chip Database per tenant"/>
          <p:cNvSpPr/>
          <p:nvPr/>
        </p:nvSpPr>
        <p:spPr>
          <a:xfrm>
            <a:off x="5454396" y="2962656"/>
            <a:ext cx="201625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38" name="Tech label Database per tenant"/>
          <p:cNvSpPr txBox="1"/>
          <p:nvPr/>
        </p:nvSpPr>
        <p:spPr>
          <a:xfrm>
            <a:off x="5454396" y="2962656"/>
            <a:ext cx="201625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Database per tenant</a:t>
            </a:r>
            <a:endParaRPr lang="en-US" sz="1400" dirty="0"/>
          </a:p>
        </p:txBody>
      </p:sp>
      <p:sp>
        <p:nvSpPr>
          <p:cNvPr id="39" name="Layer Async and files"/>
          <p:cNvSpPr/>
          <p:nvPr/>
        </p:nvSpPr>
        <p:spPr>
          <a:xfrm>
            <a:off x="548640" y="3675888"/>
            <a:ext cx="2194560" cy="640080"/>
          </a:xfrm>
          <a:prstGeom prst="roundRect">
            <a:avLst>
              <a:gd name="adj" fmla="val 14286"/>
            </a:avLst>
          </a:prstGeom>
          <a:solidFill>
            <a:schemeClr val="accent1"/>
          </a:solidFill>
          <a:ln/>
        </p:spPr>
        <p:txBody>
          <a:bodyPr/>
          <a:lstStyle/>
          <a:p>
            <a:endParaRPr lang="en-US"/>
          </a:p>
        </p:txBody>
      </p:sp>
      <p:sp>
        <p:nvSpPr>
          <p:cNvPr id="40" name="Layer label Async and files"/>
          <p:cNvSpPr txBox="1"/>
          <p:nvPr/>
        </p:nvSpPr>
        <p:spPr>
          <a:xfrm>
            <a:off x="548640" y="3675888"/>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Async and files</a:t>
            </a:r>
            <a:endParaRPr lang="en-US" sz="1800" dirty="0"/>
          </a:p>
        </p:txBody>
      </p:sp>
      <p:sp>
        <p:nvSpPr>
          <p:cNvPr id="41" name="Tech chip Redis 7"/>
          <p:cNvSpPr/>
          <p:nvPr/>
        </p:nvSpPr>
        <p:spPr>
          <a:xfrm>
            <a:off x="2971800" y="3730752"/>
            <a:ext cx="973836"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42" name="Tech label Redis 7"/>
          <p:cNvSpPr txBox="1"/>
          <p:nvPr/>
        </p:nvSpPr>
        <p:spPr>
          <a:xfrm>
            <a:off x="2971800" y="3730752"/>
            <a:ext cx="973836"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Redis 7</a:t>
            </a:r>
            <a:endParaRPr lang="en-US" sz="1400" dirty="0"/>
          </a:p>
        </p:txBody>
      </p:sp>
      <p:sp>
        <p:nvSpPr>
          <p:cNvPr id="43" name="Tech chip BullMQ"/>
          <p:cNvSpPr/>
          <p:nvPr/>
        </p:nvSpPr>
        <p:spPr>
          <a:xfrm>
            <a:off x="4082796" y="3730752"/>
            <a:ext cx="886968"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44" name="Tech label BullMQ"/>
          <p:cNvSpPr txBox="1"/>
          <p:nvPr/>
        </p:nvSpPr>
        <p:spPr>
          <a:xfrm>
            <a:off x="4082796" y="3730752"/>
            <a:ext cx="886968"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BullMQ</a:t>
            </a:r>
            <a:endParaRPr lang="en-US" sz="1400" dirty="0"/>
          </a:p>
        </p:txBody>
      </p:sp>
      <p:sp>
        <p:nvSpPr>
          <p:cNvPr id="45" name="Tech chip Puppeteer PDFs"/>
          <p:cNvSpPr/>
          <p:nvPr/>
        </p:nvSpPr>
        <p:spPr>
          <a:xfrm>
            <a:off x="5106924" y="3730752"/>
            <a:ext cx="158191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46" name="Tech label Puppeteer PDFs"/>
          <p:cNvSpPr txBox="1"/>
          <p:nvPr/>
        </p:nvSpPr>
        <p:spPr>
          <a:xfrm>
            <a:off x="5106924" y="3730752"/>
            <a:ext cx="158191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Puppeteer PDFs</a:t>
            </a:r>
            <a:endParaRPr lang="en-US" sz="1400" dirty="0"/>
          </a:p>
        </p:txBody>
      </p:sp>
      <p:sp>
        <p:nvSpPr>
          <p:cNvPr id="47" name="Tech chip S3 or local storage"/>
          <p:cNvSpPr/>
          <p:nvPr/>
        </p:nvSpPr>
        <p:spPr>
          <a:xfrm>
            <a:off x="6825996" y="3730752"/>
            <a:ext cx="201625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48" name="Tech label S3 or local storage"/>
          <p:cNvSpPr txBox="1"/>
          <p:nvPr/>
        </p:nvSpPr>
        <p:spPr>
          <a:xfrm>
            <a:off x="6825996" y="3730752"/>
            <a:ext cx="201625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S3 or local storage</a:t>
            </a:r>
            <a:endParaRPr lang="en-US" sz="1400" dirty="0"/>
          </a:p>
        </p:txBody>
      </p:sp>
      <p:sp>
        <p:nvSpPr>
          <p:cNvPr id="49" name="Layer Security"/>
          <p:cNvSpPr/>
          <p:nvPr/>
        </p:nvSpPr>
        <p:spPr>
          <a:xfrm>
            <a:off x="548640" y="4443984"/>
            <a:ext cx="2194560" cy="640080"/>
          </a:xfrm>
          <a:prstGeom prst="roundRect">
            <a:avLst>
              <a:gd name="adj" fmla="val 14286"/>
            </a:avLst>
          </a:prstGeom>
          <a:solidFill>
            <a:schemeClr val="accent1"/>
          </a:solidFill>
          <a:ln/>
        </p:spPr>
        <p:txBody>
          <a:bodyPr/>
          <a:lstStyle/>
          <a:p>
            <a:endParaRPr lang="en-US"/>
          </a:p>
        </p:txBody>
      </p:sp>
      <p:sp>
        <p:nvSpPr>
          <p:cNvPr id="50" name="Layer label Security"/>
          <p:cNvSpPr txBox="1"/>
          <p:nvPr/>
        </p:nvSpPr>
        <p:spPr>
          <a:xfrm>
            <a:off x="548640" y="4443984"/>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Security</a:t>
            </a:r>
            <a:endParaRPr lang="en-US" sz="1800" dirty="0"/>
          </a:p>
        </p:txBody>
      </p:sp>
      <p:sp>
        <p:nvSpPr>
          <p:cNvPr id="51" name="Tech chip JWT access and refresh"/>
          <p:cNvSpPr/>
          <p:nvPr/>
        </p:nvSpPr>
        <p:spPr>
          <a:xfrm>
            <a:off x="2971800" y="4498848"/>
            <a:ext cx="2276856"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52" name="Tech label JWT access and refresh"/>
          <p:cNvSpPr txBox="1"/>
          <p:nvPr/>
        </p:nvSpPr>
        <p:spPr>
          <a:xfrm>
            <a:off x="2971800" y="4498848"/>
            <a:ext cx="2276856"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JWT access and refresh</a:t>
            </a:r>
            <a:endParaRPr lang="en-US" sz="1400" dirty="0"/>
          </a:p>
        </p:txBody>
      </p:sp>
      <p:sp>
        <p:nvSpPr>
          <p:cNvPr id="53" name="Tech chip bcrypt"/>
          <p:cNvSpPr/>
          <p:nvPr/>
        </p:nvSpPr>
        <p:spPr>
          <a:xfrm>
            <a:off x="5385816" y="4498848"/>
            <a:ext cx="886968"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54" name="Tech label bcrypt"/>
          <p:cNvSpPr txBox="1"/>
          <p:nvPr/>
        </p:nvSpPr>
        <p:spPr>
          <a:xfrm>
            <a:off x="5385816" y="4498848"/>
            <a:ext cx="886968"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bcrypt</a:t>
            </a:r>
            <a:endParaRPr lang="en-US" sz="1400" dirty="0"/>
          </a:p>
        </p:txBody>
      </p:sp>
      <p:sp>
        <p:nvSpPr>
          <p:cNvPr id="55" name="Tech chip RBAC"/>
          <p:cNvSpPr/>
          <p:nvPr/>
        </p:nvSpPr>
        <p:spPr>
          <a:xfrm>
            <a:off x="6409944" y="4498848"/>
            <a:ext cx="71323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56" name="Tech label RBAC"/>
          <p:cNvSpPr txBox="1"/>
          <p:nvPr/>
        </p:nvSpPr>
        <p:spPr>
          <a:xfrm>
            <a:off x="6409944" y="4498848"/>
            <a:ext cx="71323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RBAC</a:t>
            </a:r>
            <a:endParaRPr lang="en-US" sz="1400" dirty="0"/>
          </a:p>
        </p:txBody>
      </p:sp>
      <p:sp>
        <p:nvSpPr>
          <p:cNvPr id="57" name="Tech chip Rate limiting"/>
          <p:cNvSpPr/>
          <p:nvPr/>
        </p:nvSpPr>
        <p:spPr>
          <a:xfrm>
            <a:off x="7260336" y="4498848"/>
            <a:ext cx="1495044"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58" name="Tech label Rate limiting"/>
          <p:cNvSpPr txBox="1"/>
          <p:nvPr/>
        </p:nvSpPr>
        <p:spPr>
          <a:xfrm>
            <a:off x="7260336" y="4498848"/>
            <a:ext cx="1495044"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Rate limiting</a:t>
            </a:r>
            <a:endParaRPr lang="en-US" sz="1400" dirty="0"/>
          </a:p>
        </p:txBody>
      </p:sp>
      <p:sp>
        <p:nvSpPr>
          <p:cNvPr id="59" name="Layer DevOps and quality"/>
          <p:cNvSpPr/>
          <p:nvPr/>
        </p:nvSpPr>
        <p:spPr>
          <a:xfrm>
            <a:off x="548640" y="5212080"/>
            <a:ext cx="2194560" cy="640080"/>
          </a:xfrm>
          <a:prstGeom prst="roundRect">
            <a:avLst>
              <a:gd name="adj" fmla="val 14286"/>
            </a:avLst>
          </a:prstGeom>
          <a:solidFill>
            <a:schemeClr val="accent1"/>
          </a:solidFill>
          <a:ln/>
        </p:spPr>
        <p:txBody>
          <a:bodyPr/>
          <a:lstStyle/>
          <a:p>
            <a:endParaRPr lang="en-US"/>
          </a:p>
        </p:txBody>
      </p:sp>
      <p:sp>
        <p:nvSpPr>
          <p:cNvPr id="60" name="Layer label DevOps and quality"/>
          <p:cNvSpPr txBox="1"/>
          <p:nvPr/>
        </p:nvSpPr>
        <p:spPr>
          <a:xfrm>
            <a:off x="548640" y="5212080"/>
            <a:ext cx="2194560" cy="64008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DevOps and quality</a:t>
            </a:r>
            <a:endParaRPr lang="en-US" sz="1800" dirty="0"/>
          </a:p>
        </p:txBody>
      </p:sp>
      <p:sp>
        <p:nvSpPr>
          <p:cNvPr id="61" name="Tech chip Docker Compose"/>
          <p:cNvSpPr/>
          <p:nvPr/>
        </p:nvSpPr>
        <p:spPr>
          <a:xfrm>
            <a:off x="2971800" y="5266944"/>
            <a:ext cx="158191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62" name="Tech label Docker Compose"/>
          <p:cNvSpPr txBox="1"/>
          <p:nvPr/>
        </p:nvSpPr>
        <p:spPr>
          <a:xfrm>
            <a:off x="2971800" y="5266944"/>
            <a:ext cx="158191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Docker Compose</a:t>
            </a:r>
            <a:endParaRPr lang="en-US" sz="1400" dirty="0"/>
          </a:p>
        </p:txBody>
      </p:sp>
      <p:sp>
        <p:nvSpPr>
          <p:cNvPr id="63" name="Tech chip nginx"/>
          <p:cNvSpPr/>
          <p:nvPr/>
        </p:nvSpPr>
        <p:spPr>
          <a:xfrm>
            <a:off x="4690872" y="5266944"/>
            <a:ext cx="800100"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64" name="Tech label nginx"/>
          <p:cNvSpPr txBox="1"/>
          <p:nvPr/>
        </p:nvSpPr>
        <p:spPr>
          <a:xfrm>
            <a:off x="4690872" y="5266944"/>
            <a:ext cx="800100"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nginx</a:t>
            </a:r>
            <a:endParaRPr lang="en-US" sz="1400" dirty="0"/>
          </a:p>
        </p:txBody>
      </p:sp>
      <p:sp>
        <p:nvSpPr>
          <p:cNvPr id="65" name="Tech chip GitHub Actions"/>
          <p:cNvSpPr/>
          <p:nvPr/>
        </p:nvSpPr>
        <p:spPr>
          <a:xfrm>
            <a:off x="5628132" y="5266944"/>
            <a:ext cx="158191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66" name="Tech label GitHub Actions"/>
          <p:cNvSpPr txBox="1"/>
          <p:nvPr/>
        </p:nvSpPr>
        <p:spPr>
          <a:xfrm>
            <a:off x="5628132" y="5266944"/>
            <a:ext cx="158191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GitHub Actions</a:t>
            </a:r>
            <a:endParaRPr lang="en-US" sz="1400" dirty="0"/>
          </a:p>
        </p:txBody>
      </p:sp>
      <p:sp>
        <p:nvSpPr>
          <p:cNvPr id="67" name="Tech chip Jest"/>
          <p:cNvSpPr/>
          <p:nvPr/>
        </p:nvSpPr>
        <p:spPr>
          <a:xfrm>
            <a:off x="7347204" y="5266944"/>
            <a:ext cx="71323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68" name="Tech label Jest"/>
          <p:cNvSpPr txBox="1"/>
          <p:nvPr/>
        </p:nvSpPr>
        <p:spPr>
          <a:xfrm>
            <a:off x="7347204" y="5266944"/>
            <a:ext cx="71323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Jest</a:t>
            </a:r>
            <a:endParaRPr lang="en-US" sz="1400" dirty="0"/>
          </a:p>
        </p:txBody>
      </p:sp>
      <p:sp>
        <p:nvSpPr>
          <p:cNvPr id="69" name="Tech chip Supertest"/>
          <p:cNvSpPr/>
          <p:nvPr/>
        </p:nvSpPr>
        <p:spPr>
          <a:xfrm>
            <a:off x="8197596" y="5266944"/>
            <a:ext cx="114757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70" name="Tech label Supertest"/>
          <p:cNvSpPr txBox="1"/>
          <p:nvPr/>
        </p:nvSpPr>
        <p:spPr>
          <a:xfrm>
            <a:off x="8197596" y="5266944"/>
            <a:ext cx="114757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Supertest</a:t>
            </a:r>
            <a:endParaRPr lang="en-US" sz="1400" dirty="0"/>
          </a:p>
        </p:txBody>
      </p:sp>
      <p:sp>
        <p:nvSpPr>
          <p:cNvPr id="71" name="Tech chip npm workspaces"/>
          <p:cNvSpPr/>
          <p:nvPr/>
        </p:nvSpPr>
        <p:spPr>
          <a:xfrm>
            <a:off x="9482328" y="5266944"/>
            <a:ext cx="1581912" cy="530352"/>
          </a:xfrm>
          <a:prstGeom prst="roundRect">
            <a:avLst>
              <a:gd name="adj" fmla="val 50000"/>
            </a:avLst>
          </a:prstGeom>
          <a:solidFill>
            <a:srgbClr val="FFFFFF"/>
          </a:solidFill>
          <a:ln w="12700">
            <a:solidFill>
              <a:srgbClr val="C3CDEF"/>
            </a:solidFill>
            <a:prstDash val="solid"/>
          </a:ln>
        </p:spPr>
        <p:txBody>
          <a:bodyPr/>
          <a:lstStyle/>
          <a:p>
            <a:endParaRPr lang="en-US"/>
          </a:p>
        </p:txBody>
      </p:sp>
      <p:sp>
        <p:nvSpPr>
          <p:cNvPr id="72" name="Tech label npm workspaces"/>
          <p:cNvSpPr txBox="1"/>
          <p:nvPr/>
        </p:nvSpPr>
        <p:spPr>
          <a:xfrm>
            <a:off x="9482328" y="5266944"/>
            <a:ext cx="1581912" cy="530352"/>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npm workspaces</a:t>
            </a:r>
            <a:endParaRPr lang="en-US" sz="1400" dirty="0"/>
          </a:p>
        </p:txBody>
      </p:sp>
      <p:sp>
        <p:nvSpPr>
          <p:cNvPr id="73"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System architecture</a:t>
            </a:r>
            <a:endParaRPr lang="en-US" sz="3600" dirty="0"/>
          </a:p>
        </p:txBody>
      </p:sp>
      <p:sp>
        <p:nvSpPr>
          <p:cNvPr id="3" name="Docker boundary"/>
          <p:cNvSpPr/>
          <p:nvPr/>
        </p:nvSpPr>
        <p:spPr>
          <a:xfrm>
            <a:off x="411480" y="1280160"/>
            <a:ext cx="11365992" cy="4983480"/>
          </a:xfrm>
          <a:prstGeom prst="roundRect">
            <a:avLst>
              <a:gd name="adj" fmla="val 1835"/>
            </a:avLst>
          </a:prstGeom>
          <a:ln w="15875">
            <a:solidFill>
              <a:schemeClr val="accent5"/>
            </a:solidFill>
            <a:prstDash val="dash"/>
          </a:ln>
        </p:spPr>
        <p:txBody>
          <a:bodyPr/>
          <a:lstStyle/>
          <a:p>
            <a:endParaRPr lang="en-US"/>
          </a:p>
        </p:txBody>
      </p:sp>
      <p:pic>
        <p:nvPicPr>
          <p:cNvPr id="4" name="Docker icon" descr="preencoded.png"/>
          <p:cNvPicPr>
            <a:picLocks noChangeAspect="1"/>
          </p:cNvPicPr>
          <p:nvPr/>
        </p:nvPicPr>
        <p:blipFill>
          <a:blip r:embed="rId3"/>
          <a:stretch>
            <a:fillRect/>
          </a:stretch>
        </p:blipFill>
        <p:spPr>
          <a:xfrm>
            <a:off x="10012680" y="5833872"/>
            <a:ext cx="292608" cy="292608"/>
          </a:xfrm>
          <a:prstGeom prst="rect">
            <a:avLst/>
          </a:prstGeom>
        </p:spPr>
      </p:pic>
      <p:sp>
        <p:nvSpPr>
          <p:cNvPr id="5" name="Docker label"/>
          <p:cNvSpPr txBox="1"/>
          <p:nvPr/>
        </p:nvSpPr>
        <p:spPr>
          <a:xfrm>
            <a:off x="10378440" y="5833872"/>
            <a:ext cx="1371600" cy="29260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Docker Compose</a:t>
            </a:r>
            <a:endParaRPr lang="en-US" sz="1400" dirty="0"/>
          </a:p>
        </p:txBody>
      </p:sp>
      <p:sp>
        <p:nvSpPr>
          <p:cNvPr id="6" name="Caption CLIENTS"/>
          <p:cNvSpPr txBox="1"/>
          <p:nvPr/>
        </p:nvSpPr>
        <p:spPr>
          <a:xfrm>
            <a:off x="548640" y="1371600"/>
            <a:ext cx="237744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CLIENTS</a:t>
            </a:r>
            <a:endParaRPr lang="en-US" sz="1400" dirty="0"/>
          </a:p>
        </p:txBody>
      </p:sp>
      <p:sp>
        <p:nvSpPr>
          <p:cNvPr id="7" name="Caption BACKEND"/>
          <p:cNvSpPr txBox="1"/>
          <p:nvPr/>
        </p:nvSpPr>
        <p:spPr>
          <a:xfrm>
            <a:off x="3291840" y="1371600"/>
            <a:ext cx="365760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BACKEND</a:t>
            </a:r>
            <a:endParaRPr lang="en-US" sz="1400" dirty="0"/>
          </a:p>
        </p:txBody>
      </p:sp>
      <p:sp>
        <p:nvSpPr>
          <p:cNvPr id="8" name="Caption DATA"/>
          <p:cNvSpPr txBox="1"/>
          <p:nvPr/>
        </p:nvSpPr>
        <p:spPr>
          <a:xfrm>
            <a:off x="7315200" y="1371600"/>
            <a:ext cx="237744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DATA</a:t>
            </a:r>
            <a:endParaRPr lang="en-US" sz="1400" dirty="0"/>
          </a:p>
        </p:txBody>
      </p:sp>
      <p:sp>
        <p:nvSpPr>
          <p:cNvPr id="9" name="Caption EXTERNAL"/>
          <p:cNvSpPr txBox="1"/>
          <p:nvPr/>
        </p:nvSpPr>
        <p:spPr>
          <a:xfrm>
            <a:off x="9966960" y="1371600"/>
            <a:ext cx="1645920" cy="274320"/>
          </a:xfrm>
          <a:prstGeom prst="rect">
            <a:avLst/>
          </a:prstGeom>
          <a:noFill/>
          <a:ln/>
        </p:spPr>
        <p:txBody>
          <a:bodyPr wrap="square" lIns="0" tIns="0" rIns="0" bIns="0" rtlCol="0" anchor="t"/>
          <a:lstStyle/>
          <a:p>
            <a:pPr marL="0" indent="0">
              <a:buNone/>
            </a:pPr>
            <a:r>
              <a:rPr lang="en-US" sz="1400" b="1" kern="0" spc="200" dirty="0">
                <a:solidFill>
                  <a:srgbClr val="5B6478"/>
                </a:solidFill>
                <a:latin typeface="Calibri" pitchFamily="34" charset="0"/>
                <a:ea typeface="Calibri" pitchFamily="34" charset="-122"/>
                <a:cs typeface="Calibri" pitchFamily="34" charset="-120"/>
              </a:rPr>
              <a:t>EXTERNAL</a:t>
            </a:r>
            <a:endParaRPr lang="en-US" sz="1400" dirty="0"/>
          </a:p>
        </p:txBody>
      </p:sp>
      <p:sp>
        <p:nvSpPr>
          <p:cNvPr id="10" name="Tenant portal"/>
          <p:cNvSpPr/>
          <p:nvPr/>
        </p:nvSpPr>
        <p:spPr>
          <a:xfrm>
            <a:off x="548640" y="1737360"/>
            <a:ext cx="2377440" cy="1188720"/>
          </a:xfrm>
          <a:prstGeom prst="roundRect">
            <a:avLst>
              <a:gd name="adj" fmla="val 7692"/>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1" name="Tenant portal text"/>
          <p:cNvSpPr txBox="1"/>
          <p:nvPr/>
        </p:nvSpPr>
        <p:spPr>
          <a:xfrm>
            <a:off x="713232" y="1737360"/>
            <a:ext cx="2048256" cy="11887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Tenant portal</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React SPA, nginx :5173</a:t>
            </a:r>
            <a:endParaRPr lang="en-US" sz="1600" dirty="0"/>
          </a:p>
        </p:txBody>
      </p:sp>
      <p:sp>
        <p:nvSpPr>
          <p:cNvPr id="12" name="SaaS site"/>
          <p:cNvSpPr/>
          <p:nvPr/>
        </p:nvSpPr>
        <p:spPr>
          <a:xfrm>
            <a:off x="548640" y="3108960"/>
            <a:ext cx="2377440" cy="1188720"/>
          </a:xfrm>
          <a:prstGeom prst="roundRect">
            <a:avLst>
              <a:gd name="adj" fmla="val 7692"/>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3" name="SaaS site text"/>
          <p:cNvSpPr txBox="1"/>
          <p:nvPr/>
        </p:nvSpPr>
        <p:spPr>
          <a:xfrm>
            <a:off x="713232" y="3108960"/>
            <a:ext cx="2048256" cy="11887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SaaS site and admin</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React SPA, nginx :5174</a:t>
            </a:r>
            <a:endParaRPr lang="en-US" sz="1600" dirty="0"/>
          </a:p>
        </p:txBody>
      </p:sp>
      <p:sp>
        <p:nvSpPr>
          <p:cNvPr id="14" name="Shared packages"/>
          <p:cNvSpPr/>
          <p:nvPr/>
        </p:nvSpPr>
        <p:spPr>
          <a:xfrm>
            <a:off x="548640" y="4480560"/>
            <a:ext cx="2377440" cy="1188720"/>
          </a:xfrm>
          <a:prstGeom prst="roundRect">
            <a:avLst>
              <a:gd name="adj" fmla="val 7692"/>
            </a:avLst>
          </a:prstGeom>
          <a:solidFill>
            <a:srgbClr val="EEF1FB"/>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5" name="Shared packages text"/>
          <p:cNvSpPr txBox="1"/>
          <p:nvPr/>
        </p:nvSpPr>
        <p:spPr>
          <a:xfrm>
            <a:off x="713232" y="4480560"/>
            <a:ext cx="2048256" cy="11887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Shared packages</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UI kit, DTOs, ROLES</a:t>
            </a:r>
            <a:endParaRPr lang="en-US" sz="1600" dirty="0"/>
          </a:p>
        </p:txBody>
      </p:sp>
      <p:sp>
        <p:nvSpPr>
          <p:cNvPr id="16" name="API container"/>
          <p:cNvSpPr/>
          <p:nvPr/>
        </p:nvSpPr>
        <p:spPr>
          <a:xfrm>
            <a:off x="3291840" y="1737360"/>
            <a:ext cx="3657600" cy="3200400"/>
          </a:xfrm>
          <a:prstGeom prst="roundRect">
            <a:avLst>
              <a:gd name="adj" fmla="val 2857"/>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17" name="API title"/>
          <p:cNvSpPr txBox="1"/>
          <p:nvPr/>
        </p:nvSpPr>
        <p:spPr>
          <a:xfrm>
            <a:off x="3474720" y="1783080"/>
            <a:ext cx="3291840" cy="36576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API server  |  Express + TypeScript  |  :4000</a:t>
            </a:r>
            <a:endParaRPr lang="en-US" sz="1400" dirty="0"/>
          </a:p>
        </p:txBody>
      </p:sp>
      <p:sp>
        <p:nvSpPr>
          <p:cNvPr id="18" name="API layer 1"/>
          <p:cNvSpPr/>
          <p:nvPr/>
        </p:nvSpPr>
        <p:spPr>
          <a:xfrm>
            <a:off x="3474720" y="2240280"/>
            <a:ext cx="3291840" cy="457200"/>
          </a:xfrm>
          <a:prstGeom prst="roundRect">
            <a:avLst>
              <a:gd name="adj" fmla="val 16000"/>
            </a:avLst>
          </a:prstGeom>
          <a:solidFill>
            <a:schemeClr val="bg1">
              <a:alpha val="88000"/>
            </a:schemeClr>
          </a:solidFill>
          <a:ln/>
        </p:spPr>
        <p:txBody>
          <a:bodyPr/>
          <a:lstStyle/>
          <a:p>
            <a:endParaRPr lang="en-US"/>
          </a:p>
        </p:txBody>
      </p:sp>
      <p:sp>
        <p:nvSpPr>
          <p:cNvPr id="19" name="API layer text 1"/>
          <p:cNvSpPr txBox="1"/>
          <p:nvPr/>
        </p:nvSpPr>
        <p:spPr>
          <a:xfrm>
            <a:off x="3474720" y="2240280"/>
            <a:ext cx="3291840" cy="45720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helmet, CORS, rate limit, pino</a:t>
            </a:r>
            <a:endParaRPr lang="en-US" sz="1400" dirty="0"/>
          </a:p>
        </p:txBody>
      </p:sp>
      <p:sp>
        <p:nvSpPr>
          <p:cNvPr id="20" name="API layer 2"/>
          <p:cNvSpPr/>
          <p:nvPr/>
        </p:nvSpPr>
        <p:spPr>
          <a:xfrm>
            <a:off x="3474720" y="2770632"/>
            <a:ext cx="3291840" cy="457200"/>
          </a:xfrm>
          <a:prstGeom prst="roundRect">
            <a:avLst>
              <a:gd name="adj" fmla="val 16000"/>
            </a:avLst>
          </a:prstGeom>
          <a:solidFill>
            <a:schemeClr val="bg1"/>
          </a:solidFill>
          <a:ln/>
        </p:spPr>
        <p:txBody>
          <a:bodyPr/>
          <a:lstStyle/>
          <a:p>
            <a:endParaRPr lang="en-US"/>
          </a:p>
        </p:txBody>
      </p:sp>
      <p:sp>
        <p:nvSpPr>
          <p:cNvPr id="21" name="API layer text 2"/>
          <p:cNvSpPr txBox="1"/>
          <p:nvPr/>
        </p:nvSpPr>
        <p:spPr>
          <a:xfrm>
            <a:off x="3474720" y="2770632"/>
            <a:ext cx="3291840" cy="45720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tenantResolver</a:t>
            </a:r>
            <a:endParaRPr lang="en-US" sz="1400" dirty="0"/>
          </a:p>
        </p:txBody>
      </p:sp>
      <p:sp>
        <p:nvSpPr>
          <p:cNvPr id="22" name="API layer 3"/>
          <p:cNvSpPr/>
          <p:nvPr/>
        </p:nvSpPr>
        <p:spPr>
          <a:xfrm>
            <a:off x="3474720" y="3300984"/>
            <a:ext cx="3291840" cy="457200"/>
          </a:xfrm>
          <a:prstGeom prst="roundRect">
            <a:avLst>
              <a:gd name="adj" fmla="val 16000"/>
            </a:avLst>
          </a:prstGeom>
          <a:solidFill>
            <a:schemeClr val="bg1">
              <a:alpha val="88000"/>
            </a:schemeClr>
          </a:solidFill>
          <a:ln/>
        </p:spPr>
        <p:txBody>
          <a:bodyPr/>
          <a:lstStyle/>
          <a:p>
            <a:endParaRPr lang="en-US"/>
          </a:p>
        </p:txBody>
      </p:sp>
      <p:sp>
        <p:nvSpPr>
          <p:cNvPr id="23" name="API layer text 3"/>
          <p:cNvSpPr txBox="1"/>
          <p:nvPr/>
        </p:nvSpPr>
        <p:spPr>
          <a:xfrm>
            <a:off x="3474720" y="3300984"/>
            <a:ext cx="3291840" cy="45720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requireAuth, requireRole</a:t>
            </a:r>
            <a:endParaRPr lang="en-US" sz="1400" dirty="0"/>
          </a:p>
        </p:txBody>
      </p:sp>
      <p:sp>
        <p:nvSpPr>
          <p:cNvPr id="24" name="API layer 4"/>
          <p:cNvSpPr/>
          <p:nvPr/>
        </p:nvSpPr>
        <p:spPr>
          <a:xfrm>
            <a:off x="3474720" y="3831336"/>
            <a:ext cx="3291840" cy="457200"/>
          </a:xfrm>
          <a:prstGeom prst="roundRect">
            <a:avLst>
              <a:gd name="adj" fmla="val 16000"/>
            </a:avLst>
          </a:prstGeom>
          <a:solidFill>
            <a:schemeClr val="bg1">
              <a:alpha val="88000"/>
            </a:schemeClr>
          </a:solidFill>
          <a:ln/>
        </p:spPr>
        <p:txBody>
          <a:bodyPr/>
          <a:lstStyle/>
          <a:p>
            <a:endParaRPr lang="en-US"/>
          </a:p>
        </p:txBody>
      </p:sp>
      <p:sp>
        <p:nvSpPr>
          <p:cNvPr id="25" name="API layer text 4"/>
          <p:cNvSpPr txBox="1"/>
          <p:nvPr/>
        </p:nvSpPr>
        <p:spPr>
          <a:xfrm>
            <a:off x="3474720" y="3831336"/>
            <a:ext cx="3291840" cy="45720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Routes, controllers, services</a:t>
            </a:r>
            <a:endParaRPr lang="en-US" sz="1400" dirty="0"/>
          </a:p>
        </p:txBody>
      </p:sp>
      <p:sp>
        <p:nvSpPr>
          <p:cNvPr id="26" name="API layer 5"/>
          <p:cNvSpPr/>
          <p:nvPr/>
        </p:nvSpPr>
        <p:spPr>
          <a:xfrm>
            <a:off x="3474720" y="4361688"/>
            <a:ext cx="3291840" cy="457200"/>
          </a:xfrm>
          <a:prstGeom prst="roundRect">
            <a:avLst>
              <a:gd name="adj" fmla="val 16000"/>
            </a:avLst>
          </a:prstGeom>
          <a:solidFill>
            <a:schemeClr val="bg1">
              <a:alpha val="88000"/>
            </a:schemeClr>
          </a:solidFill>
          <a:ln/>
        </p:spPr>
        <p:txBody>
          <a:bodyPr/>
          <a:lstStyle/>
          <a:p>
            <a:endParaRPr lang="en-US"/>
          </a:p>
        </p:txBody>
      </p:sp>
      <p:sp>
        <p:nvSpPr>
          <p:cNvPr id="27" name="API layer text 5"/>
          <p:cNvSpPr txBox="1"/>
          <p:nvPr/>
        </p:nvSpPr>
        <p:spPr>
          <a:xfrm>
            <a:off x="3474720" y="4361688"/>
            <a:ext cx="3291840" cy="45720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Prisma: control + tenant pool</a:t>
            </a:r>
            <a:endParaRPr lang="en-US" sz="1400" dirty="0"/>
          </a:p>
        </p:txBody>
      </p:sp>
      <p:sp>
        <p:nvSpPr>
          <p:cNvPr id="28" name="Worker"/>
          <p:cNvSpPr/>
          <p:nvPr/>
        </p:nvSpPr>
        <p:spPr>
          <a:xfrm>
            <a:off x="3291840" y="5120640"/>
            <a:ext cx="3657600" cy="960120"/>
          </a:xfrm>
          <a:prstGeom prst="roundRect">
            <a:avLst>
              <a:gd name="adj" fmla="val 9524"/>
            </a:avLst>
          </a:prstGeom>
          <a:solidFill>
            <a:srgbClr val="DFE5F7"/>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9" name="Worker text"/>
          <p:cNvSpPr txBox="1"/>
          <p:nvPr/>
        </p:nvSpPr>
        <p:spPr>
          <a:xfrm>
            <a:off x="3456432" y="5120640"/>
            <a:ext cx="3328416" cy="9601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Worker process</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BullMQ consumers, same image</a:t>
            </a:r>
            <a:endParaRPr lang="en-US" sz="1600" dirty="0"/>
          </a:p>
        </p:txBody>
      </p:sp>
      <p:sp>
        <p:nvSpPr>
          <p:cNvPr id="30" name="MySQL container"/>
          <p:cNvSpPr/>
          <p:nvPr/>
        </p:nvSpPr>
        <p:spPr>
          <a:xfrm>
            <a:off x="7315200" y="1737360"/>
            <a:ext cx="2377440" cy="3200400"/>
          </a:xfrm>
          <a:prstGeom prst="roundRect">
            <a:avLst>
              <a:gd name="adj" fmla="val 3846"/>
            </a:avLst>
          </a:prstGeom>
          <a:solidFill>
            <a:schemeClr val="tx2"/>
          </a:solidFill>
          <a:ln/>
          <a:effectLst>
            <a:outerShdw blurRad="101600" dist="25400" dir="5400000" algn="bl" rotWithShape="0">
              <a:srgbClr val="1E2761">
                <a:alpha val="12000"/>
              </a:srgbClr>
            </a:outerShdw>
          </a:effectLst>
        </p:spPr>
        <p:txBody>
          <a:bodyPr/>
          <a:lstStyle/>
          <a:p>
            <a:endParaRPr lang="en-US"/>
          </a:p>
        </p:txBody>
      </p:sp>
      <p:sp>
        <p:nvSpPr>
          <p:cNvPr id="31" name="MySQL title"/>
          <p:cNvSpPr txBox="1"/>
          <p:nvPr/>
        </p:nvSpPr>
        <p:spPr>
          <a:xfrm>
            <a:off x="7498080" y="1783080"/>
            <a:ext cx="2011680" cy="365760"/>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MySQL 8.4</a:t>
            </a:r>
            <a:endParaRPr lang="en-US" sz="1600" dirty="0"/>
          </a:p>
        </p:txBody>
      </p:sp>
      <p:sp>
        <p:nvSpPr>
          <p:cNvPr id="32" name="DB hrm_control"/>
          <p:cNvSpPr/>
          <p:nvPr/>
        </p:nvSpPr>
        <p:spPr>
          <a:xfrm>
            <a:off x="7498080" y="2286000"/>
            <a:ext cx="2011680" cy="1188720"/>
          </a:xfrm>
          <a:prstGeom prst="roundRect">
            <a:avLst>
              <a:gd name="adj" fmla="val 6154"/>
            </a:avLst>
          </a:prstGeom>
          <a:solidFill>
            <a:schemeClr val="bg1">
              <a:alpha val="12000"/>
            </a:schemeClr>
          </a:solidFill>
          <a:ln w="9525">
            <a:solidFill>
              <a:srgbClr val="9DAAE2"/>
            </a:solidFill>
            <a:prstDash val="solid"/>
          </a:ln>
        </p:spPr>
        <p:txBody>
          <a:bodyPr/>
          <a:lstStyle/>
          <a:p>
            <a:endParaRPr lang="en-US"/>
          </a:p>
        </p:txBody>
      </p:sp>
      <p:sp>
        <p:nvSpPr>
          <p:cNvPr id="33" name="DB text hrm_control"/>
          <p:cNvSpPr txBox="1"/>
          <p:nvPr/>
        </p:nvSpPr>
        <p:spPr>
          <a:xfrm>
            <a:off x="7589520" y="2286000"/>
            <a:ext cx="1828800" cy="1188720"/>
          </a:xfrm>
          <a:prstGeom prst="rect">
            <a:avLst/>
          </a:prstGeom>
          <a:noFill/>
          <a:ln/>
        </p:spPr>
        <p:txBody>
          <a:bodyPr wrap="square" lIns="0" tIns="0" rIns="0" bIns="0" rtlCol="0" anchor="ctr"/>
          <a:lstStyle/>
          <a:p>
            <a:pPr marL="0" indent="0">
              <a:buNone/>
            </a:pPr>
            <a:r>
              <a:rPr lang="en-US" sz="1400" b="1" dirty="0">
                <a:solidFill>
                  <a:schemeClr val="bg1"/>
                </a:solidFill>
                <a:latin typeface="Courier New" pitchFamily="34" charset="0"/>
                <a:ea typeface="Courier New" pitchFamily="34" charset="-122"/>
                <a:cs typeface="Courier New" pitchFamily="34" charset="-120"/>
              </a:rPr>
              <a:t>hrm_control</a:t>
            </a:r>
            <a:endParaRPr lang="en-US" sz="1400" dirty="0"/>
          </a:p>
          <a:p>
            <a:pPr marL="0" indent="0">
              <a:buNone/>
            </a:pPr>
            <a:r>
              <a:rPr lang="en-US" sz="1400" dirty="0">
                <a:solidFill>
                  <a:srgbClr val="C3CDEF"/>
                </a:solidFill>
                <a:latin typeface="Calibri" pitchFamily="34" charset="0"/>
                <a:ea typeface="Calibri" pitchFamily="34" charset="-122"/>
                <a:cs typeface="Calibri" pitchFamily="34" charset="-120"/>
              </a:rPr>
              <a:t>tenants, packages, CMS</a:t>
            </a:r>
            <a:endParaRPr lang="en-US" sz="1400" dirty="0"/>
          </a:p>
        </p:txBody>
      </p:sp>
      <p:sp>
        <p:nvSpPr>
          <p:cNvPr id="34" name="DB hrm_tenant_&lt;slug&gt;"/>
          <p:cNvSpPr/>
          <p:nvPr/>
        </p:nvSpPr>
        <p:spPr>
          <a:xfrm>
            <a:off x="7498080" y="3611880"/>
            <a:ext cx="2011680" cy="1188720"/>
          </a:xfrm>
          <a:prstGeom prst="roundRect">
            <a:avLst>
              <a:gd name="adj" fmla="val 6154"/>
            </a:avLst>
          </a:prstGeom>
          <a:solidFill>
            <a:schemeClr val="bg1">
              <a:alpha val="12000"/>
            </a:schemeClr>
          </a:solidFill>
          <a:ln w="9525">
            <a:solidFill>
              <a:srgbClr val="9DAAE2"/>
            </a:solidFill>
            <a:prstDash val="solid"/>
          </a:ln>
        </p:spPr>
        <p:txBody>
          <a:bodyPr/>
          <a:lstStyle/>
          <a:p>
            <a:endParaRPr lang="en-US"/>
          </a:p>
        </p:txBody>
      </p:sp>
      <p:sp>
        <p:nvSpPr>
          <p:cNvPr id="35" name="DB text hrm_tenant_&lt;slug&gt;"/>
          <p:cNvSpPr txBox="1"/>
          <p:nvPr/>
        </p:nvSpPr>
        <p:spPr>
          <a:xfrm>
            <a:off x="7589520" y="3611880"/>
            <a:ext cx="1828800" cy="1188720"/>
          </a:xfrm>
          <a:prstGeom prst="rect">
            <a:avLst/>
          </a:prstGeom>
          <a:noFill/>
          <a:ln/>
        </p:spPr>
        <p:txBody>
          <a:bodyPr wrap="square" lIns="0" tIns="0" rIns="0" bIns="0" rtlCol="0" anchor="ctr"/>
          <a:lstStyle/>
          <a:p>
            <a:pPr marL="0" indent="0">
              <a:buNone/>
            </a:pPr>
            <a:r>
              <a:rPr lang="en-US" sz="1400" b="1" dirty="0">
                <a:solidFill>
                  <a:schemeClr val="bg1"/>
                </a:solidFill>
                <a:latin typeface="Courier New" pitchFamily="34" charset="0"/>
                <a:ea typeface="Courier New" pitchFamily="34" charset="-122"/>
                <a:cs typeface="Courier New" pitchFamily="34" charset="-120"/>
              </a:rPr>
              <a:t>hrm_tenant_&lt;slug&gt;</a:t>
            </a:r>
            <a:endParaRPr lang="en-US" sz="1400" dirty="0"/>
          </a:p>
          <a:p>
            <a:pPr marL="0" indent="0">
              <a:buNone/>
            </a:pPr>
            <a:r>
              <a:rPr lang="en-US" sz="1400" dirty="0">
                <a:solidFill>
                  <a:srgbClr val="C3CDEF"/>
                </a:solidFill>
                <a:latin typeface="Calibri" pitchFamily="34" charset="0"/>
                <a:ea typeface="Calibri" pitchFamily="34" charset="-122"/>
                <a:cs typeface="Calibri" pitchFamily="34" charset="-120"/>
              </a:rPr>
              <a:t>one DB per company</a:t>
            </a:r>
            <a:endParaRPr lang="en-US" sz="1400" dirty="0"/>
          </a:p>
        </p:txBody>
      </p:sp>
      <p:sp>
        <p:nvSpPr>
          <p:cNvPr id="36" name="Redis"/>
          <p:cNvSpPr/>
          <p:nvPr/>
        </p:nvSpPr>
        <p:spPr>
          <a:xfrm>
            <a:off x="7315200" y="5120640"/>
            <a:ext cx="2377440" cy="960120"/>
          </a:xfrm>
          <a:prstGeom prst="roundRect">
            <a:avLst>
              <a:gd name="adj" fmla="val 9524"/>
            </a:avLst>
          </a:prstGeom>
          <a:solidFill>
            <a:srgbClr val="DFE5F7"/>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7" name="Redis text"/>
          <p:cNvSpPr txBox="1"/>
          <p:nvPr/>
        </p:nvSpPr>
        <p:spPr>
          <a:xfrm>
            <a:off x="7479792" y="5120640"/>
            <a:ext cx="2048256" cy="9601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Redis 7</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queues, AOF on</a:t>
            </a:r>
            <a:endParaRPr lang="en-US" sz="1600" dirty="0"/>
          </a:p>
        </p:txBody>
      </p:sp>
      <p:sp>
        <p:nvSpPr>
          <p:cNvPr id="38" name="File storage"/>
          <p:cNvSpPr/>
          <p:nvPr/>
        </p:nvSpPr>
        <p:spPr>
          <a:xfrm>
            <a:off x="9966960" y="1737360"/>
            <a:ext cx="1673352" cy="1097280"/>
          </a:xfrm>
          <a:prstGeom prst="roundRect">
            <a:avLst>
              <a:gd name="adj" fmla="val 8333"/>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9" name="File storage text"/>
          <p:cNvSpPr txBox="1"/>
          <p:nvPr/>
        </p:nvSpPr>
        <p:spPr>
          <a:xfrm>
            <a:off x="10131552" y="1737360"/>
            <a:ext cx="1344168" cy="109728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File storage</a:t>
            </a:r>
            <a:endParaRPr lang="en-US" sz="1500" dirty="0"/>
          </a:p>
          <a:p>
            <a:pPr marL="0" indent="0">
              <a:buNone/>
            </a:pPr>
            <a:r>
              <a:rPr lang="en-US" sz="1400" dirty="0">
                <a:solidFill>
                  <a:srgbClr val="5B6478"/>
                </a:solidFill>
                <a:latin typeface="Calibri" pitchFamily="34" charset="0"/>
                <a:ea typeface="Calibri" pitchFamily="34" charset="-122"/>
                <a:cs typeface="Calibri" pitchFamily="34" charset="-120"/>
              </a:rPr>
              <a:t>local or S3</a:t>
            </a:r>
            <a:endParaRPr lang="en-US" sz="1500" dirty="0"/>
          </a:p>
        </p:txBody>
      </p:sp>
      <p:sp>
        <p:nvSpPr>
          <p:cNvPr id="40" name="SMTP"/>
          <p:cNvSpPr/>
          <p:nvPr/>
        </p:nvSpPr>
        <p:spPr>
          <a:xfrm>
            <a:off x="9966960" y="3017520"/>
            <a:ext cx="1673352" cy="1097280"/>
          </a:xfrm>
          <a:prstGeom prst="roundRect">
            <a:avLst>
              <a:gd name="adj" fmla="val 8333"/>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1" name="SMTP text"/>
          <p:cNvSpPr txBox="1"/>
          <p:nvPr/>
        </p:nvSpPr>
        <p:spPr>
          <a:xfrm>
            <a:off x="10131552" y="3017520"/>
            <a:ext cx="1344168" cy="109728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SMTP</a:t>
            </a:r>
            <a:endParaRPr lang="en-US" sz="1500" dirty="0"/>
          </a:p>
          <a:p>
            <a:pPr marL="0" indent="0">
              <a:buNone/>
            </a:pPr>
            <a:r>
              <a:rPr lang="en-US" sz="1400" dirty="0">
                <a:solidFill>
                  <a:srgbClr val="5B6478"/>
                </a:solidFill>
                <a:latin typeface="Calibri" pitchFamily="34" charset="0"/>
                <a:ea typeface="Calibri" pitchFamily="34" charset="-122"/>
                <a:cs typeface="Calibri" pitchFamily="34" charset="-120"/>
              </a:rPr>
              <a:t>nodemailer</a:t>
            </a:r>
            <a:endParaRPr lang="en-US" sz="1500" dirty="0"/>
          </a:p>
        </p:txBody>
      </p:sp>
      <p:sp>
        <p:nvSpPr>
          <p:cNvPr id="42" name="LLM APIs"/>
          <p:cNvSpPr/>
          <p:nvPr/>
        </p:nvSpPr>
        <p:spPr>
          <a:xfrm>
            <a:off x="9966960" y="4297680"/>
            <a:ext cx="1673352" cy="1097280"/>
          </a:xfrm>
          <a:prstGeom prst="roundRect">
            <a:avLst>
              <a:gd name="adj" fmla="val 8333"/>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3" name="LLM APIs text"/>
          <p:cNvSpPr txBox="1"/>
          <p:nvPr/>
        </p:nvSpPr>
        <p:spPr>
          <a:xfrm>
            <a:off x="10131552" y="4297680"/>
            <a:ext cx="1344168" cy="109728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LLM APIs</a:t>
            </a:r>
            <a:endParaRPr lang="en-US" sz="1500" dirty="0"/>
          </a:p>
          <a:p>
            <a:pPr marL="0" indent="0">
              <a:buNone/>
            </a:pPr>
            <a:r>
              <a:rPr lang="en-US" sz="1400" dirty="0">
                <a:solidFill>
                  <a:srgbClr val="5B6478"/>
                </a:solidFill>
                <a:latin typeface="Calibri" pitchFamily="34" charset="0"/>
                <a:ea typeface="Calibri" pitchFamily="34" charset="-122"/>
                <a:cs typeface="Calibri" pitchFamily="34" charset="-120"/>
              </a:rPr>
              <a:t>4 providers</a:t>
            </a:r>
            <a:endParaRPr lang="en-US" sz="1500" dirty="0"/>
          </a:p>
        </p:txBody>
      </p:sp>
      <p:sp>
        <p:nvSpPr>
          <p:cNvPr id="44" name="Arrow"/>
          <p:cNvSpPr/>
          <p:nvPr/>
        </p:nvSpPr>
        <p:spPr>
          <a:xfrm>
            <a:off x="2926080" y="2331720"/>
            <a:ext cx="365760" cy="0"/>
          </a:xfrm>
          <a:prstGeom prst="line">
            <a:avLst/>
          </a:prstGeom>
          <a:noFill/>
          <a:ln w="25400">
            <a:solidFill>
              <a:schemeClr val="accent1"/>
            </a:solidFill>
            <a:prstDash val="solid"/>
            <a:headEnd type="triangle"/>
            <a:tailEnd type="triangle"/>
          </a:ln>
        </p:spPr>
        <p:txBody>
          <a:bodyPr/>
          <a:lstStyle/>
          <a:p>
            <a:endParaRPr lang="en-US"/>
          </a:p>
        </p:txBody>
      </p:sp>
      <p:sp>
        <p:nvSpPr>
          <p:cNvPr id="45" name="Arrow"/>
          <p:cNvSpPr/>
          <p:nvPr/>
        </p:nvSpPr>
        <p:spPr>
          <a:xfrm>
            <a:off x="2926080" y="3703320"/>
            <a:ext cx="365760" cy="0"/>
          </a:xfrm>
          <a:prstGeom prst="line">
            <a:avLst/>
          </a:prstGeom>
          <a:noFill/>
          <a:ln w="25400">
            <a:solidFill>
              <a:schemeClr val="accent1"/>
            </a:solidFill>
            <a:prstDash val="solid"/>
            <a:headEnd type="triangle"/>
            <a:tailEnd type="triangle"/>
          </a:ln>
        </p:spPr>
        <p:txBody>
          <a:bodyPr/>
          <a:lstStyle/>
          <a:p>
            <a:endParaRPr lang="en-US"/>
          </a:p>
        </p:txBody>
      </p:sp>
      <p:sp>
        <p:nvSpPr>
          <p:cNvPr id="46" name="Arrow"/>
          <p:cNvSpPr/>
          <p:nvPr/>
        </p:nvSpPr>
        <p:spPr>
          <a:xfrm>
            <a:off x="6949440" y="3337560"/>
            <a:ext cx="365760" cy="0"/>
          </a:xfrm>
          <a:prstGeom prst="line">
            <a:avLst/>
          </a:prstGeom>
          <a:noFill/>
          <a:ln w="25400">
            <a:solidFill>
              <a:schemeClr val="accent1"/>
            </a:solidFill>
            <a:prstDash val="solid"/>
            <a:headEnd type="triangle"/>
            <a:tailEnd type="triangle"/>
          </a:ln>
        </p:spPr>
        <p:txBody>
          <a:bodyPr/>
          <a:lstStyle/>
          <a:p>
            <a:endParaRPr lang="en-US"/>
          </a:p>
        </p:txBody>
      </p:sp>
      <p:sp>
        <p:nvSpPr>
          <p:cNvPr id="47" name="Arrow"/>
          <p:cNvSpPr/>
          <p:nvPr/>
        </p:nvSpPr>
        <p:spPr>
          <a:xfrm>
            <a:off x="6949440" y="5596128"/>
            <a:ext cx="365760" cy="0"/>
          </a:xfrm>
          <a:prstGeom prst="line">
            <a:avLst/>
          </a:prstGeom>
          <a:noFill/>
          <a:ln w="25400">
            <a:solidFill>
              <a:schemeClr val="accent1"/>
            </a:solidFill>
            <a:prstDash val="solid"/>
            <a:headEnd type="triangle"/>
            <a:tailEnd type="triangle"/>
          </a:ln>
        </p:spPr>
        <p:txBody>
          <a:bodyPr/>
          <a:lstStyle/>
          <a:p>
            <a:endParaRPr lang="en-US"/>
          </a:p>
        </p:txBody>
      </p:sp>
      <p:sp>
        <p:nvSpPr>
          <p:cNvPr id="48" name="Arrow"/>
          <p:cNvSpPr/>
          <p:nvPr/>
        </p:nvSpPr>
        <p:spPr>
          <a:xfrm>
            <a:off x="5120640" y="4937760"/>
            <a:ext cx="0" cy="182880"/>
          </a:xfrm>
          <a:prstGeom prst="line">
            <a:avLst/>
          </a:prstGeom>
          <a:noFill/>
          <a:ln w="25400">
            <a:solidFill>
              <a:schemeClr val="accent1"/>
            </a:solidFill>
            <a:prstDash val="solid"/>
            <a:headEnd type="triangle"/>
            <a:tailEnd type="triangle"/>
          </a:ln>
        </p:spPr>
        <p:txBody>
          <a:bodyPr/>
          <a:lstStyle/>
          <a:p>
            <a:endParaRPr lang="en-US"/>
          </a:p>
        </p:txBody>
      </p:sp>
      <p:sp>
        <p:nvSpPr>
          <p:cNvPr id="49"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Multi-tenant data design</a:t>
            </a:r>
            <a:endParaRPr lang="en-US" sz="3600" dirty="0"/>
          </a:p>
        </p:txBody>
      </p:sp>
      <p:sp>
        <p:nvSpPr>
          <p:cNvPr id="3" name="Control plane card"/>
          <p:cNvSpPr/>
          <p:nvPr/>
        </p:nvSpPr>
        <p:spPr>
          <a:xfrm>
            <a:off x="548640" y="1417320"/>
            <a:ext cx="3383280" cy="3383280"/>
          </a:xfrm>
          <a:prstGeom prst="roundRect">
            <a:avLst>
              <a:gd name="adj" fmla="val 3243"/>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Caption CONTROL PLANE"/>
          <p:cNvSpPr txBox="1"/>
          <p:nvPr/>
        </p:nvSpPr>
        <p:spPr>
          <a:xfrm>
            <a:off x="822960" y="1600200"/>
            <a:ext cx="292608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CONTROL PLANE</a:t>
            </a:r>
            <a:endParaRPr lang="en-US" sz="1400" dirty="0"/>
          </a:p>
        </p:txBody>
      </p:sp>
      <p:sp>
        <p:nvSpPr>
          <p:cNvPr id="5" name="Control DB name"/>
          <p:cNvSpPr txBox="1"/>
          <p:nvPr/>
        </p:nvSpPr>
        <p:spPr>
          <a:xfrm>
            <a:off x="822960" y="1920240"/>
            <a:ext cx="2926080" cy="457200"/>
          </a:xfrm>
          <a:prstGeom prst="rect">
            <a:avLst/>
          </a:prstGeom>
          <a:noFill/>
          <a:ln/>
        </p:spPr>
        <p:txBody>
          <a:bodyPr wrap="square" lIns="0" tIns="0" rIns="0" bIns="0" rtlCol="0" anchor="t"/>
          <a:lstStyle/>
          <a:p>
            <a:pPr marL="0" indent="0">
              <a:buNone/>
            </a:pPr>
            <a:r>
              <a:rPr lang="en-US" sz="2400" b="1" dirty="0">
                <a:solidFill>
                  <a:schemeClr val="tx2"/>
                </a:solidFill>
                <a:latin typeface="Courier New" pitchFamily="34" charset="0"/>
                <a:ea typeface="Courier New" pitchFamily="34" charset="-122"/>
                <a:cs typeface="Courier New" pitchFamily="34" charset="-120"/>
              </a:rPr>
              <a:t>hrm_control</a:t>
            </a:r>
            <a:endParaRPr lang="en-US" sz="2400" dirty="0"/>
          </a:p>
        </p:txBody>
      </p:sp>
      <p:sp>
        <p:nvSpPr>
          <p:cNvPr id="6" name="Control plane bullets"/>
          <p:cNvSpPr txBox="1"/>
          <p:nvPr/>
        </p:nvSpPr>
        <p:spPr>
          <a:xfrm>
            <a:off x="822960" y="2560320"/>
            <a:ext cx="2926080" cy="21031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Tenant registry</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Applications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Packages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Platform admins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Support tickets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Landing page CMS</a:t>
            </a:r>
            <a:endParaRPr lang="en-US" sz="1500" dirty="0"/>
          </a:p>
        </p:txBody>
      </p:sp>
      <p:sp>
        <p:nvSpPr>
          <p:cNvPr id="7" name="Routing card"/>
          <p:cNvSpPr/>
          <p:nvPr/>
        </p:nvSpPr>
        <p:spPr>
          <a:xfrm>
            <a:off x="4343400" y="1417320"/>
            <a:ext cx="3383280" cy="3383280"/>
          </a:xfrm>
          <a:prstGeom prst="roundRect">
            <a:avLst>
              <a:gd name="adj" fmla="val 3243"/>
            </a:avLst>
          </a:prstGeom>
          <a:solidFill>
            <a:schemeClr val="tx2"/>
          </a:solidFill>
          <a:ln/>
          <a:effectLst>
            <a:outerShdw blurRad="101600" dist="25400" dir="5400000" algn="bl" rotWithShape="0">
              <a:srgbClr val="1E2761">
                <a:alpha val="12000"/>
              </a:srgbClr>
            </a:outerShdw>
          </a:effectLst>
        </p:spPr>
        <p:txBody>
          <a:bodyPr/>
          <a:lstStyle/>
          <a:p>
            <a:endParaRPr lang="en-US"/>
          </a:p>
        </p:txBody>
      </p:sp>
      <p:sp>
        <p:nvSpPr>
          <p:cNvPr id="8" name="Caption PER-REQUEST ROUTING"/>
          <p:cNvSpPr txBox="1"/>
          <p:nvPr/>
        </p:nvSpPr>
        <p:spPr>
          <a:xfrm>
            <a:off x="4617720" y="1600200"/>
            <a:ext cx="292608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PER-REQUEST ROUTING</a:t>
            </a:r>
            <a:endParaRPr lang="en-US" sz="1400" dirty="0"/>
          </a:p>
        </p:txBody>
      </p:sp>
      <p:sp>
        <p:nvSpPr>
          <p:cNvPr id="9" name="Routing circle 1"/>
          <p:cNvSpPr/>
          <p:nvPr/>
        </p:nvSpPr>
        <p:spPr>
          <a:xfrm>
            <a:off x="4617720" y="2103120"/>
            <a:ext cx="411480" cy="411480"/>
          </a:xfrm>
          <a:prstGeom prst="ellipse">
            <a:avLst/>
          </a:prstGeom>
          <a:solidFill>
            <a:srgbClr val="F472B6"/>
          </a:solidFill>
          <a:ln/>
        </p:spPr>
        <p:txBody>
          <a:bodyPr/>
          <a:lstStyle/>
          <a:p>
            <a:endParaRPr lang="en-US"/>
          </a:p>
        </p:txBody>
      </p:sp>
      <p:sp>
        <p:nvSpPr>
          <p:cNvPr id="10" name="Routing number 1"/>
          <p:cNvSpPr txBox="1"/>
          <p:nvPr/>
        </p:nvSpPr>
        <p:spPr>
          <a:xfrm>
            <a:off x="4617720" y="210312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11" name="Routing text 1"/>
          <p:cNvSpPr txBox="1"/>
          <p:nvPr/>
        </p:nvSpPr>
        <p:spPr>
          <a:xfrm>
            <a:off x="5212080" y="2057400"/>
            <a:ext cx="2377440" cy="5943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Read the slug from the header or subdomain</a:t>
            </a:r>
            <a:endParaRPr lang="en-US" sz="1400" dirty="0"/>
          </a:p>
        </p:txBody>
      </p:sp>
      <p:sp>
        <p:nvSpPr>
          <p:cNvPr id="12" name="Routing circle 2"/>
          <p:cNvSpPr/>
          <p:nvPr/>
        </p:nvSpPr>
        <p:spPr>
          <a:xfrm>
            <a:off x="4617720" y="2788920"/>
            <a:ext cx="411480" cy="411480"/>
          </a:xfrm>
          <a:prstGeom prst="ellipse">
            <a:avLst/>
          </a:prstGeom>
          <a:solidFill>
            <a:srgbClr val="F472B6"/>
          </a:solidFill>
          <a:ln/>
        </p:spPr>
        <p:txBody>
          <a:bodyPr/>
          <a:lstStyle/>
          <a:p>
            <a:endParaRPr lang="en-US"/>
          </a:p>
        </p:txBody>
      </p:sp>
      <p:sp>
        <p:nvSpPr>
          <p:cNvPr id="13" name="Routing number 2"/>
          <p:cNvSpPr txBox="1"/>
          <p:nvPr/>
        </p:nvSpPr>
        <p:spPr>
          <a:xfrm>
            <a:off x="4617720" y="278892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4" name="Routing text 2"/>
          <p:cNvSpPr txBox="1"/>
          <p:nvPr/>
        </p:nvSpPr>
        <p:spPr>
          <a:xfrm>
            <a:off x="5212080" y="2743200"/>
            <a:ext cx="2377440" cy="5943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Find the Tenant, status must be Active</a:t>
            </a:r>
            <a:endParaRPr lang="en-US" sz="1400" dirty="0"/>
          </a:p>
        </p:txBody>
      </p:sp>
      <p:sp>
        <p:nvSpPr>
          <p:cNvPr id="15" name="Routing circle 3"/>
          <p:cNvSpPr/>
          <p:nvPr/>
        </p:nvSpPr>
        <p:spPr>
          <a:xfrm>
            <a:off x="4617720" y="3474720"/>
            <a:ext cx="411480" cy="411480"/>
          </a:xfrm>
          <a:prstGeom prst="ellipse">
            <a:avLst/>
          </a:prstGeom>
          <a:solidFill>
            <a:srgbClr val="F472B6"/>
          </a:solidFill>
          <a:ln/>
        </p:spPr>
        <p:txBody>
          <a:bodyPr/>
          <a:lstStyle/>
          <a:p>
            <a:endParaRPr lang="en-US"/>
          </a:p>
        </p:txBody>
      </p:sp>
      <p:sp>
        <p:nvSpPr>
          <p:cNvPr id="16" name="Routing number 3"/>
          <p:cNvSpPr txBox="1"/>
          <p:nvPr/>
        </p:nvSpPr>
        <p:spPr>
          <a:xfrm>
            <a:off x="4617720" y="347472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7" name="Routing text 3"/>
          <p:cNvSpPr txBox="1"/>
          <p:nvPr/>
        </p:nvSpPr>
        <p:spPr>
          <a:xfrm>
            <a:off x="5212080" y="3429000"/>
            <a:ext cx="2377440" cy="5943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Get that database's cached PrismaClient</a:t>
            </a:r>
            <a:endParaRPr lang="en-US" sz="1400" dirty="0"/>
          </a:p>
        </p:txBody>
      </p:sp>
      <p:sp>
        <p:nvSpPr>
          <p:cNvPr id="18" name="Routing circle 4"/>
          <p:cNvSpPr/>
          <p:nvPr/>
        </p:nvSpPr>
        <p:spPr>
          <a:xfrm>
            <a:off x="4617720" y="4160520"/>
            <a:ext cx="411480" cy="411480"/>
          </a:xfrm>
          <a:prstGeom prst="ellipse">
            <a:avLst/>
          </a:prstGeom>
          <a:solidFill>
            <a:srgbClr val="F472B6"/>
          </a:solidFill>
          <a:ln/>
        </p:spPr>
        <p:txBody>
          <a:bodyPr/>
          <a:lstStyle/>
          <a:p>
            <a:endParaRPr lang="en-US"/>
          </a:p>
        </p:txBody>
      </p:sp>
      <p:sp>
        <p:nvSpPr>
          <p:cNvPr id="19" name="Routing number 4"/>
          <p:cNvSpPr txBox="1"/>
          <p:nvPr/>
        </p:nvSpPr>
        <p:spPr>
          <a:xfrm>
            <a:off x="4617720" y="416052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0" name="Routing text 4"/>
          <p:cNvSpPr txBox="1"/>
          <p:nvPr/>
        </p:nvSpPr>
        <p:spPr>
          <a:xfrm>
            <a:off x="5212080" y="4114800"/>
            <a:ext cx="2377440" cy="59436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Attach it as req.prisma</a:t>
            </a:r>
            <a:endParaRPr lang="en-US" sz="1400" dirty="0"/>
          </a:p>
        </p:txBody>
      </p:sp>
      <p:sp>
        <p:nvSpPr>
          <p:cNvPr id="21" name="Data plane card"/>
          <p:cNvSpPr/>
          <p:nvPr/>
        </p:nvSpPr>
        <p:spPr>
          <a:xfrm>
            <a:off x="8138160" y="1417320"/>
            <a:ext cx="3502152" cy="3383280"/>
          </a:xfrm>
          <a:prstGeom prst="roundRect">
            <a:avLst>
              <a:gd name="adj" fmla="val 3243"/>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2" name="Caption DATA PLANE"/>
          <p:cNvSpPr txBox="1"/>
          <p:nvPr/>
        </p:nvSpPr>
        <p:spPr>
          <a:xfrm>
            <a:off x="8412480" y="1600200"/>
            <a:ext cx="292608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DATA PLANE</a:t>
            </a:r>
            <a:endParaRPr lang="en-US" sz="1400" dirty="0"/>
          </a:p>
        </p:txBody>
      </p:sp>
      <p:sp>
        <p:nvSpPr>
          <p:cNvPr id="23" name="Tenant DB 1"/>
          <p:cNvSpPr/>
          <p:nvPr/>
        </p:nvSpPr>
        <p:spPr>
          <a:xfrm>
            <a:off x="8412480" y="2011680"/>
            <a:ext cx="2953512" cy="777240"/>
          </a:xfrm>
          <a:prstGeom prst="roundRect">
            <a:avLst>
              <a:gd name="adj" fmla="val 11765"/>
            </a:avLst>
          </a:prstGeom>
          <a:solidFill>
            <a:schemeClr val="accent1"/>
          </a:solidFill>
          <a:ln/>
        </p:spPr>
        <p:txBody>
          <a:bodyPr/>
          <a:lstStyle/>
          <a:p>
            <a:endParaRPr lang="en-US"/>
          </a:p>
        </p:txBody>
      </p:sp>
      <p:sp>
        <p:nvSpPr>
          <p:cNvPr id="24" name="Tenant DB text 1"/>
          <p:cNvSpPr txBox="1"/>
          <p:nvPr/>
        </p:nvSpPr>
        <p:spPr>
          <a:xfrm>
            <a:off x="8549640" y="2011680"/>
            <a:ext cx="2697480" cy="777240"/>
          </a:xfrm>
          <a:prstGeom prst="rect">
            <a:avLst/>
          </a:prstGeom>
          <a:noFill/>
          <a:ln/>
        </p:spPr>
        <p:txBody>
          <a:bodyPr wrap="square" lIns="0" tIns="0" rIns="0" bIns="0" rtlCol="0" anchor="ctr"/>
          <a:lstStyle/>
          <a:p>
            <a:pPr marL="0" indent="0">
              <a:buNone/>
            </a:pPr>
            <a:r>
              <a:rPr lang="en-US" sz="1600" b="1" dirty="0">
                <a:solidFill>
                  <a:schemeClr val="bg1"/>
                </a:solidFill>
                <a:latin typeface="Courier New" pitchFamily="34" charset="0"/>
                <a:ea typeface="Courier New" pitchFamily="34" charset="-122"/>
                <a:cs typeface="Courier New" pitchFamily="34" charset="-120"/>
              </a:rPr>
              <a:t>hrm_tenant_acme</a:t>
            </a:r>
            <a:endParaRPr lang="en-US" sz="1600" dirty="0"/>
          </a:p>
          <a:p>
            <a:pPr marL="0" indent="0">
              <a:buNone/>
            </a:pPr>
            <a:r>
              <a:rPr lang="en-US" sz="1400" dirty="0">
                <a:solidFill>
                  <a:srgbClr val="DFE5F7"/>
                </a:solidFill>
                <a:latin typeface="Calibri" pitchFamily="34" charset="0"/>
                <a:ea typeface="Calibri" pitchFamily="34" charset="-122"/>
                <a:cs typeface="Calibri" pitchFamily="34" charset="-120"/>
              </a:rPr>
              <a:t>same schema, own data</a:t>
            </a:r>
            <a:endParaRPr lang="en-US" sz="1600" dirty="0"/>
          </a:p>
        </p:txBody>
      </p:sp>
      <p:sp>
        <p:nvSpPr>
          <p:cNvPr id="25" name="Tenant DB 2"/>
          <p:cNvSpPr/>
          <p:nvPr/>
        </p:nvSpPr>
        <p:spPr>
          <a:xfrm>
            <a:off x="8412480" y="2926080"/>
            <a:ext cx="2953512" cy="777240"/>
          </a:xfrm>
          <a:prstGeom prst="roundRect">
            <a:avLst>
              <a:gd name="adj" fmla="val 11765"/>
            </a:avLst>
          </a:prstGeom>
          <a:solidFill>
            <a:srgbClr val="DFE5F7"/>
          </a:solidFill>
          <a:ln/>
        </p:spPr>
        <p:txBody>
          <a:bodyPr/>
          <a:lstStyle/>
          <a:p>
            <a:endParaRPr lang="en-US"/>
          </a:p>
        </p:txBody>
      </p:sp>
      <p:sp>
        <p:nvSpPr>
          <p:cNvPr id="26" name="Tenant DB text 2"/>
          <p:cNvSpPr txBox="1"/>
          <p:nvPr/>
        </p:nvSpPr>
        <p:spPr>
          <a:xfrm>
            <a:off x="8549640" y="2926080"/>
            <a:ext cx="2697480" cy="77724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hrm_tenant_&lt;slug&gt;</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same schema, own data</a:t>
            </a:r>
            <a:endParaRPr lang="en-US" sz="1600" dirty="0"/>
          </a:p>
        </p:txBody>
      </p:sp>
      <p:sp>
        <p:nvSpPr>
          <p:cNvPr id="27" name="Tenant DB 3"/>
          <p:cNvSpPr/>
          <p:nvPr/>
        </p:nvSpPr>
        <p:spPr>
          <a:xfrm>
            <a:off x="8412480" y="3840480"/>
            <a:ext cx="2953512" cy="777240"/>
          </a:xfrm>
          <a:prstGeom prst="roundRect">
            <a:avLst>
              <a:gd name="adj" fmla="val 11765"/>
            </a:avLst>
          </a:prstGeom>
          <a:solidFill>
            <a:srgbClr val="DFE5F7"/>
          </a:solidFill>
          <a:ln/>
        </p:spPr>
        <p:txBody>
          <a:bodyPr/>
          <a:lstStyle/>
          <a:p>
            <a:endParaRPr lang="en-US"/>
          </a:p>
        </p:txBody>
      </p:sp>
      <p:sp>
        <p:nvSpPr>
          <p:cNvPr id="28" name="Tenant DB text 3"/>
          <p:cNvSpPr txBox="1"/>
          <p:nvPr/>
        </p:nvSpPr>
        <p:spPr>
          <a:xfrm>
            <a:off x="8549640" y="3840480"/>
            <a:ext cx="2697480" cy="77724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hrm_tenant_&lt;slug&gt;</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same schema, own data</a:t>
            </a:r>
            <a:endParaRPr lang="en-US" sz="1600" dirty="0"/>
          </a:p>
        </p:txBody>
      </p:sp>
      <p:sp>
        <p:nvSpPr>
          <p:cNvPr id="29" name="Arrow"/>
          <p:cNvSpPr/>
          <p:nvPr/>
        </p:nvSpPr>
        <p:spPr>
          <a:xfrm>
            <a:off x="3931920" y="3108960"/>
            <a:ext cx="411480" cy="0"/>
          </a:xfrm>
          <a:prstGeom prst="line">
            <a:avLst/>
          </a:prstGeom>
          <a:noFill/>
          <a:ln w="25400">
            <a:solidFill>
              <a:schemeClr val="accent1"/>
            </a:solidFill>
            <a:prstDash val="solid"/>
            <a:tailEnd type="triangle"/>
          </a:ln>
        </p:spPr>
        <p:txBody>
          <a:bodyPr/>
          <a:lstStyle/>
          <a:p>
            <a:endParaRPr lang="en-US"/>
          </a:p>
        </p:txBody>
      </p:sp>
      <p:sp>
        <p:nvSpPr>
          <p:cNvPr id="30" name="Arrow"/>
          <p:cNvSpPr/>
          <p:nvPr/>
        </p:nvSpPr>
        <p:spPr>
          <a:xfrm>
            <a:off x="7726680" y="3108960"/>
            <a:ext cx="411480" cy="0"/>
          </a:xfrm>
          <a:prstGeom prst="line">
            <a:avLst/>
          </a:prstGeom>
          <a:noFill/>
          <a:ln w="25400">
            <a:solidFill>
              <a:schemeClr val="accent1"/>
            </a:solidFill>
            <a:prstDash val="solid"/>
            <a:tailEnd type="triangle"/>
          </a:ln>
        </p:spPr>
        <p:txBody>
          <a:bodyPr/>
          <a:lstStyle/>
          <a:p>
            <a:endParaRPr lang="en-US"/>
          </a:p>
        </p:txBody>
      </p:sp>
      <p:sp>
        <p:nvSpPr>
          <p:cNvPr id="31" name="Stat tile 1"/>
          <p:cNvSpPr/>
          <p:nvPr/>
        </p:nvSpPr>
        <p:spPr>
          <a:xfrm>
            <a:off x="548640" y="5074920"/>
            <a:ext cx="3566160" cy="1005840"/>
          </a:xfrm>
          <a:prstGeom prst="roundRect">
            <a:avLst>
              <a:gd name="adj" fmla="val 10909"/>
            </a:avLst>
          </a:prstGeom>
          <a:solidFill>
            <a:srgbClr val="EEF1FB"/>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2" name="Stat number 1"/>
          <p:cNvSpPr txBox="1"/>
          <p:nvPr/>
        </p:nvSpPr>
        <p:spPr>
          <a:xfrm>
            <a:off x="777240" y="5074920"/>
            <a:ext cx="914400" cy="1005840"/>
          </a:xfrm>
          <a:prstGeom prst="rect">
            <a:avLst/>
          </a:prstGeom>
          <a:noFill/>
          <a:ln/>
        </p:spPr>
        <p:txBody>
          <a:bodyPr wrap="square" lIns="0" tIns="0" rIns="0" bIns="0" rtlCol="0" anchor="ctr"/>
          <a:lstStyle/>
          <a:p>
            <a:pPr marL="0" indent="0">
              <a:buNone/>
            </a:pPr>
            <a:r>
              <a:rPr lang="en-US" sz="4000" b="1" dirty="0">
                <a:solidFill>
                  <a:schemeClr val="accent1"/>
                </a:solidFill>
                <a:latin typeface="Calibri" pitchFamily="34" charset="0"/>
                <a:ea typeface="Calibri" pitchFamily="34" charset="-122"/>
                <a:cs typeface="Calibri" pitchFamily="34" charset="-120"/>
              </a:rPr>
              <a:t>11</a:t>
            </a:r>
            <a:endParaRPr lang="en-US" sz="4000" dirty="0"/>
          </a:p>
        </p:txBody>
      </p:sp>
      <p:sp>
        <p:nvSpPr>
          <p:cNvPr id="33" name="Stat label 1"/>
          <p:cNvSpPr txBox="1"/>
          <p:nvPr/>
        </p:nvSpPr>
        <p:spPr>
          <a:xfrm>
            <a:off x="1737360" y="5074920"/>
            <a:ext cx="2240280" cy="10058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control-plane models</a:t>
            </a:r>
            <a:endParaRPr lang="en-US" sz="1400" dirty="0"/>
          </a:p>
        </p:txBody>
      </p:sp>
      <p:sp>
        <p:nvSpPr>
          <p:cNvPr id="34" name="Stat tile 2"/>
          <p:cNvSpPr/>
          <p:nvPr/>
        </p:nvSpPr>
        <p:spPr>
          <a:xfrm>
            <a:off x="4297680" y="5074920"/>
            <a:ext cx="3566160" cy="1005840"/>
          </a:xfrm>
          <a:prstGeom prst="roundRect">
            <a:avLst>
              <a:gd name="adj" fmla="val 10909"/>
            </a:avLst>
          </a:prstGeom>
          <a:solidFill>
            <a:srgbClr val="EEF1FB"/>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5" name="Stat number 2"/>
          <p:cNvSpPr txBox="1"/>
          <p:nvPr/>
        </p:nvSpPr>
        <p:spPr>
          <a:xfrm>
            <a:off x="4526280" y="5074920"/>
            <a:ext cx="914400" cy="1005840"/>
          </a:xfrm>
          <a:prstGeom prst="rect">
            <a:avLst/>
          </a:prstGeom>
          <a:noFill/>
          <a:ln/>
        </p:spPr>
        <p:txBody>
          <a:bodyPr wrap="square" lIns="0" tIns="0" rIns="0" bIns="0" rtlCol="0" anchor="ctr"/>
          <a:lstStyle/>
          <a:p>
            <a:pPr marL="0" indent="0">
              <a:buNone/>
            </a:pPr>
            <a:r>
              <a:rPr lang="en-US" sz="4000" b="1" dirty="0">
                <a:solidFill>
                  <a:schemeClr val="accent1"/>
                </a:solidFill>
                <a:latin typeface="Calibri" pitchFamily="34" charset="0"/>
                <a:ea typeface="Calibri" pitchFamily="34" charset="-122"/>
                <a:cs typeface="Calibri" pitchFamily="34" charset="-120"/>
              </a:rPr>
              <a:t>85</a:t>
            </a:r>
            <a:endParaRPr lang="en-US" sz="4000" dirty="0"/>
          </a:p>
        </p:txBody>
      </p:sp>
      <p:sp>
        <p:nvSpPr>
          <p:cNvPr id="36" name="Stat label 2"/>
          <p:cNvSpPr txBox="1"/>
          <p:nvPr/>
        </p:nvSpPr>
        <p:spPr>
          <a:xfrm>
            <a:off x="5486400" y="5074920"/>
            <a:ext cx="2240280" cy="10058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tenant models in every company DB</a:t>
            </a:r>
            <a:endParaRPr lang="en-US" sz="1400" dirty="0"/>
          </a:p>
        </p:txBody>
      </p:sp>
      <p:sp>
        <p:nvSpPr>
          <p:cNvPr id="37" name="Stat tile 3"/>
          <p:cNvSpPr/>
          <p:nvPr/>
        </p:nvSpPr>
        <p:spPr>
          <a:xfrm>
            <a:off x="8046720" y="5074920"/>
            <a:ext cx="3566160" cy="1005840"/>
          </a:xfrm>
          <a:prstGeom prst="roundRect">
            <a:avLst>
              <a:gd name="adj" fmla="val 10909"/>
            </a:avLst>
          </a:prstGeom>
          <a:solidFill>
            <a:srgbClr val="EEF1FB"/>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8" name="Stat number 3"/>
          <p:cNvSpPr txBox="1"/>
          <p:nvPr/>
        </p:nvSpPr>
        <p:spPr>
          <a:xfrm>
            <a:off x="8275320" y="5074920"/>
            <a:ext cx="914400" cy="1005840"/>
          </a:xfrm>
          <a:prstGeom prst="rect">
            <a:avLst/>
          </a:prstGeom>
          <a:noFill/>
          <a:ln/>
        </p:spPr>
        <p:txBody>
          <a:bodyPr wrap="square" lIns="0" tIns="0" rIns="0" bIns="0" rtlCol="0" anchor="ctr"/>
          <a:lstStyle/>
          <a:p>
            <a:pPr marL="0" indent="0">
              <a:buNone/>
            </a:pPr>
            <a:r>
              <a:rPr lang="en-US" sz="4000" b="1" dirty="0">
                <a:solidFill>
                  <a:schemeClr val="accent1"/>
                </a:solidFill>
                <a:latin typeface="Calibri" pitchFamily="34" charset="0"/>
                <a:ea typeface="Calibri" pitchFamily="34" charset="-122"/>
                <a:cs typeface="Calibri" pitchFamily="34" charset="-120"/>
              </a:rPr>
              <a:t>27</a:t>
            </a:r>
            <a:endParaRPr lang="en-US" sz="4000" dirty="0"/>
          </a:p>
        </p:txBody>
      </p:sp>
      <p:sp>
        <p:nvSpPr>
          <p:cNvPr id="39" name="Stat label 3"/>
          <p:cNvSpPr txBox="1"/>
          <p:nvPr/>
        </p:nvSpPr>
        <p:spPr>
          <a:xfrm>
            <a:off x="9235440" y="5074920"/>
            <a:ext cx="2240280" cy="10058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migrations replayed on each new DB</a:t>
            </a:r>
            <a:endParaRPr lang="en-US" sz="1400" dirty="0"/>
          </a:p>
        </p:txBody>
      </p:sp>
      <p:sp>
        <p:nvSpPr>
          <p:cNvPr id="4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Request lifecycle</a:t>
            </a:r>
            <a:endParaRPr lang="en-US" sz="3600" dirty="0"/>
          </a:p>
        </p:txBody>
      </p:sp>
      <p:sp>
        <p:nvSpPr>
          <p:cNvPr id="3" name="Stage Edge"/>
          <p:cNvSpPr/>
          <p:nvPr/>
        </p:nvSpPr>
        <p:spPr>
          <a:xfrm>
            <a:off x="548640" y="1417320"/>
            <a:ext cx="1645920" cy="2926080"/>
          </a:xfrm>
          <a:prstGeom prst="roundRect">
            <a:avLst>
              <a:gd name="adj" fmla="val 555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Stage number 1"/>
          <p:cNvSpPr txBox="1"/>
          <p:nvPr/>
        </p:nvSpPr>
        <p:spPr>
          <a:xfrm>
            <a:off x="685800" y="1508760"/>
            <a:ext cx="365760" cy="320040"/>
          </a:xfrm>
          <a:prstGeom prst="rect">
            <a:avLst/>
          </a:prstGeom>
          <a:noFill/>
          <a:ln/>
        </p:spPr>
        <p:txBody>
          <a:bodyPr wrap="square" lIns="0" tIns="0" rIns="0" bIns="0" rtlCol="0" anchor="t"/>
          <a:lstStyle/>
          <a:p>
            <a:pPr marL="0" indent="0">
              <a:buNone/>
            </a:pPr>
            <a:r>
              <a:rPr lang="en-US" sz="1600" b="1" dirty="0">
                <a:solidFill>
                  <a:schemeClr val="accent1"/>
                </a:solidFill>
                <a:latin typeface="Calibri" pitchFamily="34" charset="0"/>
                <a:ea typeface="Calibri" pitchFamily="34" charset="-122"/>
                <a:cs typeface="Calibri" pitchFamily="34" charset="-120"/>
              </a:rPr>
              <a:t>1</a:t>
            </a:r>
            <a:endParaRPr lang="en-US" sz="1600" dirty="0"/>
          </a:p>
        </p:txBody>
      </p:sp>
      <p:sp>
        <p:nvSpPr>
          <p:cNvPr id="5" name="Stage title 1"/>
          <p:cNvSpPr txBox="1"/>
          <p:nvPr/>
        </p:nvSpPr>
        <p:spPr>
          <a:xfrm>
            <a:off x="658368" y="1874520"/>
            <a:ext cx="1426464"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Edge</a:t>
            </a:r>
            <a:endParaRPr lang="en-US" sz="1600" dirty="0"/>
          </a:p>
        </p:txBody>
      </p:sp>
      <p:sp>
        <p:nvSpPr>
          <p:cNvPr id="6" name="Stage bullets 1"/>
          <p:cNvSpPr txBox="1"/>
          <p:nvPr/>
        </p:nvSpPr>
        <p:spPr>
          <a:xfrm>
            <a:off x="65836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helmet and CORS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JSON body parser</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pino request log</a:t>
            </a:r>
            <a:endParaRPr lang="en-US" sz="1400" dirty="0"/>
          </a:p>
        </p:txBody>
      </p:sp>
      <p:sp>
        <p:nvSpPr>
          <p:cNvPr id="7" name="Arrow"/>
          <p:cNvSpPr/>
          <p:nvPr/>
        </p:nvSpPr>
        <p:spPr>
          <a:xfrm>
            <a:off x="2194560" y="2880360"/>
            <a:ext cx="228600" cy="0"/>
          </a:xfrm>
          <a:prstGeom prst="line">
            <a:avLst/>
          </a:prstGeom>
          <a:noFill/>
          <a:ln w="25400">
            <a:solidFill>
              <a:schemeClr val="accent1"/>
            </a:solidFill>
            <a:prstDash val="solid"/>
            <a:tailEnd type="triangle"/>
          </a:ln>
        </p:spPr>
        <p:txBody>
          <a:bodyPr/>
          <a:lstStyle/>
          <a:p>
            <a:endParaRPr lang="en-US"/>
          </a:p>
        </p:txBody>
      </p:sp>
      <p:sp>
        <p:nvSpPr>
          <p:cNvPr id="8" name="Stage tenantResolver"/>
          <p:cNvSpPr/>
          <p:nvPr/>
        </p:nvSpPr>
        <p:spPr>
          <a:xfrm>
            <a:off x="2423160" y="1417320"/>
            <a:ext cx="1645920" cy="2926080"/>
          </a:xfrm>
          <a:prstGeom prst="roundRect">
            <a:avLst>
              <a:gd name="adj" fmla="val 5556"/>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9" name="Stage number 2"/>
          <p:cNvSpPr txBox="1"/>
          <p:nvPr/>
        </p:nvSpPr>
        <p:spPr>
          <a:xfrm>
            <a:off x="2560320" y="1508760"/>
            <a:ext cx="365760" cy="320040"/>
          </a:xfrm>
          <a:prstGeom prst="rect">
            <a:avLst/>
          </a:prstGeom>
          <a:noFill/>
          <a:ln/>
        </p:spPr>
        <p:txBody>
          <a:bodyPr wrap="square" lIns="0" tIns="0" rIns="0" bIns="0" rtlCol="0" anchor="t"/>
          <a:lstStyle/>
          <a:p>
            <a:pPr marL="0" indent="0">
              <a:buNone/>
            </a:pPr>
            <a:r>
              <a:rPr lang="en-US" sz="1600" b="1" dirty="0">
                <a:solidFill>
                  <a:srgbClr val="C3CDEF"/>
                </a:solidFill>
                <a:latin typeface="Calibri" pitchFamily="34" charset="0"/>
                <a:ea typeface="Calibri" pitchFamily="34" charset="-122"/>
                <a:cs typeface="Calibri" pitchFamily="34" charset="-120"/>
              </a:rPr>
              <a:t>2</a:t>
            </a:r>
            <a:endParaRPr lang="en-US" sz="1600" dirty="0"/>
          </a:p>
        </p:txBody>
      </p:sp>
      <p:sp>
        <p:nvSpPr>
          <p:cNvPr id="10" name="Stage title 2"/>
          <p:cNvSpPr txBox="1"/>
          <p:nvPr/>
        </p:nvSpPr>
        <p:spPr>
          <a:xfrm>
            <a:off x="2532888" y="1874520"/>
            <a:ext cx="1426464" cy="41148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tenantResolver</a:t>
            </a:r>
            <a:endParaRPr lang="en-US" sz="1600" dirty="0"/>
          </a:p>
        </p:txBody>
      </p:sp>
      <p:sp>
        <p:nvSpPr>
          <p:cNvPr id="11" name="Stage bullets 2"/>
          <p:cNvSpPr txBox="1"/>
          <p:nvPr/>
        </p:nvSpPr>
        <p:spPr>
          <a:xfrm>
            <a:off x="253288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Slug from header or subdomain</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Tenant must be Active</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Sets req.prisma</a:t>
            </a:r>
            <a:endParaRPr lang="en-US" sz="1400" dirty="0"/>
          </a:p>
        </p:txBody>
      </p:sp>
      <p:sp>
        <p:nvSpPr>
          <p:cNvPr id="12" name="Arrow"/>
          <p:cNvSpPr/>
          <p:nvPr/>
        </p:nvSpPr>
        <p:spPr>
          <a:xfrm>
            <a:off x="4069080" y="2880360"/>
            <a:ext cx="228600" cy="0"/>
          </a:xfrm>
          <a:prstGeom prst="line">
            <a:avLst/>
          </a:prstGeom>
          <a:noFill/>
          <a:ln w="25400">
            <a:solidFill>
              <a:schemeClr val="accent1"/>
            </a:solidFill>
            <a:prstDash val="solid"/>
            <a:tailEnd type="triangle"/>
          </a:ln>
        </p:spPr>
        <p:txBody>
          <a:bodyPr/>
          <a:lstStyle/>
          <a:p>
            <a:endParaRPr lang="en-US"/>
          </a:p>
        </p:txBody>
      </p:sp>
      <p:sp>
        <p:nvSpPr>
          <p:cNvPr id="13" name="Stage requireAuth"/>
          <p:cNvSpPr/>
          <p:nvPr/>
        </p:nvSpPr>
        <p:spPr>
          <a:xfrm>
            <a:off x="4297680" y="1417320"/>
            <a:ext cx="1645920" cy="2926080"/>
          </a:xfrm>
          <a:prstGeom prst="roundRect">
            <a:avLst>
              <a:gd name="adj" fmla="val 5556"/>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14" name="Stage number 3"/>
          <p:cNvSpPr txBox="1"/>
          <p:nvPr/>
        </p:nvSpPr>
        <p:spPr>
          <a:xfrm>
            <a:off x="4434840" y="1508760"/>
            <a:ext cx="365760" cy="320040"/>
          </a:xfrm>
          <a:prstGeom prst="rect">
            <a:avLst/>
          </a:prstGeom>
          <a:noFill/>
          <a:ln/>
        </p:spPr>
        <p:txBody>
          <a:bodyPr wrap="square" lIns="0" tIns="0" rIns="0" bIns="0" rtlCol="0" anchor="t"/>
          <a:lstStyle/>
          <a:p>
            <a:pPr marL="0" indent="0">
              <a:buNone/>
            </a:pPr>
            <a:r>
              <a:rPr lang="en-US" sz="1600" b="1" dirty="0">
                <a:solidFill>
                  <a:srgbClr val="C3CDEF"/>
                </a:solidFill>
                <a:latin typeface="Calibri" pitchFamily="34" charset="0"/>
                <a:ea typeface="Calibri" pitchFamily="34" charset="-122"/>
                <a:cs typeface="Calibri" pitchFamily="34" charset="-120"/>
              </a:rPr>
              <a:t>3</a:t>
            </a:r>
            <a:endParaRPr lang="en-US" sz="1600" dirty="0"/>
          </a:p>
        </p:txBody>
      </p:sp>
      <p:sp>
        <p:nvSpPr>
          <p:cNvPr id="15" name="Stage title 3"/>
          <p:cNvSpPr txBox="1"/>
          <p:nvPr/>
        </p:nvSpPr>
        <p:spPr>
          <a:xfrm>
            <a:off x="4407408" y="1874520"/>
            <a:ext cx="1426464" cy="41148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requireAuth</a:t>
            </a:r>
            <a:endParaRPr lang="en-US" sz="1600" dirty="0"/>
          </a:p>
        </p:txBody>
      </p:sp>
      <p:sp>
        <p:nvSpPr>
          <p:cNvPr id="16" name="Stage bullets 3"/>
          <p:cNvSpPr txBox="1"/>
          <p:nvPr/>
        </p:nvSpPr>
        <p:spPr>
          <a:xfrm>
            <a:off x="440740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Verify the JWT</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tenantSlug claim must match</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Sets req.user</a:t>
            </a:r>
            <a:endParaRPr lang="en-US" sz="1400" dirty="0"/>
          </a:p>
        </p:txBody>
      </p:sp>
      <p:sp>
        <p:nvSpPr>
          <p:cNvPr id="17" name="Arrow"/>
          <p:cNvSpPr/>
          <p:nvPr/>
        </p:nvSpPr>
        <p:spPr>
          <a:xfrm>
            <a:off x="5943600" y="2880360"/>
            <a:ext cx="228600" cy="0"/>
          </a:xfrm>
          <a:prstGeom prst="line">
            <a:avLst/>
          </a:prstGeom>
          <a:noFill/>
          <a:ln w="25400">
            <a:solidFill>
              <a:schemeClr val="accent1"/>
            </a:solidFill>
            <a:prstDash val="solid"/>
            <a:tailEnd type="triangle"/>
          </a:ln>
        </p:spPr>
        <p:txBody>
          <a:bodyPr/>
          <a:lstStyle/>
          <a:p>
            <a:endParaRPr lang="en-US"/>
          </a:p>
        </p:txBody>
      </p:sp>
      <p:sp>
        <p:nvSpPr>
          <p:cNvPr id="18" name="Stage requireRole"/>
          <p:cNvSpPr/>
          <p:nvPr/>
        </p:nvSpPr>
        <p:spPr>
          <a:xfrm>
            <a:off x="6172200" y="1417320"/>
            <a:ext cx="1645920" cy="2926080"/>
          </a:xfrm>
          <a:prstGeom prst="roundRect">
            <a:avLst>
              <a:gd name="adj" fmla="val 5556"/>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19" name="Stage number 4"/>
          <p:cNvSpPr txBox="1"/>
          <p:nvPr/>
        </p:nvSpPr>
        <p:spPr>
          <a:xfrm>
            <a:off x="6309360" y="1508760"/>
            <a:ext cx="365760" cy="320040"/>
          </a:xfrm>
          <a:prstGeom prst="rect">
            <a:avLst/>
          </a:prstGeom>
          <a:noFill/>
          <a:ln/>
        </p:spPr>
        <p:txBody>
          <a:bodyPr wrap="square" lIns="0" tIns="0" rIns="0" bIns="0" rtlCol="0" anchor="t"/>
          <a:lstStyle/>
          <a:p>
            <a:pPr marL="0" indent="0">
              <a:buNone/>
            </a:pPr>
            <a:r>
              <a:rPr lang="en-US" sz="1600" b="1" dirty="0">
                <a:solidFill>
                  <a:srgbClr val="C3CDEF"/>
                </a:solidFill>
                <a:latin typeface="Calibri" pitchFamily="34" charset="0"/>
                <a:ea typeface="Calibri" pitchFamily="34" charset="-122"/>
                <a:cs typeface="Calibri" pitchFamily="34" charset="-120"/>
              </a:rPr>
              <a:t>4</a:t>
            </a:r>
            <a:endParaRPr lang="en-US" sz="1600" dirty="0"/>
          </a:p>
        </p:txBody>
      </p:sp>
      <p:sp>
        <p:nvSpPr>
          <p:cNvPr id="20" name="Stage title 4"/>
          <p:cNvSpPr txBox="1"/>
          <p:nvPr/>
        </p:nvSpPr>
        <p:spPr>
          <a:xfrm>
            <a:off x="6281928" y="1874520"/>
            <a:ext cx="1426464" cy="41148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requireRole</a:t>
            </a:r>
            <a:endParaRPr lang="en-US" sz="1600" dirty="0"/>
          </a:p>
        </p:txBody>
      </p:sp>
      <p:sp>
        <p:nvSpPr>
          <p:cNvPr id="21" name="Stage bullets 4"/>
          <p:cNvSpPr txBox="1"/>
          <p:nvPr/>
        </p:nvSpPr>
        <p:spPr>
          <a:xfrm>
            <a:off x="628192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Role allow-list per route</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403 when not allowed</a:t>
            </a:r>
            <a:endParaRPr lang="en-US" sz="1400" dirty="0"/>
          </a:p>
        </p:txBody>
      </p:sp>
      <p:sp>
        <p:nvSpPr>
          <p:cNvPr id="22" name="Arrow"/>
          <p:cNvSpPr/>
          <p:nvPr/>
        </p:nvSpPr>
        <p:spPr>
          <a:xfrm>
            <a:off x="7818120" y="2880360"/>
            <a:ext cx="228600" cy="0"/>
          </a:xfrm>
          <a:prstGeom prst="line">
            <a:avLst/>
          </a:prstGeom>
          <a:noFill/>
          <a:ln w="25400">
            <a:solidFill>
              <a:schemeClr val="accent1"/>
            </a:solidFill>
            <a:prstDash val="solid"/>
            <a:tailEnd type="triangle"/>
          </a:ln>
        </p:spPr>
        <p:txBody>
          <a:bodyPr/>
          <a:lstStyle/>
          <a:p>
            <a:endParaRPr lang="en-US"/>
          </a:p>
        </p:txBody>
      </p:sp>
      <p:sp>
        <p:nvSpPr>
          <p:cNvPr id="23" name="Stage Validation"/>
          <p:cNvSpPr/>
          <p:nvPr/>
        </p:nvSpPr>
        <p:spPr>
          <a:xfrm>
            <a:off x="8046720" y="1417320"/>
            <a:ext cx="1645920" cy="2926080"/>
          </a:xfrm>
          <a:prstGeom prst="roundRect">
            <a:avLst>
              <a:gd name="adj" fmla="val 555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4" name="Stage number 5"/>
          <p:cNvSpPr txBox="1"/>
          <p:nvPr/>
        </p:nvSpPr>
        <p:spPr>
          <a:xfrm>
            <a:off x="8183880" y="1508760"/>
            <a:ext cx="365760" cy="320040"/>
          </a:xfrm>
          <a:prstGeom prst="rect">
            <a:avLst/>
          </a:prstGeom>
          <a:noFill/>
          <a:ln/>
        </p:spPr>
        <p:txBody>
          <a:bodyPr wrap="square" lIns="0" tIns="0" rIns="0" bIns="0" rtlCol="0" anchor="t"/>
          <a:lstStyle/>
          <a:p>
            <a:pPr marL="0" indent="0">
              <a:buNone/>
            </a:pPr>
            <a:r>
              <a:rPr lang="en-US" sz="1600" b="1" dirty="0">
                <a:solidFill>
                  <a:schemeClr val="accent1"/>
                </a:solidFill>
                <a:latin typeface="Calibri" pitchFamily="34" charset="0"/>
                <a:ea typeface="Calibri" pitchFamily="34" charset="-122"/>
                <a:cs typeface="Calibri" pitchFamily="34" charset="-120"/>
              </a:rPr>
              <a:t>5</a:t>
            </a:r>
            <a:endParaRPr lang="en-US" sz="1600" dirty="0"/>
          </a:p>
        </p:txBody>
      </p:sp>
      <p:sp>
        <p:nvSpPr>
          <p:cNvPr id="25" name="Stage title 5"/>
          <p:cNvSpPr txBox="1"/>
          <p:nvPr/>
        </p:nvSpPr>
        <p:spPr>
          <a:xfrm>
            <a:off x="8156448" y="1874520"/>
            <a:ext cx="1426464"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Validation</a:t>
            </a:r>
            <a:endParaRPr lang="en-US" sz="1600" dirty="0"/>
          </a:p>
        </p:txBody>
      </p:sp>
      <p:sp>
        <p:nvSpPr>
          <p:cNvPr id="26" name="Stage bullets 5"/>
          <p:cNvSpPr txBox="1"/>
          <p:nvPr/>
        </p:nvSpPr>
        <p:spPr>
          <a:xfrm>
            <a:off x="815644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zod schemas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Typed DTOs from the shared package</a:t>
            </a:r>
            <a:endParaRPr lang="en-US" sz="1400" dirty="0"/>
          </a:p>
        </p:txBody>
      </p:sp>
      <p:sp>
        <p:nvSpPr>
          <p:cNvPr id="27" name="Arrow"/>
          <p:cNvSpPr/>
          <p:nvPr/>
        </p:nvSpPr>
        <p:spPr>
          <a:xfrm>
            <a:off x="9692640" y="2880360"/>
            <a:ext cx="228600" cy="0"/>
          </a:xfrm>
          <a:prstGeom prst="line">
            <a:avLst/>
          </a:prstGeom>
          <a:noFill/>
          <a:ln w="25400">
            <a:solidFill>
              <a:schemeClr val="accent1"/>
            </a:solidFill>
            <a:prstDash val="solid"/>
            <a:tailEnd type="triangle"/>
          </a:ln>
        </p:spPr>
        <p:txBody>
          <a:bodyPr/>
          <a:lstStyle/>
          <a:p>
            <a:endParaRPr lang="en-US"/>
          </a:p>
        </p:txBody>
      </p:sp>
      <p:sp>
        <p:nvSpPr>
          <p:cNvPr id="28" name="Stage Handler"/>
          <p:cNvSpPr/>
          <p:nvPr/>
        </p:nvSpPr>
        <p:spPr>
          <a:xfrm>
            <a:off x="9921240" y="1417320"/>
            <a:ext cx="1645920" cy="2926080"/>
          </a:xfrm>
          <a:prstGeom prst="roundRect">
            <a:avLst>
              <a:gd name="adj" fmla="val 555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9" name="Stage number 6"/>
          <p:cNvSpPr txBox="1"/>
          <p:nvPr/>
        </p:nvSpPr>
        <p:spPr>
          <a:xfrm>
            <a:off x="10058400" y="1508760"/>
            <a:ext cx="365760" cy="320040"/>
          </a:xfrm>
          <a:prstGeom prst="rect">
            <a:avLst/>
          </a:prstGeom>
          <a:noFill/>
          <a:ln/>
        </p:spPr>
        <p:txBody>
          <a:bodyPr wrap="square" lIns="0" tIns="0" rIns="0" bIns="0" rtlCol="0" anchor="t"/>
          <a:lstStyle/>
          <a:p>
            <a:pPr marL="0" indent="0">
              <a:buNone/>
            </a:pPr>
            <a:r>
              <a:rPr lang="en-US" sz="1600" b="1" dirty="0">
                <a:solidFill>
                  <a:schemeClr val="accent1"/>
                </a:solidFill>
                <a:latin typeface="Calibri" pitchFamily="34" charset="0"/>
                <a:ea typeface="Calibri" pitchFamily="34" charset="-122"/>
                <a:cs typeface="Calibri" pitchFamily="34" charset="-120"/>
              </a:rPr>
              <a:t>6</a:t>
            </a:r>
            <a:endParaRPr lang="en-US" sz="1600" dirty="0"/>
          </a:p>
        </p:txBody>
      </p:sp>
      <p:sp>
        <p:nvSpPr>
          <p:cNvPr id="30" name="Stage title 6"/>
          <p:cNvSpPr txBox="1"/>
          <p:nvPr/>
        </p:nvSpPr>
        <p:spPr>
          <a:xfrm>
            <a:off x="10030968" y="1874520"/>
            <a:ext cx="1426464" cy="41148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Handler</a:t>
            </a:r>
            <a:endParaRPr lang="en-US" sz="1600" dirty="0"/>
          </a:p>
        </p:txBody>
      </p:sp>
      <p:sp>
        <p:nvSpPr>
          <p:cNvPr id="31" name="Stage bullets 6"/>
          <p:cNvSpPr txBox="1"/>
          <p:nvPr/>
        </p:nvSpPr>
        <p:spPr>
          <a:xfrm>
            <a:off x="10030968" y="2377440"/>
            <a:ext cx="1426464"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Controller calls service</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Service uses Prisma</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ApiError to errorHandler</a:t>
            </a:r>
            <a:endParaRPr lang="en-US" sz="1400" dirty="0"/>
          </a:p>
        </p:txBody>
      </p:sp>
      <p:sp>
        <p:nvSpPr>
          <p:cNvPr id="32" name="Module pattern card"/>
          <p:cNvSpPr/>
          <p:nvPr/>
        </p:nvSpPr>
        <p:spPr>
          <a:xfrm>
            <a:off x="548640" y="4663440"/>
            <a:ext cx="5486400" cy="1417320"/>
          </a:xfrm>
          <a:prstGeom prst="roundRect">
            <a:avLst>
              <a:gd name="adj" fmla="val 7742"/>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3" name="Caption EVERY FEATURE MODULE (50+)"/>
          <p:cNvSpPr txBox="1"/>
          <p:nvPr/>
        </p:nvSpPr>
        <p:spPr>
          <a:xfrm>
            <a:off x="822960" y="4800600"/>
            <a:ext cx="493776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EVERY FEATURE MODULE (50+)</a:t>
            </a:r>
            <a:endParaRPr lang="en-US" sz="1400" dirty="0"/>
          </a:p>
        </p:txBody>
      </p:sp>
      <p:sp>
        <p:nvSpPr>
          <p:cNvPr id="34" name="Module pattern"/>
          <p:cNvSpPr txBox="1"/>
          <p:nvPr/>
        </p:nvSpPr>
        <p:spPr>
          <a:xfrm>
            <a:off x="822960" y="5166360"/>
            <a:ext cx="4937760" cy="365760"/>
          </a:xfrm>
          <a:prstGeom prst="rect">
            <a:avLst/>
          </a:prstGeom>
          <a:noFill/>
          <a:ln/>
        </p:spPr>
        <p:txBody>
          <a:bodyPr wrap="square" lIns="0" tIns="0" rIns="0" bIns="0" rtlCol="0" anchor="t"/>
          <a:lstStyle/>
          <a:p>
            <a:pPr marL="0" indent="0">
              <a:buNone/>
            </a:pPr>
            <a:r>
              <a:rPr lang="en-US" sz="1800" b="1" dirty="0">
                <a:solidFill>
                  <a:schemeClr val="tx2"/>
                </a:solidFill>
                <a:latin typeface="Courier New" pitchFamily="34" charset="0"/>
                <a:ea typeface="Courier New" pitchFamily="34" charset="-122"/>
                <a:cs typeface="Courier New" pitchFamily="34" charset="-120"/>
              </a:rPr>
              <a:t>routes &gt; controller &gt; service</a:t>
            </a:r>
            <a:endParaRPr lang="en-US" sz="1800" dirty="0"/>
          </a:p>
        </p:txBody>
      </p:sp>
      <p:sp>
        <p:nvSpPr>
          <p:cNvPr id="35" name="Module pattern caption"/>
          <p:cNvSpPr txBox="1"/>
          <p:nvPr/>
        </p:nvSpPr>
        <p:spPr>
          <a:xfrm>
            <a:off x="822960" y="5577840"/>
            <a:ext cx="4937760" cy="320040"/>
          </a:xfrm>
          <a:prstGeom prst="rect">
            <a:avLst/>
          </a:prstGeom>
          <a:noFill/>
          <a:ln/>
        </p:spPr>
        <p:txBody>
          <a:bodyPr wrap="square" lIns="0" tIns="0" rIns="0" bIns="0" rtlCol="0" anchor="t"/>
          <a:lstStyle/>
          <a:p>
            <a:pPr marL="0" indent="0">
              <a:buNone/>
            </a:pPr>
            <a:r>
              <a:rPr lang="en-US" sz="1400" dirty="0">
                <a:solidFill>
                  <a:srgbClr val="5B6478"/>
                </a:solidFill>
                <a:latin typeface="Calibri" pitchFamily="34" charset="0"/>
                <a:ea typeface="Calibri" pitchFamily="34" charset="-122"/>
                <a:cs typeface="Calibri" pitchFamily="34" charset="-120"/>
              </a:rPr>
              <a:t>plus zod schemas in, DTO mappers out</a:t>
            </a:r>
            <a:endParaRPr lang="en-US" sz="1400" dirty="0"/>
          </a:p>
        </p:txBody>
      </p:sp>
      <p:sp>
        <p:nvSpPr>
          <p:cNvPr id="36" name="Identity planes card"/>
          <p:cNvSpPr/>
          <p:nvPr/>
        </p:nvSpPr>
        <p:spPr>
          <a:xfrm>
            <a:off x="6309360" y="4663440"/>
            <a:ext cx="5330952" cy="1417320"/>
          </a:xfrm>
          <a:prstGeom prst="roundRect">
            <a:avLst>
              <a:gd name="adj" fmla="val 7742"/>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7" name="Caption TWO IDENTITY PLANES"/>
          <p:cNvSpPr txBox="1"/>
          <p:nvPr/>
        </p:nvSpPr>
        <p:spPr>
          <a:xfrm>
            <a:off x="6583680" y="4800600"/>
            <a:ext cx="484632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TWO IDENTITY PLANES</a:t>
            </a:r>
            <a:endParaRPr lang="en-US" sz="1400" dirty="0"/>
          </a:p>
        </p:txBody>
      </p:sp>
      <p:sp>
        <p:nvSpPr>
          <p:cNvPr id="38" name="Identity headline"/>
          <p:cNvSpPr txBox="1"/>
          <p:nvPr/>
        </p:nvSpPr>
        <p:spPr>
          <a:xfrm>
            <a:off x="6583680" y="5166360"/>
            <a:ext cx="484632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Different JWT secrets per plane</a:t>
            </a:r>
            <a:endParaRPr lang="en-US" sz="1800" dirty="0"/>
          </a:p>
        </p:txBody>
      </p:sp>
      <p:sp>
        <p:nvSpPr>
          <p:cNvPr id="39" name="Identity caption"/>
          <p:cNvSpPr txBox="1"/>
          <p:nvPr/>
        </p:nvSpPr>
        <p:spPr>
          <a:xfrm>
            <a:off x="6583680" y="5577840"/>
            <a:ext cx="4846320" cy="320040"/>
          </a:xfrm>
          <a:prstGeom prst="rect">
            <a:avLst/>
          </a:prstGeom>
          <a:noFill/>
          <a:ln/>
        </p:spPr>
        <p:txBody>
          <a:bodyPr wrap="square" lIns="0" tIns="0" rIns="0" bIns="0" rtlCol="0" anchor="t"/>
          <a:lstStyle/>
          <a:p>
            <a:pPr marL="0" indent="0">
              <a:buNone/>
            </a:pPr>
            <a:r>
              <a:rPr lang="en-US" sz="1400" dirty="0">
                <a:solidFill>
                  <a:srgbClr val="5B6478"/>
                </a:solidFill>
                <a:latin typeface="Calibri" pitchFamily="34" charset="0"/>
                <a:ea typeface="Calibri" pitchFamily="34" charset="-122"/>
                <a:cs typeface="Calibri" pitchFamily="34" charset="-120"/>
              </a:rPr>
              <a:t>Tenant users vs SaaS admins, access + refresh tokens</a:t>
            </a:r>
            <a:endParaRPr lang="en-US" sz="1400" dirty="0"/>
          </a:p>
        </p:txBody>
      </p:sp>
      <p:sp>
        <p:nvSpPr>
          <p:cNvPr id="4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Tenant provisioning, step by step</a:t>
            </a:r>
            <a:endParaRPr lang="en-US" sz="3600" dirty="0"/>
          </a:p>
        </p:txBody>
      </p:sp>
      <p:sp>
        <p:nvSpPr>
          <p:cNvPr id="3" name="Timeline 1"/>
          <p:cNvSpPr/>
          <p:nvPr/>
        </p:nvSpPr>
        <p:spPr>
          <a:xfrm>
            <a:off x="800100" y="1874520"/>
            <a:ext cx="0" cy="283464"/>
          </a:xfrm>
          <a:prstGeom prst="line">
            <a:avLst/>
          </a:prstGeom>
          <a:noFill/>
          <a:ln w="25400">
            <a:solidFill>
              <a:schemeClr val="accent5"/>
            </a:solidFill>
            <a:prstDash val="solid"/>
          </a:ln>
        </p:spPr>
        <p:txBody>
          <a:bodyPr/>
          <a:lstStyle/>
          <a:p>
            <a:endParaRPr lang="en-US"/>
          </a:p>
        </p:txBody>
      </p:sp>
      <p:sp>
        <p:nvSpPr>
          <p:cNvPr id="4" name="Step circle 1"/>
          <p:cNvSpPr/>
          <p:nvPr/>
        </p:nvSpPr>
        <p:spPr>
          <a:xfrm>
            <a:off x="548640" y="1371600"/>
            <a:ext cx="502920" cy="502920"/>
          </a:xfrm>
          <a:prstGeom prst="ellipse">
            <a:avLst/>
          </a:prstGeom>
          <a:solidFill>
            <a:schemeClr val="accent1"/>
          </a:solidFill>
          <a:ln/>
        </p:spPr>
        <p:txBody>
          <a:bodyPr/>
          <a:lstStyle/>
          <a:p>
            <a:endParaRPr lang="en-US"/>
          </a:p>
        </p:txBody>
      </p:sp>
      <p:sp>
        <p:nvSpPr>
          <p:cNvPr id="5" name="Step number 1"/>
          <p:cNvSpPr txBox="1"/>
          <p:nvPr/>
        </p:nvSpPr>
        <p:spPr>
          <a:xfrm>
            <a:off x="548640" y="13716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Step text 1"/>
          <p:cNvSpPr txBox="1"/>
          <p:nvPr/>
        </p:nvSpPr>
        <p:spPr>
          <a:xfrm>
            <a:off x="1280160" y="1325880"/>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Approve</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Super-admin approves a Pending application</a:t>
            </a:r>
            <a:endParaRPr lang="en-US" sz="1800" dirty="0"/>
          </a:p>
        </p:txBody>
      </p:sp>
      <p:sp>
        <p:nvSpPr>
          <p:cNvPr id="7" name="Timeline 2"/>
          <p:cNvSpPr/>
          <p:nvPr/>
        </p:nvSpPr>
        <p:spPr>
          <a:xfrm>
            <a:off x="800100" y="2660904"/>
            <a:ext cx="0" cy="283464"/>
          </a:xfrm>
          <a:prstGeom prst="line">
            <a:avLst/>
          </a:prstGeom>
          <a:noFill/>
          <a:ln w="25400">
            <a:solidFill>
              <a:schemeClr val="accent5"/>
            </a:solidFill>
            <a:prstDash val="solid"/>
          </a:ln>
        </p:spPr>
        <p:txBody>
          <a:bodyPr/>
          <a:lstStyle/>
          <a:p>
            <a:endParaRPr lang="en-US"/>
          </a:p>
        </p:txBody>
      </p:sp>
      <p:sp>
        <p:nvSpPr>
          <p:cNvPr id="8" name="Step circle 2"/>
          <p:cNvSpPr/>
          <p:nvPr/>
        </p:nvSpPr>
        <p:spPr>
          <a:xfrm>
            <a:off x="548640" y="2157984"/>
            <a:ext cx="502920" cy="502920"/>
          </a:xfrm>
          <a:prstGeom prst="ellipse">
            <a:avLst/>
          </a:prstGeom>
          <a:solidFill>
            <a:schemeClr val="accent1"/>
          </a:solidFill>
          <a:ln/>
        </p:spPr>
        <p:txBody>
          <a:bodyPr/>
          <a:lstStyle/>
          <a:p>
            <a:endParaRPr lang="en-US"/>
          </a:p>
        </p:txBody>
      </p:sp>
      <p:sp>
        <p:nvSpPr>
          <p:cNvPr id="9" name="Step number 2"/>
          <p:cNvSpPr txBox="1"/>
          <p:nvPr/>
        </p:nvSpPr>
        <p:spPr>
          <a:xfrm>
            <a:off x="548640" y="215798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0" name="Step text 2"/>
          <p:cNvSpPr txBox="1"/>
          <p:nvPr/>
        </p:nvSpPr>
        <p:spPr>
          <a:xfrm>
            <a:off x="1280160" y="2112264"/>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Create database</a:t>
            </a:r>
            <a:endParaRPr lang="en-US" sz="1800" dirty="0"/>
          </a:p>
          <a:p>
            <a:pPr marL="0" indent="0">
              <a:buNone/>
            </a:pPr>
            <a:r>
              <a:rPr lang="en-US" sz="1400" dirty="0">
                <a:solidFill>
                  <a:srgbClr val="5B6478"/>
                </a:solidFill>
                <a:latin typeface="Courier New" pitchFamily="34" charset="0"/>
                <a:ea typeface="Courier New" pitchFamily="34" charset="-122"/>
                <a:cs typeface="Courier New" pitchFamily="34" charset="-120"/>
              </a:rPr>
              <a:t>CREATE DATABASE hrm_tenant_&lt;slug&gt;</a:t>
            </a:r>
            <a:endParaRPr lang="en-US" sz="1800" dirty="0"/>
          </a:p>
        </p:txBody>
      </p:sp>
      <p:sp>
        <p:nvSpPr>
          <p:cNvPr id="11" name="Timeline 3"/>
          <p:cNvSpPr/>
          <p:nvPr/>
        </p:nvSpPr>
        <p:spPr>
          <a:xfrm>
            <a:off x="800100" y="3447288"/>
            <a:ext cx="0" cy="283464"/>
          </a:xfrm>
          <a:prstGeom prst="line">
            <a:avLst/>
          </a:prstGeom>
          <a:noFill/>
          <a:ln w="25400">
            <a:solidFill>
              <a:schemeClr val="accent5"/>
            </a:solidFill>
            <a:prstDash val="solid"/>
          </a:ln>
        </p:spPr>
        <p:txBody>
          <a:bodyPr/>
          <a:lstStyle/>
          <a:p>
            <a:endParaRPr lang="en-US"/>
          </a:p>
        </p:txBody>
      </p:sp>
      <p:sp>
        <p:nvSpPr>
          <p:cNvPr id="12" name="Step circle 3"/>
          <p:cNvSpPr/>
          <p:nvPr/>
        </p:nvSpPr>
        <p:spPr>
          <a:xfrm>
            <a:off x="548640" y="2944368"/>
            <a:ext cx="502920" cy="502920"/>
          </a:xfrm>
          <a:prstGeom prst="ellipse">
            <a:avLst/>
          </a:prstGeom>
          <a:solidFill>
            <a:schemeClr val="accent1"/>
          </a:solidFill>
          <a:ln/>
        </p:spPr>
        <p:txBody>
          <a:bodyPr/>
          <a:lstStyle/>
          <a:p>
            <a:endParaRPr lang="en-US"/>
          </a:p>
        </p:txBody>
      </p:sp>
      <p:sp>
        <p:nvSpPr>
          <p:cNvPr id="13" name="Step number 3"/>
          <p:cNvSpPr txBox="1"/>
          <p:nvPr/>
        </p:nvSpPr>
        <p:spPr>
          <a:xfrm>
            <a:off x="548640" y="294436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4" name="Step text 3"/>
          <p:cNvSpPr txBox="1"/>
          <p:nvPr/>
        </p:nvSpPr>
        <p:spPr>
          <a:xfrm>
            <a:off x="1280160" y="2898648"/>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Migrate schema</a:t>
            </a:r>
            <a:endParaRPr lang="en-US" sz="1800" dirty="0"/>
          </a:p>
          <a:p>
            <a:pPr marL="0" indent="0">
              <a:buNone/>
            </a:pPr>
            <a:r>
              <a:rPr lang="en-US" sz="1400" dirty="0">
                <a:solidFill>
                  <a:srgbClr val="5B6478"/>
                </a:solidFill>
                <a:latin typeface="Courier New" pitchFamily="34" charset="0"/>
                <a:ea typeface="Courier New" pitchFamily="34" charset="-122"/>
                <a:cs typeface="Courier New" pitchFamily="34" charset="-120"/>
              </a:rPr>
              <a:t>prisma migrate deploy, 27 migrations</a:t>
            </a:r>
            <a:endParaRPr lang="en-US" sz="1800" dirty="0"/>
          </a:p>
        </p:txBody>
      </p:sp>
      <p:sp>
        <p:nvSpPr>
          <p:cNvPr id="15" name="Timeline 4"/>
          <p:cNvSpPr/>
          <p:nvPr/>
        </p:nvSpPr>
        <p:spPr>
          <a:xfrm>
            <a:off x="800100" y="4233672"/>
            <a:ext cx="0" cy="283464"/>
          </a:xfrm>
          <a:prstGeom prst="line">
            <a:avLst/>
          </a:prstGeom>
          <a:noFill/>
          <a:ln w="25400">
            <a:solidFill>
              <a:schemeClr val="accent5"/>
            </a:solidFill>
            <a:prstDash val="solid"/>
          </a:ln>
        </p:spPr>
        <p:txBody>
          <a:bodyPr/>
          <a:lstStyle/>
          <a:p>
            <a:endParaRPr lang="en-US"/>
          </a:p>
        </p:txBody>
      </p:sp>
      <p:sp>
        <p:nvSpPr>
          <p:cNvPr id="16" name="Step circle 4"/>
          <p:cNvSpPr/>
          <p:nvPr/>
        </p:nvSpPr>
        <p:spPr>
          <a:xfrm>
            <a:off x="548640" y="3730752"/>
            <a:ext cx="502920" cy="502920"/>
          </a:xfrm>
          <a:prstGeom prst="ellipse">
            <a:avLst/>
          </a:prstGeom>
          <a:solidFill>
            <a:schemeClr val="accent1"/>
          </a:solidFill>
          <a:ln/>
        </p:spPr>
        <p:txBody>
          <a:bodyPr/>
          <a:lstStyle/>
          <a:p>
            <a:endParaRPr lang="en-US"/>
          </a:p>
        </p:txBody>
      </p:sp>
      <p:sp>
        <p:nvSpPr>
          <p:cNvPr id="17" name="Step number 4"/>
          <p:cNvSpPr txBox="1"/>
          <p:nvPr/>
        </p:nvSpPr>
        <p:spPr>
          <a:xfrm>
            <a:off x="548640" y="373075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18" name="Step text 4"/>
          <p:cNvSpPr txBox="1"/>
          <p:nvPr/>
        </p:nvSpPr>
        <p:spPr>
          <a:xfrm>
            <a:off x="1280160" y="3685032"/>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Register tenant</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Insert the Tenant row in hrm_control, status Active</a:t>
            </a:r>
            <a:endParaRPr lang="en-US" sz="1800" dirty="0"/>
          </a:p>
        </p:txBody>
      </p:sp>
      <p:sp>
        <p:nvSpPr>
          <p:cNvPr id="19" name="Timeline 5"/>
          <p:cNvSpPr/>
          <p:nvPr/>
        </p:nvSpPr>
        <p:spPr>
          <a:xfrm>
            <a:off x="800100" y="5020056"/>
            <a:ext cx="0" cy="283464"/>
          </a:xfrm>
          <a:prstGeom prst="line">
            <a:avLst/>
          </a:prstGeom>
          <a:noFill/>
          <a:ln w="25400">
            <a:solidFill>
              <a:schemeClr val="accent5"/>
            </a:solidFill>
            <a:prstDash val="solid"/>
          </a:ln>
        </p:spPr>
        <p:txBody>
          <a:bodyPr/>
          <a:lstStyle/>
          <a:p>
            <a:endParaRPr lang="en-US"/>
          </a:p>
        </p:txBody>
      </p:sp>
      <p:sp>
        <p:nvSpPr>
          <p:cNvPr id="20" name="Step circle 5"/>
          <p:cNvSpPr/>
          <p:nvPr/>
        </p:nvSpPr>
        <p:spPr>
          <a:xfrm>
            <a:off x="548640" y="4517136"/>
            <a:ext cx="502920" cy="502920"/>
          </a:xfrm>
          <a:prstGeom prst="ellipse">
            <a:avLst/>
          </a:prstGeom>
          <a:solidFill>
            <a:schemeClr val="accent1"/>
          </a:solidFill>
          <a:ln/>
        </p:spPr>
        <p:txBody>
          <a:bodyPr/>
          <a:lstStyle/>
          <a:p>
            <a:endParaRPr lang="en-US"/>
          </a:p>
        </p:txBody>
      </p:sp>
      <p:sp>
        <p:nvSpPr>
          <p:cNvPr id="21" name="Step number 5"/>
          <p:cNvSpPr txBox="1"/>
          <p:nvPr/>
        </p:nvSpPr>
        <p:spPr>
          <a:xfrm>
            <a:off x="548640" y="451713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2" name="Step text 5"/>
          <p:cNvSpPr txBox="1"/>
          <p:nvPr/>
        </p:nvSpPr>
        <p:spPr>
          <a:xfrm>
            <a:off x="1280160" y="4471416"/>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Seed and create Admin</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Default roles, Admin user (bcrypt, forced password change)</a:t>
            </a:r>
            <a:endParaRPr lang="en-US" sz="1800" dirty="0"/>
          </a:p>
        </p:txBody>
      </p:sp>
      <p:sp>
        <p:nvSpPr>
          <p:cNvPr id="23" name="Step circle 6"/>
          <p:cNvSpPr/>
          <p:nvPr/>
        </p:nvSpPr>
        <p:spPr>
          <a:xfrm>
            <a:off x="548640" y="5303520"/>
            <a:ext cx="502920" cy="502920"/>
          </a:xfrm>
          <a:prstGeom prst="ellipse">
            <a:avLst/>
          </a:prstGeom>
          <a:solidFill>
            <a:schemeClr val="accent1"/>
          </a:solidFill>
          <a:ln/>
        </p:spPr>
        <p:txBody>
          <a:bodyPr/>
          <a:lstStyle/>
          <a:p>
            <a:endParaRPr lang="en-US"/>
          </a:p>
        </p:txBody>
      </p:sp>
      <p:sp>
        <p:nvSpPr>
          <p:cNvPr id="24" name="Step number 6"/>
          <p:cNvSpPr txBox="1"/>
          <p:nvPr/>
        </p:nvSpPr>
        <p:spPr>
          <a:xfrm>
            <a:off x="548640" y="53035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6</a:t>
            </a:r>
            <a:endParaRPr lang="en-US" sz="1800" dirty="0"/>
          </a:p>
        </p:txBody>
      </p:sp>
      <p:sp>
        <p:nvSpPr>
          <p:cNvPr id="25" name="Step text 6"/>
          <p:cNvSpPr txBox="1"/>
          <p:nvPr/>
        </p:nvSpPr>
        <p:spPr>
          <a:xfrm>
            <a:off x="1280160" y="5257800"/>
            <a:ext cx="6309360" cy="6400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Notify</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Mark Approved, email the login URL and credentials</a:t>
            </a:r>
            <a:endParaRPr lang="en-US" sz="1800" dirty="0"/>
          </a:p>
        </p:txBody>
      </p:sp>
      <p:sp>
        <p:nvSpPr>
          <p:cNvPr id="26" name="Design notes card"/>
          <p:cNvSpPr/>
          <p:nvPr/>
        </p:nvSpPr>
        <p:spPr>
          <a:xfrm>
            <a:off x="7863840" y="1371600"/>
            <a:ext cx="3776472" cy="4572000"/>
          </a:xfrm>
          <a:prstGeom prst="roundRect">
            <a:avLst>
              <a:gd name="adj" fmla="val 2906"/>
            </a:avLst>
          </a:prstGeom>
          <a:solidFill>
            <a:schemeClr val="tx2"/>
          </a:solidFill>
          <a:ln/>
          <a:effectLst>
            <a:outerShdw blurRad="101600" dist="25400" dir="5400000" algn="bl" rotWithShape="0">
              <a:srgbClr val="1E2761">
                <a:alpha val="12000"/>
              </a:srgbClr>
            </a:outerShdw>
          </a:effectLst>
        </p:spPr>
        <p:txBody>
          <a:bodyPr/>
          <a:lstStyle/>
          <a:p>
            <a:endParaRPr lang="en-US"/>
          </a:p>
        </p:txBody>
      </p:sp>
      <p:sp>
        <p:nvSpPr>
          <p:cNvPr id="27" name="Caption DESIGN NOTES"/>
          <p:cNvSpPr txBox="1"/>
          <p:nvPr/>
        </p:nvSpPr>
        <p:spPr>
          <a:xfrm>
            <a:off x="8183880" y="1600200"/>
            <a:ext cx="310896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DESIGN NOTES</a:t>
            </a:r>
            <a:endParaRPr lang="en-US" sz="1400" dirty="0"/>
          </a:p>
        </p:txBody>
      </p:sp>
      <p:sp>
        <p:nvSpPr>
          <p:cNvPr id="28" name="Design notes bullets"/>
          <p:cNvSpPr txBox="1"/>
          <p:nvPr/>
        </p:nvSpPr>
        <p:spPr>
          <a:xfrm>
            <a:off x="8183880" y="2103120"/>
            <a:ext cx="3200400" cy="36576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bg1"/>
                </a:solidFill>
                <a:latin typeface="Calibri" pitchFamily="34" charset="0"/>
                <a:ea typeface="Calibri" pitchFamily="34" charset="-122"/>
                <a:cs typeface="Calibri" pitchFamily="34" charset="-120"/>
              </a:rPr>
              <a:t>Database name comes from the signup slug</a:t>
            </a:r>
            <a:endParaRPr lang="en-US" sz="1600" dirty="0"/>
          </a:p>
          <a:p>
            <a:pPr marL="342900" indent="-342900">
              <a:spcAft>
                <a:spcPts val="1400"/>
              </a:spcAft>
              <a:buSzPct val="100000"/>
              <a:buChar char="•"/>
            </a:pPr>
            <a:r>
              <a:rPr lang="en-US" sz="1600" dirty="0">
                <a:solidFill>
                  <a:schemeClr val="bg1"/>
                </a:solidFill>
                <a:latin typeface="Calibri" pitchFamily="34" charset="0"/>
                <a:ea typeface="Calibri" pitchFamily="34" charset="-122"/>
                <a:cs typeface="Calibri" pitchFamily="34" charset="-120"/>
              </a:rPr>
              <a:t>Package validity sets the tenant end date</a:t>
            </a:r>
            <a:endParaRPr lang="en-US" sz="1600" dirty="0"/>
          </a:p>
          <a:p>
            <a:pPr marL="342900" indent="-342900">
              <a:spcAft>
                <a:spcPts val="1400"/>
              </a:spcAft>
              <a:buSzPct val="100000"/>
              <a:buChar char="•"/>
            </a:pPr>
            <a:r>
              <a:rPr lang="en-US" sz="1600" dirty="0">
                <a:solidFill>
                  <a:schemeClr val="bg1"/>
                </a:solidFill>
                <a:latin typeface="Calibri" pitchFamily="34" charset="0"/>
                <a:ea typeface="Calibri" pitchFamily="34" charset="-122"/>
                <a:cs typeface="Calibri" pitchFamily="34" charset="-120"/>
              </a:rPr>
              <a:t>Admin must change the default password on first login</a:t>
            </a:r>
            <a:endParaRPr lang="en-US" sz="1600" dirty="0"/>
          </a:p>
          <a:p>
            <a:pPr marL="342900" indent="-342900">
              <a:spcAft>
                <a:spcPts val="1400"/>
              </a:spcAft>
              <a:buSzPct val="100000"/>
              <a:buChar char="•"/>
            </a:pPr>
            <a:r>
              <a:rPr lang="en-US" sz="1600" dirty="0">
                <a:solidFill>
                  <a:schemeClr val="bg1"/>
                </a:solidFill>
                <a:latin typeface="Calibri" pitchFamily="34" charset="0"/>
                <a:ea typeface="Calibri" pitchFamily="34" charset="-122"/>
                <a:cs typeface="Calibri" pitchFamily="34" charset="-120"/>
              </a:rPr>
              <a:t>In development, email goes to a test inbox</a:t>
            </a:r>
            <a:endParaRPr lang="en-US" sz="1600" dirty="0"/>
          </a:p>
        </p:txBody>
      </p:sp>
      <p:sp>
        <p:nvSpPr>
          <p:cNvPr id="29"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Asynchronous processing</a:t>
            </a:r>
            <a:endParaRPr lang="en-US" sz="3600" dirty="0"/>
          </a:p>
        </p:txBody>
      </p:sp>
      <p:sp>
        <p:nvSpPr>
          <p:cNvPr id="3" name="Flow API server"/>
          <p:cNvSpPr/>
          <p:nvPr/>
        </p:nvSpPr>
        <p:spPr>
          <a:xfrm>
            <a:off x="548640" y="1417320"/>
            <a:ext cx="3840480" cy="868680"/>
          </a:xfrm>
          <a:prstGeom prst="roundRect">
            <a:avLst>
              <a:gd name="adj" fmla="val 1052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Flow API server text"/>
          <p:cNvSpPr txBox="1"/>
          <p:nvPr/>
        </p:nvSpPr>
        <p:spPr>
          <a:xfrm>
            <a:off x="713232" y="1417320"/>
            <a:ext cx="3511296" cy="8686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API server</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enqueues a job with the tenant slug</a:t>
            </a:r>
            <a:endParaRPr lang="en-US" sz="1800" dirty="0"/>
          </a:p>
        </p:txBody>
      </p:sp>
      <p:sp>
        <p:nvSpPr>
          <p:cNvPr id="5" name="Arrow"/>
          <p:cNvSpPr/>
          <p:nvPr/>
        </p:nvSpPr>
        <p:spPr>
          <a:xfrm>
            <a:off x="2468880" y="2286000"/>
            <a:ext cx="0" cy="365760"/>
          </a:xfrm>
          <a:prstGeom prst="line">
            <a:avLst/>
          </a:prstGeom>
          <a:noFill/>
          <a:ln w="25400">
            <a:solidFill>
              <a:schemeClr val="accent1"/>
            </a:solidFill>
            <a:prstDash val="solid"/>
            <a:tailEnd type="triangle"/>
          </a:ln>
        </p:spPr>
        <p:txBody>
          <a:bodyPr/>
          <a:lstStyle/>
          <a:p>
            <a:endParaRPr lang="en-US"/>
          </a:p>
        </p:txBody>
      </p:sp>
      <p:sp>
        <p:nvSpPr>
          <p:cNvPr id="6" name="Flow Redis 7 + BullMQ"/>
          <p:cNvSpPr/>
          <p:nvPr/>
        </p:nvSpPr>
        <p:spPr>
          <a:xfrm>
            <a:off x="548640" y="2651760"/>
            <a:ext cx="3840480" cy="868680"/>
          </a:xfrm>
          <a:prstGeom prst="roundRect">
            <a:avLst>
              <a:gd name="adj" fmla="val 1052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7" name="Flow Redis 7 + BullMQ text"/>
          <p:cNvSpPr txBox="1"/>
          <p:nvPr/>
        </p:nvSpPr>
        <p:spPr>
          <a:xfrm>
            <a:off x="713232" y="2651760"/>
            <a:ext cx="3511296" cy="8686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Redis 7 + BullMQ</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durable queues, AOF on</a:t>
            </a:r>
            <a:endParaRPr lang="en-US" sz="1800" dirty="0"/>
          </a:p>
        </p:txBody>
      </p:sp>
      <p:sp>
        <p:nvSpPr>
          <p:cNvPr id="8" name="Arrow"/>
          <p:cNvSpPr/>
          <p:nvPr/>
        </p:nvSpPr>
        <p:spPr>
          <a:xfrm>
            <a:off x="2468880" y="3520440"/>
            <a:ext cx="0" cy="365760"/>
          </a:xfrm>
          <a:prstGeom prst="line">
            <a:avLst/>
          </a:prstGeom>
          <a:noFill/>
          <a:ln w="25400">
            <a:solidFill>
              <a:schemeClr val="accent1"/>
            </a:solidFill>
            <a:prstDash val="solid"/>
            <a:tailEnd type="triangle"/>
          </a:ln>
        </p:spPr>
        <p:txBody>
          <a:bodyPr/>
          <a:lstStyle/>
          <a:p>
            <a:endParaRPr lang="en-US"/>
          </a:p>
        </p:txBody>
      </p:sp>
      <p:sp>
        <p:nvSpPr>
          <p:cNvPr id="9" name="Flow Worker process"/>
          <p:cNvSpPr/>
          <p:nvPr/>
        </p:nvSpPr>
        <p:spPr>
          <a:xfrm>
            <a:off x="548640" y="3886200"/>
            <a:ext cx="3840480" cy="868680"/>
          </a:xfrm>
          <a:prstGeom prst="roundRect">
            <a:avLst>
              <a:gd name="adj" fmla="val 10526"/>
            </a:avLst>
          </a:prstGeom>
          <a:solidFill>
            <a:schemeClr val="accent1"/>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0" name="Flow Worker process text"/>
          <p:cNvSpPr txBox="1"/>
          <p:nvPr/>
        </p:nvSpPr>
        <p:spPr>
          <a:xfrm>
            <a:off x="713232" y="3886200"/>
            <a:ext cx="3511296" cy="86868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Worker process</a:t>
            </a:r>
            <a:endParaRPr lang="en-US" sz="1800" dirty="0"/>
          </a:p>
          <a:p>
            <a:pPr marL="0" indent="0">
              <a:buNone/>
            </a:pPr>
            <a:r>
              <a:rPr lang="en-US" sz="1400" dirty="0">
                <a:solidFill>
                  <a:srgbClr val="DFE5F7"/>
                </a:solidFill>
                <a:latin typeface="Calibri" pitchFamily="34" charset="0"/>
                <a:ea typeface="Calibri" pitchFamily="34" charset="-122"/>
                <a:cs typeface="Calibri" pitchFamily="34" charset="-120"/>
              </a:rPr>
              <a:t>node dist/worker.js, same image</a:t>
            </a:r>
            <a:endParaRPr lang="en-US" sz="1800" dirty="0"/>
          </a:p>
        </p:txBody>
      </p:sp>
      <p:sp>
        <p:nvSpPr>
          <p:cNvPr id="11" name="Arrow"/>
          <p:cNvSpPr/>
          <p:nvPr/>
        </p:nvSpPr>
        <p:spPr>
          <a:xfrm>
            <a:off x="2468880" y="4754880"/>
            <a:ext cx="0" cy="365760"/>
          </a:xfrm>
          <a:prstGeom prst="line">
            <a:avLst/>
          </a:prstGeom>
          <a:noFill/>
          <a:ln w="25400">
            <a:solidFill>
              <a:schemeClr val="accent1"/>
            </a:solidFill>
            <a:prstDash val="solid"/>
            <a:tailEnd type="triangle"/>
          </a:ln>
        </p:spPr>
        <p:txBody>
          <a:bodyPr/>
          <a:lstStyle/>
          <a:p>
            <a:endParaRPr lang="en-US"/>
          </a:p>
        </p:txBody>
      </p:sp>
      <p:sp>
        <p:nvSpPr>
          <p:cNvPr id="12" name="Flow Results"/>
          <p:cNvSpPr/>
          <p:nvPr/>
        </p:nvSpPr>
        <p:spPr>
          <a:xfrm>
            <a:off x="548640" y="5120640"/>
            <a:ext cx="3840480" cy="868680"/>
          </a:xfrm>
          <a:prstGeom prst="roundRect">
            <a:avLst>
              <a:gd name="adj" fmla="val 10526"/>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3" name="Flow Results text"/>
          <p:cNvSpPr txBox="1"/>
          <p:nvPr/>
        </p:nvSpPr>
        <p:spPr>
          <a:xfrm>
            <a:off x="713232" y="5120640"/>
            <a:ext cx="3511296" cy="86868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Results</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tenant DB, PDFs, emails</a:t>
            </a:r>
            <a:endParaRPr lang="en-US" sz="1800" dirty="0"/>
          </a:p>
        </p:txBody>
      </p:sp>
      <p:sp>
        <p:nvSpPr>
          <p:cNvPr id="14" name="Job row Payslip PDF"/>
          <p:cNvSpPr/>
          <p:nvPr/>
        </p:nvSpPr>
        <p:spPr>
          <a:xfrm>
            <a:off x="4846320" y="141732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5" name="Job name Payslip PDF"/>
          <p:cNvSpPr txBox="1"/>
          <p:nvPr/>
        </p:nvSpPr>
        <p:spPr>
          <a:xfrm>
            <a:off x="5029200" y="141732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Payslip PDF</a:t>
            </a:r>
            <a:endParaRPr lang="en-US" sz="1600" dirty="0"/>
          </a:p>
        </p:txBody>
      </p:sp>
      <p:sp>
        <p:nvSpPr>
          <p:cNvPr id="16" name="Job desc Payslip PDF"/>
          <p:cNvSpPr txBox="1"/>
          <p:nvPr/>
        </p:nvSpPr>
        <p:spPr>
          <a:xfrm>
            <a:off x="7315200" y="141732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Puppeteer renders and stores payslips</a:t>
            </a:r>
            <a:endParaRPr lang="en-US" sz="1400" dirty="0"/>
          </a:p>
        </p:txBody>
      </p:sp>
      <p:sp>
        <p:nvSpPr>
          <p:cNvPr id="17" name="Job tag Payslip PDF"/>
          <p:cNvSpPr/>
          <p:nvPr/>
        </p:nvSpPr>
        <p:spPr>
          <a:xfrm>
            <a:off x="10332720" y="1563624"/>
            <a:ext cx="1143000" cy="365760"/>
          </a:xfrm>
          <a:prstGeom prst="roundRect">
            <a:avLst>
              <a:gd name="adj" fmla="val 50000"/>
            </a:avLst>
          </a:prstGeom>
          <a:solidFill>
            <a:schemeClr val="accent1"/>
          </a:solidFill>
          <a:ln/>
        </p:spPr>
        <p:txBody>
          <a:bodyPr/>
          <a:lstStyle/>
          <a:p>
            <a:endParaRPr lang="en-US"/>
          </a:p>
        </p:txBody>
      </p:sp>
      <p:sp>
        <p:nvSpPr>
          <p:cNvPr id="18" name="Job tag text Payslip PDF"/>
          <p:cNvSpPr txBox="1"/>
          <p:nvPr/>
        </p:nvSpPr>
        <p:spPr>
          <a:xfrm>
            <a:off x="10332720" y="1563624"/>
            <a:ext cx="114300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On demand</a:t>
            </a:r>
            <a:endParaRPr lang="en-US" sz="1400" dirty="0"/>
          </a:p>
        </p:txBody>
      </p:sp>
      <p:sp>
        <p:nvSpPr>
          <p:cNvPr id="19" name="Job row Assessment grading"/>
          <p:cNvSpPr/>
          <p:nvPr/>
        </p:nvSpPr>
        <p:spPr>
          <a:xfrm>
            <a:off x="4846320" y="219456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0" name="Job name Assessment grading"/>
          <p:cNvSpPr txBox="1"/>
          <p:nvPr/>
        </p:nvSpPr>
        <p:spPr>
          <a:xfrm>
            <a:off x="5029200" y="219456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Assessment grading</a:t>
            </a:r>
            <a:endParaRPr lang="en-US" sz="1600" dirty="0"/>
          </a:p>
        </p:txBody>
      </p:sp>
      <p:sp>
        <p:nvSpPr>
          <p:cNvPr id="21" name="Job desc Assessment grading"/>
          <p:cNvSpPr txBox="1"/>
          <p:nvPr/>
        </p:nvSpPr>
        <p:spPr>
          <a:xfrm>
            <a:off x="7315200" y="219456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LLM grades short-text answers</a:t>
            </a:r>
            <a:endParaRPr lang="en-US" sz="1400" dirty="0"/>
          </a:p>
        </p:txBody>
      </p:sp>
      <p:sp>
        <p:nvSpPr>
          <p:cNvPr id="22" name="Job tag Assessment grading"/>
          <p:cNvSpPr/>
          <p:nvPr/>
        </p:nvSpPr>
        <p:spPr>
          <a:xfrm>
            <a:off x="10332720" y="2340864"/>
            <a:ext cx="1143000" cy="365760"/>
          </a:xfrm>
          <a:prstGeom prst="roundRect">
            <a:avLst>
              <a:gd name="adj" fmla="val 50000"/>
            </a:avLst>
          </a:prstGeom>
          <a:solidFill>
            <a:schemeClr val="accent1"/>
          </a:solidFill>
          <a:ln/>
        </p:spPr>
        <p:txBody>
          <a:bodyPr/>
          <a:lstStyle/>
          <a:p>
            <a:endParaRPr lang="en-US"/>
          </a:p>
        </p:txBody>
      </p:sp>
      <p:sp>
        <p:nvSpPr>
          <p:cNvPr id="23" name="Job tag text Assessment grading"/>
          <p:cNvSpPr txBox="1"/>
          <p:nvPr/>
        </p:nvSpPr>
        <p:spPr>
          <a:xfrm>
            <a:off x="10332720" y="2340864"/>
            <a:ext cx="114300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On demand</a:t>
            </a:r>
            <a:endParaRPr lang="en-US" sz="1400" dirty="0"/>
          </a:p>
        </p:txBody>
      </p:sp>
      <p:sp>
        <p:nvSpPr>
          <p:cNvPr id="24" name="Job row IRD payday filing"/>
          <p:cNvSpPr/>
          <p:nvPr/>
        </p:nvSpPr>
        <p:spPr>
          <a:xfrm>
            <a:off x="4846320" y="297180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5" name="Job name IRD payday filing"/>
          <p:cNvSpPr txBox="1"/>
          <p:nvPr/>
        </p:nvSpPr>
        <p:spPr>
          <a:xfrm>
            <a:off x="5029200" y="297180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IRD payday filing</a:t>
            </a:r>
            <a:endParaRPr lang="en-US" sz="1600" dirty="0"/>
          </a:p>
        </p:txBody>
      </p:sp>
      <p:sp>
        <p:nvSpPr>
          <p:cNvPr id="26" name="Job desc IRD payday filing"/>
          <p:cNvSpPr txBox="1"/>
          <p:nvPr/>
        </p:nvSpPr>
        <p:spPr>
          <a:xfrm>
            <a:off x="7315200" y="297180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Payday filing job after payroll</a:t>
            </a:r>
            <a:endParaRPr lang="en-US" sz="1400" dirty="0"/>
          </a:p>
        </p:txBody>
      </p:sp>
      <p:sp>
        <p:nvSpPr>
          <p:cNvPr id="27" name="Job tag IRD payday filing"/>
          <p:cNvSpPr/>
          <p:nvPr/>
        </p:nvSpPr>
        <p:spPr>
          <a:xfrm>
            <a:off x="10332720" y="3118104"/>
            <a:ext cx="1143000" cy="365760"/>
          </a:xfrm>
          <a:prstGeom prst="roundRect">
            <a:avLst>
              <a:gd name="adj" fmla="val 50000"/>
            </a:avLst>
          </a:prstGeom>
          <a:solidFill>
            <a:schemeClr val="accent1"/>
          </a:solidFill>
          <a:ln/>
        </p:spPr>
        <p:txBody>
          <a:bodyPr/>
          <a:lstStyle/>
          <a:p>
            <a:endParaRPr lang="en-US"/>
          </a:p>
        </p:txBody>
      </p:sp>
      <p:sp>
        <p:nvSpPr>
          <p:cNvPr id="28" name="Job tag text IRD payday filing"/>
          <p:cNvSpPr txBox="1"/>
          <p:nvPr/>
        </p:nvSpPr>
        <p:spPr>
          <a:xfrm>
            <a:off x="10332720" y="3118104"/>
            <a:ext cx="1143000" cy="36576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On demand</a:t>
            </a:r>
            <a:endParaRPr lang="en-US" sz="1400" dirty="0"/>
          </a:p>
        </p:txBody>
      </p:sp>
      <p:sp>
        <p:nvSpPr>
          <p:cNvPr id="29" name="Job row Assessment expiry"/>
          <p:cNvSpPr/>
          <p:nvPr/>
        </p:nvSpPr>
        <p:spPr>
          <a:xfrm>
            <a:off x="4846320" y="374904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0" name="Job name Assessment expiry"/>
          <p:cNvSpPr txBox="1"/>
          <p:nvPr/>
        </p:nvSpPr>
        <p:spPr>
          <a:xfrm>
            <a:off x="5029200" y="374904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Assessment expiry</a:t>
            </a:r>
            <a:endParaRPr lang="en-US" sz="1600" dirty="0"/>
          </a:p>
        </p:txBody>
      </p:sp>
      <p:sp>
        <p:nvSpPr>
          <p:cNvPr id="31" name="Job desc Assessment expiry"/>
          <p:cNvSpPr txBox="1"/>
          <p:nvPr/>
        </p:nvSpPr>
        <p:spPr>
          <a:xfrm>
            <a:off x="7315200" y="374904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Checks for expired tests</a:t>
            </a:r>
            <a:endParaRPr lang="en-US" sz="1400" dirty="0"/>
          </a:p>
        </p:txBody>
      </p:sp>
      <p:sp>
        <p:nvSpPr>
          <p:cNvPr id="32" name="Job tag Assessment expiry"/>
          <p:cNvSpPr/>
          <p:nvPr/>
        </p:nvSpPr>
        <p:spPr>
          <a:xfrm>
            <a:off x="10332720" y="3895344"/>
            <a:ext cx="1143000" cy="365760"/>
          </a:xfrm>
          <a:prstGeom prst="roundRect">
            <a:avLst>
              <a:gd name="adj" fmla="val 50000"/>
            </a:avLst>
          </a:prstGeom>
          <a:solidFill>
            <a:srgbClr val="DFE5F7"/>
          </a:solidFill>
          <a:ln/>
        </p:spPr>
        <p:txBody>
          <a:bodyPr/>
          <a:lstStyle/>
          <a:p>
            <a:endParaRPr lang="en-US"/>
          </a:p>
        </p:txBody>
      </p:sp>
      <p:sp>
        <p:nvSpPr>
          <p:cNvPr id="33" name="Job tag text Assessment expiry"/>
          <p:cNvSpPr txBox="1"/>
          <p:nvPr/>
        </p:nvSpPr>
        <p:spPr>
          <a:xfrm>
            <a:off x="10332720" y="3895344"/>
            <a:ext cx="1143000" cy="36576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Scheduled</a:t>
            </a:r>
            <a:endParaRPr lang="en-US" sz="1400" dirty="0"/>
          </a:p>
        </p:txBody>
      </p:sp>
      <p:sp>
        <p:nvSpPr>
          <p:cNvPr id="34" name="Job row Asset reminders"/>
          <p:cNvSpPr/>
          <p:nvPr/>
        </p:nvSpPr>
        <p:spPr>
          <a:xfrm>
            <a:off x="4846320" y="452628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5" name="Job name Asset reminders"/>
          <p:cNvSpPr txBox="1"/>
          <p:nvPr/>
        </p:nvSpPr>
        <p:spPr>
          <a:xfrm>
            <a:off x="5029200" y="452628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Asset reminders</a:t>
            </a:r>
            <a:endParaRPr lang="en-US" sz="1600" dirty="0"/>
          </a:p>
        </p:txBody>
      </p:sp>
      <p:sp>
        <p:nvSpPr>
          <p:cNvPr id="36" name="Job desc Asset reminders"/>
          <p:cNvSpPr txBox="1"/>
          <p:nvPr/>
        </p:nvSpPr>
        <p:spPr>
          <a:xfrm>
            <a:off x="7315200" y="452628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Warns before assets expire</a:t>
            </a:r>
            <a:endParaRPr lang="en-US" sz="1400" dirty="0"/>
          </a:p>
        </p:txBody>
      </p:sp>
      <p:sp>
        <p:nvSpPr>
          <p:cNvPr id="37" name="Job tag Asset reminders"/>
          <p:cNvSpPr/>
          <p:nvPr/>
        </p:nvSpPr>
        <p:spPr>
          <a:xfrm>
            <a:off x="10332720" y="4672584"/>
            <a:ext cx="1143000" cy="365760"/>
          </a:xfrm>
          <a:prstGeom prst="roundRect">
            <a:avLst>
              <a:gd name="adj" fmla="val 50000"/>
            </a:avLst>
          </a:prstGeom>
          <a:solidFill>
            <a:srgbClr val="DFE5F7"/>
          </a:solidFill>
          <a:ln/>
        </p:spPr>
        <p:txBody>
          <a:bodyPr/>
          <a:lstStyle/>
          <a:p>
            <a:endParaRPr lang="en-US"/>
          </a:p>
        </p:txBody>
      </p:sp>
      <p:sp>
        <p:nvSpPr>
          <p:cNvPr id="38" name="Job tag text Asset reminders"/>
          <p:cNvSpPr txBox="1"/>
          <p:nvPr/>
        </p:nvSpPr>
        <p:spPr>
          <a:xfrm>
            <a:off x="10332720" y="4672584"/>
            <a:ext cx="1143000" cy="36576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Scheduled</a:t>
            </a:r>
            <a:endParaRPr lang="en-US" sz="1400" dirty="0"/>
          </a:p>
        </p:txBody>
      </p:sp>
      <p:sp>
        <p:nvSpPr>
          <p:cNvPr id="39" name="Job row Recurring tasks"/>
          <p:cNvSpPr/>
          <p:nvPr/>
        </p:nvSpPr>
        <p:spPr>
          <a:xfrm>
            <a:off x="4846320" y="5303520"/>
            <a:ext cx="6793992" cy="658368"/>
          </a:xfrm>
          <a:prstGeom prst="roundRect">
            <a:avLst>
              <a:gd name="adj" fmla="val 16667"/>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0" name="Job name Recurring tasks"/>
          <p:cNvSpPr txBox="1"/>
          <p:nvPr/>
        </p:nvSpPr>
        <p:spPr>
          <a:xfrm>
            <a:off x="5029200" y="5303520"/>
            <a:ext cx="2286000" cy="658368"/>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Recurring tasks</a:t>
            </a:r>
            <a:endParaRPr lang="en-US" sz="1600" dirty="0"/>
          </a:p>
        </p:txBody>
      </p:sp>
      <p:sp>
        <p:nvSpPr>
          <p:cNvPr id="41" name="Job desc Recurring tasks"/>
          <p:cNvSpPr txBox="1"/>
          <p:nvPr/>
        </p:nvSpPr>
        <p:spPr>
          <a:xfrm>
            <a:off x="7315200" y="5303520"/>
            <a:ext cx="2834640" cy="658368"/>
          </a:xfrm>
          <a:prstGeom prst="rect">
            <a:avLst/>
          </a:prstGeom>
          <a:noFill/>
          <a:ln/>
        </p:spPr>
        <p:txBody>
          <a:bodyPr wrap="square" lIns="0" tIns="0" rIns="0" bIns="0" rtlCol="0" anchor="ctr"/>
          <a:lstStyle/>
          <a:p>
            <a:pPr marL="0" indent="0">
              <a:buNone/>
            </a:pPr>
            <a:r>
              <a:rPr lang="en-US" sz="1400" dirty="0">
                <a:solidFill>
                  <a:srgbClr val="5B6478"/>
                </a:solidFill>
                <a:latin typeface="Calibri" pitchFamily="34" charset="0"/>
                <a:ea typeface="Calibri" pitchFamily="34" charset="-122"/>
                <a:cs typeface="Calibri" pitchFamily="34" charset="-120"/>
              </a:rPr>
              <a:t>Creates repeating project tasks</a:t>
            </a:r>
            <a:endParaRPr lang="en-US" sz="1400" dirty="0"/>
          </a:p>
        </p:txBody>
      </p:sp>
      <p:sp>
        <p:nvSpPr>
          <p:cNvPr id="42" name="Job tag Recurring tasks"/>
          <p:cNvSpPr/>
          <p:nvPr/>
        </p:nvSpPr>
        <p:spPr>
          <a:xfrm>
            <a:off x="10332720" y="5449824"/>
            <a:ext cx="1143000" cy="365760"/>
          </a:xfrm>
          <a:prstGeom prst="roundRect">
            <a:avLst>
              <a:gd name="adj" fmla="val 50000"/>
            </a:avLst>
          </a:prstGeom>
          <a:solidFill>
            <a:srgbClr val="DFE5F7"/>
          </a:solidFill>
          <a:ln/>
        </p:spPr>
        <p:txBody>
          <a:bodyPr/>
          <a:lstStyle/>
          <a:p>
            <a:endParaRPr lang="en-US"/>
          </a:p>
        </p:txBody>
      </p:sp>
      <p:sp>
        <p:nvSpPr>
          <p:cNvPr id="43" name="Job tag text Recurring tasks"/>
          <p:cNvSpPr txBox="1"/>
          <p:nvPr/>
        </p:nvSpPr>
        <p:spPr>
          <a:xfrm>
            <a:off x="10332720" y="5449824"/>
            <a:ext cx="1143000" cy="36576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Scheduled</a:t>
            </a:r>
            <a:endParaRPr lang="en-US" sz="1400" dirty="0"/>
          </a:p>
        </p:txBody>
      </p:sp>
      <p:sp>
        <p:nvSpPr>
          <p:cNvPr id="44" name="Caption 6 BULLMQ QUEUES"/>
          <p:cNvSpPr txBox="1"/>
          <p:nvPr/>
        </p:nvSpPr>
        <p:spPr>
          <a:xfrm>
            <a:off x="4846320" y="6172200"/>
            <a:ext cx="365760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6 BULLMQ QUEUES</a:t>
            </a:r>
            <a:endParaRPr lang="en-US" sz="1400" dirty="0"/>
          </a:p>
        </p:txBody>
      </p:sp>
      <p:sp>
        <p:nvSpPr>
          <p:cNvPr id="4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What each company gets</a:t>
            </a:r>
            <a:endParaRPr lang="en-US" sz="3600" dirty="0"/>
          </a:p>
        </p:txBody>
      </p:sp>
      <p:sp>
        <p:nvSpPr>
          <p:cNvPr id="3" name="Module card People"/>
          <p:cNvSpPr/>
          <p:nvPr/>
        </p:nvSpPr>
        <p:spPr>
          <a:xfrm>
            <a:off x="548640" y="141732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Module People circle"/>
          <p:cNvSpPr/>
          <p:nvPr/>
        </p:nvSpPr>
        <p:spPr>
          <a:xfrm>
            <a:off x="777240" y="1764792"/>
            <a:ext cx="685800" cy="685800"/>
          </a:xfrm>
          <a:prstGeom prst="ellipse">
            <a:avLst/>
          </a:prstGeom>
          <a:solidFill>
            <a:schemeClr val="accent1"/>
          </a:solidFill>
          <a:ln/>
        </p:spPr>
        <p:txBody>
          <a:bodyPr/>
          <a:lstStyle/>
          <a:p>
            <a:endParaRPr lang="en-US"/>
          </a:p>
        </p:txBody>
      </p:sp>
      <p:pic>
        <p:nvPicPr>
          <p:cNvPr id="5" name="Module People icon" descr="preencoded.png"/>
          <p:cNvPicPr>
            <a:picLocks noChangeAspect="1"/>
          </p:cNvPicPr>
          <p:nvPr/>
        </p:nvPicPr>
        <p:blipFill>
          <a:blip r:embed="rId3"/>
          <a:stretch>
            <a:fillRect/>
          </a:stretch>
        </p:blipFill>
        <p:spPr>
          <a:xfrm>
            <a:off x="969264" y="1956816"/>
            <a:ext cx="301752" cy="301752"/>
          </a:xfrm>
          <a:prstGeom prst="rect">
            <a:avLst/>
          </a:prstGeom>
        </p:spPr>
      </p:pic>
      <p:sp>
        <p:nvSpPr>
          <p:cNvPr id="6" name="Module text People"/>
          <p:cNvSpPr txBox="1"/>
          <p:nvPr/>
        </p:nvSpPr>
        <p:spPr>
          <a:xfrm>
            <a:off x="1645920" y="141732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People</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Directory, departments, documents</a:t>
            </a:r>
            <a:endParaRPr lang="en-US" sz="1800" dirty="0"/>
          </a:p>
        </p:txBody>
      </p:sp>
      <p:sp>
        <p:nvSpPr>
          <p:cNvPr id="7" name="Module card Attendance"/>
          <p:cNvSpPr/>
          <p:nvPr/>
        </p:nvSpPr>
        <p:spPr>
          <a:xfrm>
            <a:off x="4297680" y="141732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8" name="Module Attendance circle"/>
          <p:cNvSpPr/>
          <p:nvPr/>
        </p:nvSpPr>
        <p:spPr>
          <a:xfrm>
            <a:off x="4526280" y="1764792"/>
            <a:ext cx="685800" cy="685800"/>
          </a:xfrm>
          <a:prstGeom prst="ellipse">
            <a:avLst/>
          </a:prstGeom>
          <a:solidFill>
            <a:schemeClr val="accent1"/>
          </a:solidFill>
          <a:ln/>
        </p:spPr>
        <p:txBody>
          <a:bodyPr/>
          <a:lstStyle/>
          <a:p>
            <a:endParaRPr lang="en-US"/>
          </a:p>
        </p:txBody>
      </p:sp>
      <p:pic>
        <p:nvPicPr>
          <p:cNvPr id="9" name="Module Attendance icon" descr="preencoded.png"/>
          <p:cNvPicPr>
            <a:picLocks noChangeAspect="1"/>
          </p:cNvPicPr>
          <p:nvPr/>
        </p:nvPicPr>
        <p:blipFill>
          <a:blip r:embed="rId4"/>
          <a:stretch>
            <a:fillRect/>
          </a:stretch>
        </p:blipFill>
        <p:spPr>
          <a:xfrm>
            <a:off x="4718304" y="1956816"/>
            <a:ext cx="301752" cy="301752"/>
          </a:xfrm>
          <a:prstGeom prst="rect">
            <a:avLst/>
          </a:prstGeom>
        </p:spPr>
      </p:pic>
      <p:sp>
        <p:nvSpPr>
          <p:cNvPr id="10" name="Module text Attendance"/>
          <p:cNvSpPr txBox="1"/>
          <p:nvPr/>
        </p:nvSpPr>
        <p:spPr>
          <a:xfrm>
            <a:off x="5394960" y="141732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Attendance</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IP, geofence, device and QR kiosk checks</a:t>
            </a:r>
            <a:endParaRPr lang="en-US" sz="1800" dirty="0"/>
          </a:p>
        </p:txBody>
      </p:sp>
      <p:sp>
        <p:nvSpPr>
          <p:cNvPr id="11" name="Module card Leave"/>
          <p:cNvSpPr/>
          <p:nvPr/>
        </p:nvSpPr>
        <p:spPr>
          <a:xfrm>
            <a:off x="8046720" y="141732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2" name="Module Leave circle"/>
          <p:cNvSpPr/>
          <p:nvPr/>
        </p:nvSpPr>
        <p:spPr>
          <a:xfrm>
            <a:off x="8275320" y="1764792"/>
            <a:ext cx="685800" cy="685800"/>
          </a:xfrm>
          <a:prstGeom prst="ellipse">
            <a:avLst/>
          </a:prstGeom>
          <a:solidFill>
            <a:schemeClr val="accent1"/>
          </a:solidFill>
          <a:ln/>
        </p:spPr>
        <p:txBody>
          <a:bodyPr/>
          <a:lstStyle/>
          <a:p>
            <a:endParaRPr lang="en-US"/>
          </a:p>
        </p:txBody>
      </p:sp>
      <p:pic>
        <p:nvPicPr>
          <p:cNvPr id="13" name="Module Leave icon" descr="preencoded.png"/>
          <p:cNvPicPr>
            <a:picLocks noChangeAspect="1"/>
          </p:cNvPicPr>
          <p:nvPr/>
        </p:nvPicPr>
        <p:blipFill>
          <a:blip r:embed="rId5"/>
          <a:stretch>
            <a:fillRect/>
          </a:stretch>
        </p:blipFill>
        <p:spPr>
          <a:xfrm>
            <a:off x="8467344" y="1956816"/>
            <a:ext cx="301752" cy="301752"/>
          </a:xfrm>
          <a:prstGeom prst="rect">
            <a:avLst/>
          </a:prstGeom>
        </p:spPr>
      </p:pic>
      <p:sp>
        <p:nvSpPr>
          <p:cNvPr id="14" name="Module text Leave"/>
          <p:cNvSpPr txBox="1"/>
          <p:nvPr/>
        </p:nvSpPr>
        <p:spPr>
          <a:xfrm>
            <a:off x="9144000" y="141732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Leave</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Multi-step approval chains and balances</a:t>
            </a:r>
            <a:endParaRPr lang="en-US" sz="1800" dirty="0"/>
          </a:p>
        </p:txBody>
      </p:sp>
      <p:sp>
        <p:nvSpPr>
          <p:cNvPr id="15" name="Module card Rosters"/>
          <p:cNvSpPr/>
          <p:nvPr/>
        </p:nvSpPr>
        <p:spPr>
          <a:xfrm>
            <a:off x="548640" y="297180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6" name="Module Rosters circle"/>
          <p:cNvSpPr/>
          <p:nvPr/>
        </p:nvSpPr>
        <p:spPr>
          <a:xfrm>
            <a:off x="777240" y="3319272"/>
            <a:ext cx="685800" cy="685800"/>
          </a:xfrm>
          <a:prstGeom prst="ellipse">
            <a:avLst/>
          </a:prstGeom>
          <a:solidFill>
            <a:schemeClr val="accent1"/>
          </a:solidFill>
          <a:ln/>
        </p:spPr>
        <p:txBody>
          <a:bodyPr/>
          <a:lstStyle/>
          <a:p>
            <a:endParaRPr lang="en-US"/>
          </a:p>
        </p:txBody>
      </p:sp>
      <p:pic>
        <p:nvPicPr>
          <p:cNvPr id="17" name="Module Rosters icon" descr="preencoded.png"/>
          <p:cNvPicPr>
            <a:picLocks noChangeAspect="1"/>
          </p:cNvPicPr>
          <p:nvPr/>
        </p:nvPicPr>
        <p:blipFill>
          <a:blip r:embed="rId6"/>
          <a:stretch>
            <a:fillRect/>
          </a:stretch>
        </p:blipFill>
        <p:spPr>
          <a:xfrm>
            <a:off x="969264" y="3511296"/>
            <a:ext cx="301752" cy="301752"/>
          </a:xfrm>
          <a:prstGeom prst="rect">
            <a:avLst/>
          </a:prstGeom>
        </p:spPr>
      </p:pic>
      <p:sp>
        <p:nvSpPr>
          <p:cNvPr id="18" name="Module text Rosters"/>
          <p:cNvSpPr txBox="1"/>
          <p:nvPr/>
        </p:nvSpPr>
        <p:spPr>
          <a:xfrm>
            <a:off x="1645920" y="297180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Rosters</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Auto-generate, then drag and drop</a:t>
            </a:r>
            <a:endParaRPr lang="en-US" sz="1800" dirty="0"/>
          </a:p>
        </p:txBody>
      </p:sp>
      <p:sp>
        <p:nvSpPr>
          <p:cNvPr id="19" name="Module card Payroll"/>
          <p:cNvSpPr/>
          <p:nvPr/>
        </p:nvSpPr>
        <p:spPr>
          <a:xfrm>
            <a:off x="4297680" y="297180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0" name="Module Payroll circle"/>
          <p:cNvSpPr/>
          <p:nvPr/>
        </p:nvSpPr>
        <p:spPr>
          <a:xfrm>
            <a:off x="4526280" y="3319272"/>
            <a:ext cx="685800" cy="685800"/>
          </a:xfrm>
          <a:prstGeom prst="ellipse">
            <a:avLst/>
          </a:prstGeom>
          <a:solidFill>
            <a:schemeClr val="accent1"/>
          </a:solidFill>
          <a:ln/>
        </p:spPr>
        <p:txBody>
          <a:bodyPr/>
          <a:lstStyle/>
          <a:p>
            <a:endParaRPr lang="en-US"/>
          </a:p>
        </p:txBody>
      </p:sp>
      <p:pic>
        <p:nvPicPr>
          <p:cNvPr id="21" name="Module Payroll icon" descr="preencoded.png"/>
          <p:cNvPicPr>
            <a:picLocks noChangeAspect="1"/>
          </p:cNvPicPr>
          <p:nvPr/>
        </p:nvPicPr>
        <p:blipFill>
          <a:blip r:embed="rId7"/>
          <a:stretch>
            <a:fillRect/>
          </a:stretch>
        </p:blipFill>
        <p:spPr>
          <a:xfrm>
            <a:off x="4718304" y="3511296"/>
            <a:ext cx="301752" cy="301752"/>
          </a:xfrm>
          <a:prstGeom prst="rect">
            <a:avLst/>
          </a:prstGeom>
        </p:spPr>
      </p:pic>
      <p:sp>
        <p:nvSpPr>
          <p:cNvPr id="22" name="Module text Payroll"/>
          <p:cNvSpPr txBox="1"/>
          <p:nvPr/>
        </p:nvSpPr>
        <p:spPr>
          <a:xfrm>
            <a:off x="5394960" y="297180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Payroll</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Work reports, pay runs and payslips</a:t>
            </a:r>
            <a:endParaRPr lang="en-US" sz="1800" dirty="0"/>
          </a:p>
        </p:txBody>
      </p:sp>
      <p:sp>
        <p:nvSpPr>
          <p:cNvPr id="23" name="Module card Documents"/>
          <p:cNvSpPr/>
          <p:nvPr/>
        </p:nvSpPr>
        <p:spPr>
          <a:xfrm>
            <a:off x="8046720" y="297180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4" name="Module Documents circle"/>
          <p:cNvSpPr/>
          <p:nvPr/>
        </p:nvSpPr>
        <p:spPr>
          <a:xfrm>
            <a:off x="8275320" y="3319272"/>
            <a:ext cx="685800" cy="685800"/>
          </a:xfrm>
          <a:prstGeom prst="ellipse">
            <a:avLst/>
          </a:prstGeom>
          <a:solidFill>
            <a:schemeClr val="accent1"/>
          </a:solidFill>
          <a:ln/>
        </p:spPr>
        <p:txBody>
          <a:bodyPr/>
          <a:lstStyle/>
          <a:p>
            <a:endParaRPr lang="en-US"/>
          </a:p>
        </p:txBody>
      </p:sp>
      <p:pic>
        <p:nvPicPr>
          <p:cNvPr id="25" name="Module Documents icon" descr="preencoded.png"/>
          <p:cNvPicPr>
            <a:picLocks noChangeAspect="1"/>
          </p:cNvPicPr>
          <p:nvPr/>
        </p:nvPicPr>
        <p:blipFill>
          <a:blip r:embed="rId8"/>
          <a:stretch>
            <a:fillRect/>
          </a:stretch>
        </p:blipFill>
        <p:spPr>
          <a:xfrm>
            <a:off x="8467344" y="3511296"/>
            <a:ext cx="301752" cy="301752"/>
          </a:xfrm>
          <a:prstGeom prst="rect">
            <a:avLst/>
          </a:prstGeom>
        </p:spPr>
      </p:pic>
      <p:sp>
        <p:nvSpPr>
          <p:cNvPr id="26" name="Module text Documents"/>
          <p:cNvSpPr txBox="1"/>
          <p:nvPr/>
        </p:nvSpPr>
        <p:spPr>
          <a:xfrm>
            <a:off x="9144000" y="297180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Documents</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Templates, approvals and signed PDFs</a:t>
            </a:r>
            <a:endParaRPr lang="en-US" sz="1800" dirty="0"/>
          </a:p>
        </p:txBody>
      </p:sp>
      <p:sp>
        <p:nvSpPr>
          <p:cNvPr id="27" name="Module card Recruitment"/>
          <p:cNvSpPr/>
          <p:nvPr/>
        </p:nvSpPr>
        <p:spPr>
          <a:xfrm>
            <a:off x="548640" y="452628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28" name="Module Recruitment circle"/>
          <p:cNvSpPr/>
          <p:nvPr/>
        </p:nvSpPr>
        <p:spPr>
          <a:xfrm>
            <a:off x="777240" y="4873752"/>
            <a:ext cx="685800" cy="685800"/>
          </a:xfrm>
          <a:prstGeom prst="ellipse">
            <a:avLst/>
          </a:prstGeom>
          <a:solidFill>
            <a:schemeClr val="accent1"/>
          </a:solidFill>
          <a:ln/>
        </p:spPr>
        <p:txBody>
          <a:bodyPr/>
          <a:lstStyle/>
          <a:p>
            <a:endParaRPr lang="en-US"/>
          </a:p>
        </p:txBody>
      </p:sp>
      <p:pic>
        <p:nvPicPr>
          <p:cNvPr id="29" name="Module Recruitment icon" descr="preencoded.png"/>
          <p:cNvPicPr>
            <a:picLocks noChangeAspect="1"/>
          </p:cNvPicPr>
          <p:nvPr/>
        </p:nvPicPr>
        <p:blipFill>
          <a:blip r:embed="rId9"/>
          <a:stretch>
            <a:fillRect/>
          </a:stretch>
        </p:blipFill>
        <p:spPr>
          <a:xfrm>
            <a:off x="969264" y="5065776"/>
            <a:ext cx="301752" cy="301752"/>
          </a:xfrm>
          <a:prstGeom prst="rect">
            <a:avLst/>
          </a:prstGeom>
        </p:spPr>
      </p:pic>
      <p:sp>
        <p:nvSpPr>
          <p:cNvPr id="30" name="Module text Recruitment"/>
          <p:cNvSpPr txBox="1"/>
          <p:nvPr/>
        </p:nvSpPr>
        <p:spPr>
          <a:xfrm>
            <a:off x="1645920" y="452628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Recruitment</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Public applications and a Kanban pipeline</a:t>
            </a:r>
            <a:endParaRPr lang="en-US" sz="1800" dirty="0"/>
          </a:p>
        </p:txBody>
      </p:sp>
      <p:sp>
        <p:nvSpPr>
          <p:cNvPr id="31" name="Module card Projects and tasks"/>
          <p:cNvSpPr/>
          <p:nvPr/>
        </p:nvSpPr>
        <p:spPr>
          <a:xfrm>
            <a:off x="4297680" y="452628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2" name="Module Projects and tasks circle"/>
          <p:cNvSpPr/>
          <p:nvPr/>
        </p:nvSpPr>
        <p:spPr>
          <a:xfrm>
            <a:off x="4526280" y="4873752"/>
            <a:ext cx="685800" cy="685800"/>
          </a:xfrm>
          <a:prstGeom prst="ellipse">
            <a:avLst/>
          </a:prstGeom>
          <a:solidFill>
            <a:schemeClr val="accent1"/>
          </a:solidFill>
          <a:ln/>
        </p:spPr>
        <p:txBody>
          <a:bodyPr/>
          <a:lstStyle/>
          <a:p>
            <a:endParaRPr lang="en-US"/>
          </a:p>
        </p:txBody>
      </p:sp>
      <p:pic>
        <p:nvPicPr>
          <p:cNvPr id="33" name="Module Projects and tasks icon" descr="preencoded.png"/>
          <p:cNvPicPr>
            <a:picLocks noChangeAspect="1"/>
          </p:cNvPicPr>
          <p:nvPr/>
        </p:nvPicPr>
        <p:blipFill>
          <a:blip r:embed="rId10"/>
          <a:stretch>
            <a:fillRect/>
          </a:stretch>
        </p:blipFill>
        <p:spPr>
          <a:xfrm>
            <a:off x="4718304" y="5065776"/>
            <a:ext cx="301752" cy="301752"/>
          </a:xfrm>
          <a:prstGeom prst="rect">
            <a:avLst/>
          </a:prstGeom>
        </p:spPr>
      </p:pic>
      <p:sp>
        <p:nvSpPr>
          <p:cNvPr id="34" name="Module text Projects and tasks"/>
          <p:cNvSpPr txBox="1"/>
          <p:nvPr/>
        </p:nvSpPr>
        <p:spPr>
          <a:xfrm>
            <a:off x="5394960" y="452628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Projects and tasks</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Clients, tasks, time entries, comments</a:t>
            </a:r>
            <a:endParaRPr lang="en-US" sz="1800" dirty="0"/>
          </a:p>
        </p:txBody>
      </p:sp>
      <p:sp>
        <p:nvSpPr>
          <p:cNvPr id="35" name="Module card Assets and meetings"/>
          <p:cNvSpPr/>
          <p:nvPr/>
        </p:nvSpPr>
        <p:spPr>
          <a:xfrm>
            <a:off x="8046720" y="4526280"/>
            <a:ext cx="3566160" cy="1371600"/>
          </a:xfrm>
          <a:prstGeom prst="roundRect">
            <a:avLst>
              <a:gd name="adj" fmla="val 8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36" name="Module Assets and meetings circle"/>
          <p:cNvSpPr/>
          <p:nvPr/>
        </p:nvSpPr>
        <p:spPr>
          <a:xfrm>
            <a:off x="8275320" y="4873752"/>
            <a:ext cx="685800" cy="685800"/>
          </a:xfrm>
          <a:prstGeom prst="ellipse">
            <a:avLst/>
          </a:prstGeom>
          <a:solidFill>
            <a:schemeClr val="accent1"/>
          </a:solidFill>
          <a:ln/>
        </p:spPr>
        <p:txBody>
          <a:bodyPr/>
          <a:lstStyle/>
          <a:p>
            <a:endParaRPr lang="en-US"/>
          </a:p>
        </p:txBody>
      </p:sp>
      <p:pic>
        <p:nvPicPr>
          <p:cNvPr id="37" name="Module Assets and meetings icon" descr="preencoded.png"/>
          <p:cNvPicPr>
            <a:picLocks noChangeAspect="1"/>
          </p:cNvPicPr>
          <p:nvPr/>
        </p:nvPicPr>
        <p:blipFill>
          <a:blip r:embed="rId11"/>
          <a:stretch>
            <a:fillRect/>
          </a:stretch>
        </p:blipFill>
        <p:spPr>
          <a:xfrm>
            <a:off x="8467344" y="5065776"/>
            <a:ext cx="301752" cy="301752"/>
          </a:xfrm>
          <a:prstGeom prst="rect">
            <a:avLst/>
          </a:prstGeom>
        </p:spPr>
      </p:pic>
      <p:sp>
        <p:nvSpPr>
          <p:cNvPr id="38" name="Module text Assets and meetings"/>
          <p:cNvSpPr txBox="1"/>
          <p:nvPr/>
        </p:nvSpPr>
        <p:spPr>
          <a:xfrm>
            <a:off x="9144000" y="4526280"/>
            <a:ext cx="2331720" cy="13716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Assets and meetings</a:t>
            </a:r>
            <a:endParaRPr lang="en-US" sz="1800" dirty="0"/>
          </a:p>
          <a:p>
            <a:pPr marL="0" indent="0">
              <a:buNone/>
            </a:pPr>
            <a:r>
              <a:rPr lang="en-US" sz="1400" dirty="0">
                <a:solidFill>
                  <a:srgbClr val="5B6478"/>
                </a:solidFill>
                <a:latin typeface="Calibri" pitchFamily="34" charset="0"/>
                <a:ea typeface="Calibri" pitchFamily="34" charset="-122"/>
                <a:cs typeface="Calibri" pitchFamily="34" charset="-120"/>
              </a:rPr>
              <a:t>Assign and track, schedule without clashes</a:t>
            </a:r>
            <a:endParaRPr lang="en-US" sz="1800" dirty="0"/>
          </a:p>
        </p:txBody>
      </p:sp>
      <p:sp>
        <p:nvSpPr>
          <p:cNvPr id="39"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bg1"/>
                </a:solidFill>
                <a:latin typeface="Calibri" pitchFamily="34" charset="0"/>
                <a:ea typeface="Calibri" pitchFamily="34" charset="-122"/>
                <a:cs typeface="Calibri" pitchFamily="34" charset="-120"/>
              </a:rPr>
              <a:t>AI built in, provider of your choice</a:t>
            </a:r>
            <a:endParaRPr lang="en-US" sz="3600" dirty="0"/>
          </a:p>
        </p:txBody>
      </p:sp>
      <p:sp>
        <p:nvSpPr>
          <p:cNvPr id="3" name="AI card 1"/>
          <p:cNvSpPr/>
          <p:nvPr/>
        </p:nvSpPr>
        <p:spPr>
          <a:xfrm>
            <a:off x="548640" y="1645920"/>
            <a:ext cx="3566160" cy="2651760"/>
          </a:xfrm>
          <a:prstGeom prst="roundRect">
            <a:avLst>
              <a:gd name="adj" fmla="val 4828"/>
            </a:avLst>
          </a:prstGeom>
          <a:solidFill>
            <a:schemeClr val="bg1">
              <a:alpha val="10000"/>
            </a:schemeClr>
          </a:solidFill>
          <a:ln w="12700">
            <a:solidFill>
              <a:srgbClr val="C3CDEF"/>
            </a:solidFill>
            <a:prstDash val="solid"/>
          </a:ln>
        </p:spPr>
        <p:txBody>
          <a:bodyPr/>
          <a:lstStyle/>
          <a:p>
            <a:endParaRPr lang="en-US"/>
          </a:p>
        </p:txBody>
      </p:sp>
      <p:sp>
        <p:nvSpPr>
          <p:cNvPr id="4" name="AI 1 circle"/>
          <p:cNvSpPr/>
          <p:nvPr/>
        </p:nvSpPr>
        <p:spPr>
          <a:xfrm>
            <a:off x="868680" y="1920240"/>
            <a:ext cx="822960" cy="822960"/>
          </a:xfrm>
          <a:prstGeom prst="ellipse">
            <a:avLst/>
          </a:prstGeom>
          <a:solidFill>
            <a:srgbClr val="EC4899"/>
          </a:solidFill>
          <a:ln/>
        </p:spPr>
        <p:txBody>
          <a:bodyPr/>
          <a:lstStyle/>
          <a:p>
            <a:endParaRPr lang="en-US"/>
          </a:p>
        </p:txBody>
      </p:sp>
      <p:pic>
        <p:nvPicPr>
          <p:cNvPr id="5" name="AI 1 icon" descr="preencoded.png"/>
          <p:cNvPicPr>
            <a:picLocks noChangeAspect="1"/>
          </p:cNvPicPr>
          <p:nvPr/>
        </p:nvPicPr>
        <p:blipFill>
          <a:blip r:embed="rId3"/>
          <a:stretch>
            <a:fillRect/>
          </a:stretch>
        </p:blipFill>
        <p:spPr>
          <a:xfrm>
            <a:off x="1099109" y="2150669"/>
            <a:ext cx="362102" cy="362102"/>
          </a:xfrm>
          <a:prstGeom prst="rect">
            <a:avLst/>
          </a:prstGeom>
        </p:spPr>
      </p:pic>
      <p:sp>
        <p:nvSpPr>
          <p:cNvPr id="6" name="AI title 1"/>
          <p:cNvSpPr txBox="1"/>
          <p:nvPr/>
        </p:nvSpPr>
        <p:spPr>
          <a:xfrm>
            <a:off x="868680" y="2926080"/>
            <a:ext cx="2926080" cy="41148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Assessment generation</a:t>
            </a:r>
            <a:endParaRPr lang="en-US" sz="2200" dirty="0"/>
          </a:p>
        </p:txBody>
      </p:sp>
      <p:sp>
        <p:nvSpPr>
          <p:cNvPr id="7" name="AI text 1"/>
          <p:cNvSpPr txBox="1"/>
          <p:nvPr/>
        </p:nvSpPr>
        <p:spPr>
          <a:xfrm>
            <a:off x="868680" y="3383280"/>
            <a:ext cx="2926080" cy="822960"/>
          </a:xfrm>
          <a:prstGeom prst="rect">
            <a:avLst/>
          </a:prstGeom>
          <a:noFill/>
          <a:ln/>
        </p:spPr>
        <p:txBody>
          <a:bodyPr wrap="square" lIns="0" tIns="0" rIns="0" bIns="0" rtlCol="0" anchor="t"/>
          <a:lstStyle/>
          <a:p>
            <a:pPr marL="0" indent="0">
              <a:buNone/>
            </a:pPr>
            <a:r>
              <a:rPr lang="en-US" sz="1500" dirty="0">
                <a:solidFill>
                  <a:srgbClr val="DFE5F7"/>
                </a:solidFill>
                <a:latin typeface="Calibri" pitchFamily="34" charset="0"/>
                <a:ea typeface="Calibri" pitchFamily="34" charset="-122"/>
                <a:cs typeface="Calibri" pitchFamily="34" charset="-120"/>
              </a:rPr>
              <a:t>Generate recruitment test questions with one click</a:t>
            </a:r>
            <a:endParaRPr lang="en-US" sz="1500" dirty="0"/>
          </a:p>
        </p:txBody>
      </p:sp>
      <p:sp>
        <p:nvSpPr>
          <p:cNvPr id="8" name="AI card 2"/>
          <p:cNvSpPr/>
          <p:nvPr/>
        </p:nvSpPr>
        <p:spPr>
          <a:xfrm>
            <a:off x="4297680" y="1645920"/>
            <a:ext cx="3566160" cy="2651760"/>
          </a:xfrm>
          <a:prstGeom prst="roundRect">
            <a:avLst>
              <a:gd name="adj" fmla="val 4828"/>
            </a:avLst>
          </a:prstGeom>
          <a:solidFill>
            <a:schemeClr val="bg1">
              <a:alpha val="10000"/>
            </a:schemeClr>
          </a:solidFill>
          <a:ln w="12700">
            <a:solidFill>
              <a:srgbClr val="C3CDEF"/>
            </a:solidFill>
            <a:prstDash val="solid"/>
          </a:ln>
        </p:spPr>
        <p:txBody>
          <a:bodyPr/>
          <a:lstStyle/>
          <a:p>
            <a:endParaRPr lang="en-US"/>
          </a:p>
        </p:txBody>
      </p:sp>
      <p:sp>
        <p:nvSpPr>
          <p:cNvPr id="9" name="AI 2 circle"/>
          <p:cNvSpPr/>
          <p:nvPr/>
        </p:nvSpPr>
        <p:spPr>
          <a:xfrm>
            <a:off x="4617720" y="1920240"/>
            <a:ext cx="822960" cy="822960"/>
          </a:xfrm>
          <a:prstGeom prst="ellipse">
            <a:avLst/>
          </a:prstGeom>
          <a:solidFill>
            <a:srgbClr val="EC4899"/>
          </a:solidFill>
          <a:ln/>
        </p:spPr>
        <p:txBody>
          <a:bodyPr/>
          <a:lstStyle/>
          <a:p>
            <a:endParaRPr lang="en-US"/>
          </a:p>
        </p:txBody>
      </p:sp>
      <p:pic>
        <p:nvPicPr>
          <p:cNvPr id="10" name="AI 2 icon" descr="preencoded.png"/>
          <p:cNvPicPr>
            <a:picLocks noChangeAspect="1"/>
          </p:cNvPicPr>
          <p:nvPr/>
        </p:nvPicPr>
        <p:blipFill>
          <a:blip r:embed="rId4"/>
          <a:stretch>
            <a:fillRect/>
          </a:stretch>
        </p:blipFill>
        <p:spPr>
          <a:xfrm>
            <a:off x="4848149" y="2150669"/>
            <a:ext cx="362102" cy="362102"/>
          </a:xfrm>
          <a:prstGeom prst="rect">
            <a:avLst/>
          </a:prstGeom>
        </p:spPr>
      </p:pic>
      <p:sp>
        <p:nvSpPr>
          <p:cNvPr id="11" name="AI title 2"/>
          <p:cNvSpPr txBox="1"/>
          <p:nvPr/>
        </p:nvSpPr>
        <p:spPr>
          <a:xfrm>
            <a:off x="4617720" y="2926080"/>
            <a:ext cx="2926080" cy="41148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Automatic grading</a:t>
            </a:r>
            <a:endParaRPr lang="en-US" sz="2200" dirty="0"/>
          </a:p>
        </p:txBody>
      </p:sp>
      <p:sp>
        <p:nvSpPr>
          <p:cNvPr id="12" name="AI text 2"/>
          <p:cNvSpPr txBox="1"/>
          <p:nvPr/>
        </p:nvSpPr>
        <p:spPr>
          <a:xfrm>
            <a:off x="4617720" y="3383280"/>
            <a:ext cx="2926080" cy="822960"/>
          </a:xfrm>
          <a:prstGeom prst="rect">
            <a:avLst/>
          </a:prstGeom>
          <a:noFill/>
          <a:ln/>
        </p:spPr>
        <p:txBody>
          <a:bodyPr wrap="square" lIns="0" tIns="0" rIns="0" bIns="0" rtlCol="0" anchor="t"/>
          <a:lstStyle/>
          <a:p>
            <a:pPr marL="0" indent="0">
              <a:buNone/>
            </a:pPr>
            <a:r>
              <a:rPr lang="en-US" sz="1500" dirty="0">
                <a:solidFill>
                  <a:srgbClr val="DFE5F7"/>
                </a:solidFill>
                <a:latin typeface="Calibri" pitchFamily="34" charset="0"/>
                <a:ea typeface="Calibri" pitchFamily="34" charset="-122"/>
                <a:cs typeface="Calibri" pitchFamily="34" charset="-120"/>
              </a:rPr>
              <a:t>Short-text answers are graded and queued in the background</a:t>
            </a:r>
            <a:endParaRPr lang="en-US" sz="1500" dirty="0"/>
          </a:p>
        </p:txBody>
      </p:sp>
      <p:sp>
        <p:nvSpPr>
          <p:cNvPr id="13" name="AI card 3"/>
          <p:cNvSpPr/>
          <p:nvPr/>
        </p:nvSpPr>
        <p:spPr>
          <a:xfrm>
            <a:off x="8046720" y="1645920"/>
            <a:ext cx="3566160" cy="2651760"/>
          </a:xfrm>
          <a:prstGeom prst="roundRect">
            <a:avLst>
              <a:gd name="adj" fmla="val 4828"/>
            </a:avLst>
          </a:prstGeom>
          <a:solidFill>
            <a:schemeClr val="bg1">
              <a:alpha val="10000"/>
            </a:schemeClr>
          </a:solidFill>
          <a:ln w="12700">
            <a:solidFill>
              <a:srgbClr val="C3CDEF"/>
            </a:solidFill>
            <a:prstDash val="solid"/>
          </a:ln>
        </p:spPr>
        <p:txBody>
          <a:bodyPr/>
          <a:lstStyle/>
          <a:p>
            <a:endParaRPr lang="en-US"/>
          </a:p>
        </p:txBody>
      </p:sp>
      <p:sp>
        <p:nvSpPr>
          <p:cNvPr id="14" name="AI 3 circle"/>
          <p:cNvSpPr/>
          <p:nvPr/>
        </p:nvSpPr>
        <p:spPr>
          <a:xfrm>
            <a:off x="8366760" y="1920240"/>
            <a:ext cx="822960" cy="822960"/>
          </a:xfrm>
          <a:prstGeom prst="ellipse">
            <a:avLst/>
          </a:prstGeom>
          <a:solidFill>
            <a:srgbClr val="EC4899"/>
          </a:solidFill>
          <a:ln/>
        </p:spPr>
        <p:txBody>
          <a:bodyPr/>
          <a:lstStyle/>
          <a:p>
            <a:endParaRPr lang="en-US"/>
          </a:p>
        </p:txBody>
      </p:sp>
      <p:pic>
        <p:nvPicPr>
          <p:cNvPr id="15" name="AI 3 icon" descr="preencoded.png"/>
          <p:cNvPicPr>
            <a:picLocks noChangeAspect="1"/>
          </p:cNvPicPr>
          <p:nvPr/>
        </p:nvPicPr>
        <p:blipFill>
          <a:blip r:embed="rId5"/>
          <a:stretch>
            <a:fillRect/>
          </a:stretch>
        </p:blipFill>
        <p:spPr>
          <a:xfrm>
            <a:off x="8597189" y="2150669"/>
            <a:ext cx="362102" cy="362102"/>
          </a:xfrm>
          <a:prstGeom prst="rect">
            <a:avLst/>
          </a:prstGeom>
        </p:spPr>
      </p:pic>
      <p:sp>
        <p:nvSpPr>
          <p:cNvPr id="16" name="AI title 3"/>
          <p:cNvSpPr txBox="1"/>
          <p:nvPr/>
        </p:nvSpPr>
        <p:spPr>
          <a:xfrm>
            <a:off x="8366760" y="2926080"/>
            <a:ext cx="2926080" cy="41148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AI KPI report</a:t>
            </a:r>
            <a:endParaRPr lang="en-US" sz="2200" dirty="0"/>
          </a:p>
        </p:txBody>
      </p:sp>
      <p:sp>
        <p:nvSpPr>
          <p:cNvPr id="17" name="AI text 3"/>
          <p:cNvSpPr txBox="1"/>
          <p:nvPr/>
        </p:nvSpPr>
        <p:spPr>
          <a:xfrm>
            <a:off x="8366760" y="3383280"/>
            <a:ext cx="2926080" cy="822960"/>
          </a:xfrm>
          <a:prstGeom prst="rect">
            <a:avLst/>
          </a:prstGeom>
          <a:noFill/>
          <a:ln/>
        </p:spPr>
        <p:txBody>
          <a:bodyPr wrap="square" lIns="0" tIns="0" rIns="0" bIns="0" rtlCol="0" anchor="t"/>
          <a:lstStyle/>
          <a:p>
            <a:pPr marL="0" indent="0">
              <a:buNone/>
            </a:pPr>
            <a:r>
              <a:rPr lang="en-US" sz="1500" dirty="0">
                <a:solidFill>
                  <a:srgbClr val="DFE5F7"/>
                </a:solidFill>
                <a:latin typeface="Calibri" pitchFamily="34" charset="0"/>
                <a:ea typeface="Calibri" pitchFamily="34" charset="-122"/>
                <a:cs typeface="Calibri" pitchFamily="34" charset="-120"/>
              </a:rPr>
              <a:t>Staff performance summary with a written impression</a:t>
            </a:r>
            <a:endParaRPr lang="en-US" sz="1500" dirty="0"/>
          </a:p>
        </p:txBody>
      </p:sp>
      <p:sp>
        <p:nvSpPr>
          <p:cNvPr id="18" name="Providers label"/>
          <p:cNvSpPr txBox="1"/>
          <p:nvPr/>
        </p:nvSpPr>
        <p:spPr>
          <a:xfrm>
            <a:off x="548640" y="4892040"/>
            <a:ext cx="274320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WORKS WITH</a:t>
            </a:r>
            <a:endParaRPr lang="en-US" sz="1400" dirty="0"/>
          </a:p>
        </p:txBody>
      </p:sp>
      <p:sp>
        <p:nvSpPr>
          <p:cNvPr id="19" name="Provider chip Groq (default)"/>
          <p:cNvSpPr/>
          <p:nvPr/>
        </p:nvSpPr>
        <p:spPr>
          <a:xfrm>
            <a:off x="548640" y="5257800"/>
            <a:ext cx="2194560" cy="594360"/>
          </a:xfrm>
          <a:prstGeom prst="roundRect">
            <a:avLst>
              <a:gd name="adj" fmla="val 49231"/>
            </a:avLst>
          </a:prstGeom>
          <a:solidFill>
            <a:schemeClr val="bg1">
              <a:alpha val="15000"/>
            </a:schemeClr>
          </a:solidFill>
          <a:ln w="12700">
            <a:solidFill>
              <a:srgbClr val="C3CDEF"/>
            </a:solidFill>
            <a:prstDash val="solid"/>
          </a:ln>
        </p:spPr>
        <p:txBody>
          <a:bodyPr/>
          <a:lstStyle/>
          <a:p>
            <a:endParaRPr lang="en-US"/>
          </a:p>
        </p:txBody>
      </p:sp>
      <p:sp>
        <p:nvSpPr>
          <p:cNvPr id="20" name="Provider label Groq (default)"/>
          <p:cNvSpPr txBox="1"/>
          <p:nvPr/>
        </p:nvSpPr>
        <p:spPr>
          <a:xfrm>
            <a:off x="548640" y="5257800"/>
            <a:ext cx="2194560" cy="59436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Groq (default)</a:t>
            </a:r>
            <a:endParaRPr lang="en-US" sz="1600" dirty="0"/>
          </a:p>
        </p:txBody>
      </p:sp>
      <p:sp>
        <p:nvSpPr>
          <p:cNvPr id="21" name="Provider chip OpenAI"/>
          <p:cNvSpPr/>
          <p:nvPr/>
        </p:nvSpPr>
        <p:spPr>
          <a:xfrm>
            <a:off x="2926080" y="5257800"/>
            <a:ext cx="2194560" cy="594360"/>
          </a:xfrm>
          <a:prstGeom prst="roundRect">
            <a:avLst>
              <a:gd name="adj" fmla="val 49231"/>
            </a:avLst>
          </a:prstGeom>
          <a:solidFill>
            <a:schemeClr val="bg1">
              <a:alpha val="15000"/>
            </a:schemeClr>
          </a:solidFill>
          <a:ln w="12700">
            <a:solidFill>
              <a:srgbClr val="C3CDEF"/>
            </a:solidFill>
            <a:prstDash val="solid"/>
          </a:ln>
        </p:spPr>
        <p:txBody>
          <a:bodyPr/>
          <a:lstStyle/>
          <a:p>
            <a:endParaRPr lang="en-US"/>
          </a:p>
        </p:txBody>
      </p:sp>
      <p:sp>
        <p:nvSpPr>
          <p:cNvPr id="22" name="Provider label OpenAI"/>
          <p:cNvSpPr txBox="1"/>
          <p:nvPr/>
        </p:nvSpPr>
        <p:spPr>
          <a:xfrm>
            <a:off x="2926080" y="5257800"/>
            <a:ext cx="2194560" cy="59436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OpenAI</a:t>
            </a:r>
            <a:endParaRPr lang="en-US" sz="1600" dirty="0"/>
          </a:p>
        </p:txBody>
      </p:sp>
      <p:sp>
        <p:nvSpPr>
          <p:cNvPr id="23" name="Provider chip Anthropic"/>
          <p:cNvSpPr/>
          <p:nvPr/>
        </p:nvSpPr>
        <p:spPr>
          <a:xfrm>
            <a:off x="5303520" y="5257800"/>
            <a:ext cx="2194560" cy="594360"/>
          </a:xfrm>
          <a:prstGeom prst="roundRect">
            <a:avLst>
              <a:gd name="adj" fmla="val 49231"/>
            </a:avLst>
          </a:prstGeom>
          <a:solidFill>
            <a:schemeClr val="bg1">
              <a:alpha val="15000"/>
            </a:schemeClr>
          </a:solidFill>
          <a:ln w="12700">
            <a:solidFill>
              <a:srgbClr val="C3CDEF"/>
            </a:solidFill>
            <a:prstDash val="solid"/>
          </a:ln>
        </p:spPr>
        <p:txBody>
          <a:bodyPr/>
          <a:lstStyle/>
          <a:p>
            <a:endParaRPr lang="en-US"/>
          </a:p>
        </p:txBody>
      </p:sp>
      <p:sp>
        <p:nvSpPr>
          <p:cNvPr id="24" name="Provider label Anthropic"/>
          <p:cNvSpPr txBox="1"/>
          <p:nvPr/>
        </p:nvSpPr>
        <p:spPr>
          <a:xfrm>
            <a:off x="5303520" y="5257800"/>
            <a:ext cx="2194560" cy="59436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Anthropic</a:t>
            </a:r>
            <a:endParaRPr lang="en-US" sz="1600" dirty="0"/>
          </a:p>
        </p:txBody>
      </p:sp>
      <p:sp>
        <p:nvSpPr>
          <p:cNvPr id="25" name="Provider chip Gemini"/>
          <p:cNvSpPr/>
          <p:nvPr/>
        </p:nvSpPr>
        <p:spPr>
          <a:xfrm>
            <a:off x="7680960" y="5257800"/>
            <a:ext cx="2194560" cy="594360"/>
          </a:xfrm>
          <a:prstGeom prst="roundRect">
            <a:avLst>
              <a:gd name="adj" fmla="val 49231"/>
            </a:avLst>
          </a:prstGeom>
          <a:solidFill>
            <a:schemeClr val="bg1">
              <a:alpha val="15000"/>
            </a:schemeClr>
          </a:solidFill>
          <a:ln w="12700">
            <a:solidFill>
              <a:srgbClr val="C3CDEF"/>
            </a:solidFill>
            <a:prstDash val="solid"/>
          </a:ln>
        </p:spPr>
        <p:txBody>
          <a:bodyPr/>
          <a:lstStyle/>
          <a:p>
            <a:endParaRPr lang="en-US"/>
          </a:p>
        </p:txBody>
      </p:sp>
      <p:sp>
        <p:nvSpPr>
          <p:cNvPr id="26" name="Provider label Gemini"/>
          <p:cNvSpPr txBox="1"/>
          <p:nvPr/>
        </p:nvSpPr>
        <p:spPr>
          <a:xfrm>
            <a:off x="7680960" y="5257800"/>
            <a:ext cx="2194560" cy="59436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Gemini</a:t>
            </a:r>
            <a:endParaRPr lang="en-US" sz="1600" dirty="0"/>
          </a:p>
        </p:txBody>
      </p:sp>
      <p:sp>
        <p:nvSpPr>
          <p:cNvPr id="27"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C3CDE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Live demo</a:t>
            </a:r>
            <a:endParaRPr lang="en-US" sz="3600" dirty="0"/>
          </a:p>
        </p:txBody>
      </p:sp>
      <p:sp>
        <p:nvSpPr>
          <p:cNvPr id="3" name="Demo number circle 1"/>
          <p:cNvSpPr/>
          <p:nvPr/>
        </p:nvSpPr>
        <p:spPr>
          <a:xfrm>
            <a:off x="548640" y="1417320"/>
            <a:ext cx="457200" cy="457200"/>
          </a:xfrm>
          <a:prstGeom prst="ellipse">
            <a:avLst/>
          </a:prstGeom>
          <a:solidFill>
            <a:schemeClr val="accent1"/>
          </a:solidFill>
          <a:ln/>
        </p:spPr>
        <p:txBody>
          <a:bodyPr/>
          <a:lstStyle/>
          <a:p>
            <a:endParaRPr lang="en-US"/>
          </a:p>
        </p:txBody>
      </p:sp>
      <p:sp>
        <p:nvSpPr>
          <p:cNvPr id="4" name="Demo number 1"/>
          <p:cNvSpPr txBox="1"/>
          <p:nvPr/>
        </p:nvSpPr>
        <p:spPr>
          <a:xfrm>
            <a:off x="54864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Demo step 1"/>
          <p:cNvSpPr txBox="1"/>
          <p:nvPr/>
        </p:nvSpPr>
        <p:spPr>
          <a:xfrm>
            <a:off x="1234440" y="141732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Sign up  </a:t>
            </a:r>
            <a:r>
              <a:rPr lang="en-US" sz="1600" dirty="0">
                <a:solidFill>
                  <a:srgbClr val="5B6478"/>
                </a:solidFill>
                <a:latin typeface="Calibri" pitchFamily="34" charset="0"/>
                <a:ea typeface="Calibri" pitchFamily="34" charset="-122"/>
                <a:cs typeface="Calibri" pitchFamily="34" charset="-120"/>
              </a:rPr>
              <a:t>Landing page, choose a package</a:t>
            </a:r>
            <a:endParaRPr lang="en-US" sz="1800" dirty="0"/>
          </a:p>
        </p:txBody>
      </p:sp>
      <p:sp>
        <p:nvSpPr>
          <p:cNvPr id="6" name="Demo number circle 2"/>
          <p:cNvSpPr/>
          <p:nvPr/>
        </p:nvSpPr>
        <p:spPr>
          <a:xfrm>
            <a:off x="548640" y="2057400"/>
            <a:ext cx="457200" cy="457200"/>
          </a:xfrm>
          <a:prstGeom prst="ellipse">
            <a:avLst/>
          </a:prstGeom>
          <a:solidFill>
            <a:schemeClr val="accent1"/>
          </a:solidFill>
          <a:ln/>
        </p:spPr>
        <p:txBody>
          <a:bodyPr/>
          <a:lstStyle/>
          <a:p>
            <a:endParaRPr lang="en-US"/>
          </a:p>
        </p:txBody>
      </p:sp>
      <p:sp>
        <p:nvSpPr>
          <p:cNvPr id="7" name="Demo number 2"/>
          <p:cNvSpPr txBox="1"/>
          <p:nvPr/>
        </p:nvSpPr>
        <p:spPr>
          <a:xfrm>
            <a:off x="548640" y="20574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8" name="Demo step 2"/>
          <p:cNvSpPr txBox="1"/>
          <p:nvPr/>
        </p:nvSpPr>
        <p:spPr>
          <a:xfrm>
            <a:off x="1234440" y="205740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Approve  </a:t>
            </a:r>
            <a:r>
              <a:rPr lang="en-US" sz="1600" dirty="0">
                <a:solidFill>
                  <a:srgbClr val="5B6478"/>
                </a:solidFill>
                <a:latin typeface="Calibri" pitchFamily="34" charset="0"/>
                <a:ea typeface="Calibri" pitchFamily="34" charset="-122"/>
                <a:cs typeface="Calibri" pitchFamily="34" charset="-120"/>
              </a:rPr>
              <a:t>Super-admin reviews the application</a:t>
            </a:r>
            <a:endParaRPr lang="en-US" sz="1800" dirty="0"/>
          </a:p>
        </p:txBody>
      </p:sp>
      <p:sp>
        <p:nvSpPr>
          <p:cNvPr id="9" name="Demo number circle 3"/>
          <p:cNvSpPr/>
          <p:nvPr/>
        </p:nvSpPr>
        <p:spPr>
          <a:xfrm>
            <a:off x="548640" y="2697480"/>
            <a:ext cx="457200" cy="457200"/>
          </a:xfrm>
          <a:prstGeom prst="ellipse">
            <a:avLst/>
          </a:prstGeom>
          <a:solidFill>
            <a:schemeClr val="accent1"/>
          </a:solidFill>
          <a:ln/>
        </p:spPr>
        <p:txBody>
          <a:bodyPr/>
          <a:lstStyle/>
          <a:p>
            <a:endParaRPr lang="en-US"/>
          </a:p>
        </p:txBody>
      </p:sp>
      <p:sp>
        <p:nvSpPr>
          <p:cNvPr id="10" name="Demo number 3"/>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1" name="Demo step 3"/>
          <p:cNvSpPr txBox="1"/>
          <p:nvPr/>
        </p:nvSpPr>
        <p:spPr>
          <a:xfrm>
            <a:off x="1234440" y="269748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Log in  </a:t>
            </a:r>
            <a:r>
              <a:rPr lang="en-US" sz="1600" dirty="0">
                <a:solidFill>
                  <a:srgbClr val="5B6478"/>
                </a:solidFill>
                <a:latin typeface="Calibri" pitchFamily="34" charset="0"/>
                <a:ea typeface="Calibri" pitchFamily="34" charset="-122"/>
                <a:cs typeface="Calibri" pitchFamily="34" charset="-120"/>
              </a:rPr>
              <a:t>New company Admin, first-login password change</a:t>
            </a:r>
            <a:endParaRPr lang="en-US" sz="1800" dirty="0"/>
          </a:p>
        </p:txBody>
      </p:sp>
      <p:sp>
        <p:nvSpPr>
          <p:cNvPr id="12" name="Demo number circle 4"/>
          <p:cNvSpPr/>
          <p:nvPr/>
        </p:nvSpPr>
        <p:spPr>
          <a:xfrm>
            <a:off x="548640" y="3337560"/>
            <a:ext cx="457200" cy="457200"/>
          </a:xfrm>
          <a:prstGeom prst="ellipse">
            <a:avLst/>
          </a:prstGeom>
          <a:solidFill>
            <a:schemeClr val="accent1"/>
          </a:solidFill>
          <a:ln/>
        </p:spPr>
        <p:txBody>
          <a:bodyPr/>
          <a:lstStyle/>
          <a:p>
            <a:endParaRPr lang="en-US"/>
          </a:p>
        </p:txBody>
      </p:sp>
      <p:sp>
        <p:nvSpPr>
          <p:cNvPr id="13" name="Demo number 4"/>
          <p:cNvSpPr txBox="1"/>
          <p:nvPr/>
        </p:nvSpPr>
        <p:spPr>
          <a:xfrm>
            <a:off x="548640" y="33375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4" name="Demo step 4"/>
          <p:cNvSpPr txBox="1"/>
          <p:nvPr/>
        </p:nvSpPr>
        <p:spPr>
          <a:xfrm>
            <a:off x="1234440" y="333756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Dashboard  </a:t>
            </a:r>
            <a:r>
              <a:rPr lang="en-US" sz="1600" dirty="0">
                <a:solidFill>
                  <a:srgbClr val="5B6478"/>
                </a:solidFill>
                <a:latin typeface="Calibri" pitchFamily="34" charset="0"/>
                <a:ea typeface="Calibri" pitchFamily="34" charset="-122"/>
                <a:cs typeface="Calibri" pitchFamily="34" charset="-120"/>
              </a:rPr>
              <a:t>Role-aware overview</a:t>
            </a:r>
            <a:endParaRPr lang="en-US" sz="1800" dirty="0"/>
          </a:p>
        </p:txBody>
      </p:sp>
      <p:sp>
        <p:nvSpPr>
          <p:cNvPr id="15" name="Demo number circle 5"/>
          <p:cNvSpPr/>
          <p:nvPr/>
        </p:nvSpPr>
        <p:spPr>
          <a:xfrm>
            <a:off x="548640" y="3977640"/>
            <a:ext cx="457200" cy="457200"/>
          </a:xfrm>
          <a:prstGeom prst="ellipse">
            <a:avLst/>
          </a:prstGeom>
          <a:solidFill>
            <a:schemeClr val="accent1"/>
          </a:solidFill>
          <a:ln/>
        </p:spPr>
        <p:txBody>
          <a:bodyPr/>
          <a:lstStyle/>
          <a:p>
            <a:endParaRPr lang="en-US"/>
          </a:p>
        </p:txBody>
      </p:sp>
      <p:sp>
        <p:nvSpPr>
          <p:cNvPr id="16" name="Demo number 5"/>
          <p:cNvSpPr txBox="1"/>
          <p:nvPr/>
        </p:nvSpPr>
        <p:spPr>
          <a:xfrm>
            <a:off x="548640" y="39776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17" name="Demo step 5"/>
          <p:cNvSpPr txBox="1"/>
          <p:nvPr/>
        </p:nvSpPr>
        <p:spPr>
          <a:xfrm>
            <a:off x="1234440" y="397764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Attendance  </a:t>
            </a:r>
            <a:r>
              <a:rPr lang="en-US" sz="1600" dirty="0">
                <a:solidFill>
                  <a:srgbClr val="5B6478"/>
                </a:solidFill>
                <a:latin typeface="Calibri" pitchFamily="34" charset="0"/>
                <a:ea typeface="Calibri" pitchFamily="34" charset="-122"/>
                <a:cs typeface="Calibri" pitchFamily="34" charset="-120"/>
              </a:rPr>
              <a:t>Check in with the restrictions on</a:t>
            </a:r>
            <a:endParaRPr lang="en-US" sz="1800" dirty="0"/>
          </a:p>
        </p:txBody>
      </p:sp>
      <p:sp>
        <p:nvSpPr>
          <p:cNvPr id="18" name="Demo number circle 6"/>
          <p:cNvSpPr/>
          <p:nvPr/>
        </p:nvSpPr>
        <p:spPr>
          <a:xfrm>
            <a:off x="548640" y="4617720"/>
            <a:ext cx="457200" cy="457200"/>
          </a:xfrm>
          <a:prstGeom prst="ellipse">
            <a:avLst/>
          </a:prstGeom>
          <a:solidFill>
            <a:schemeClr val="accent1"/>
          </a:solidFill>
          <a:ln/>
        </p:spPr>
        <p:txBody>
          <a:bodyPr/>
          <a:lstStyle/>
          <a:p>
            <a:endParaRPr lang="en-US"/>
          </a:p>
        </p:txBody>
      </p:sp>
      <p:sp>
        <p:nvSpPr>
          <p:cNvPr id="19" name="Demo number 6"/>
          <p:cNvSpPr txBox="1"/>
          <p:nvPr/>
        </p:nvSpPr>
        <p:spPr>
          <a:xfrm>
            <a:off x="548640"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6</a:t>
            </a:r>
            <a:endParaRPr lang="en-US" sz="1600" dirty="0"/>
          </a:p>
        </p:txBody>
      </p:sp>
      <p:sp>
        <p:nvSpPr>
          <p:cNvPr id="20" name="Demo step 6"/>
          <p:cNvSpPr txBox="1"/>
          <p:nvPr/>
        </p:nvSpPr>
        <p:spPr>
          <a:xfrm>
            <a:off x="1234440" y="461772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Roster  </a:t>
            </a:r>
            <a:r>
              <a:rPr lang="en-US" sz="1600" dirty="0">
                <a:solidFill>
                  <a:srgbClr val="5B6478"/>
                </a:solidFill>
                <a:latin typeface="Calibri" pitchFamily="34" charset="0"/>
                <a:ea typeface="Calibri" pitchFamily="34" charset="-122"/>
                <a:cs typeface="Calibri" pitchFamily="34" charset="-120"/>
              </a:rPr>
              <a:t>Auto-generated schedule</a:t>
            </a:r>
            <a:endParaRPr lang="en-US" sz="1800" dirty="0"/>
          </a:p>
        </p:txBody>
      </p:sp>
      <p:sp>
        <p:nvSpPr>
          <p:cNvPr id="21" name="Demo number circle 7"/>
          <p:cNvSpPr/>
          <p:nvPr/>
        </p:nvSpPr>
        <p:spPr>
          <a:xfrm>
            <a:off x="548640" y="5257800"/>
            <a:ext cx="457200" cy="457200"/>
          </a:xfrm>
          <a:prstGeom prst="ellipse">
            <a:avLst/>
          </a:prstGeom>
          <a:solidFill>
            <a:schemeClr val="accent1"/>
          </a:solidFill>
          <a:ln/>
        </p:spPr>
        <p:txBody>
          <a:bodyPr/>
          <a:lstStyle/>
          <a:p>
            <a:endParaRPr lang="en-US"/>
          </a:p>
        </p:txBody>
      </p:sp>
      <p:sp>
        <p:nvSpPr>
          <p:cNvPr id="22" name="Demo number 7"/>
          <p:cNvSpPr txBox="1"/>
          <p:nvPr/>
        </p:nvSpPr>
        <p:spPr>
          <a:xfrm>
            <a:off x="548640" y="52578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7</a:t>
            </a:r>
            <a:endParaRPr lang="en-US" sz="1600" dirty="0"/>
          </a:p>
        </p:txBody>
      </p:sp>
      <p:sp>
        <p:nvSpPr>
          <p:cNvPr id="23" name="Demo step 7"/>
          <p:cNvSpPr txBox="1"/>
          <p:nvPr/>
        </p:nvSpPr>
        <p:spPr>
          <a:xfrm>
            <a:off x="1234440" y="5257800"/>
            <a:ext cx="576072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Leave  </a:t>
            </a:r>
            <a:r>
              <a:rPr lang="en-US" sz="1600" dirty="0">
                <a:solidFill>
                  <a:srgbClr val="5B6478"/>
                </a:solidFill>
                <a:latin typeface="Calibri" pitchFamily="34" charset="0"/>
                <a:ea typeface="Calibri" pitchFamily="34" charset="-122"/>
                <a:cs typeface="Calibri" pitchFamily="34" charset="-120"/>
              </a:rPr>
              <a:t>Request, then approve as a manager</a:t>
            </a:r>
            <a:endParaRPr lang="en-US" sz="1800" dirty="0"/>
          </a:p>
        </p:txBody>
      </p:sp>
      <p:sp>
        <p:nvSpPr>
          <p:cNvPr id="24" name="Demo panel"/>
          <p:cNvSpPr/>
          <p:nvPr/>
        </p:nvSpPr>
        <p:spPr>
          <a:xfrm>
            <a:off x="7315200" y="1417320"/>
            <a:ext cx="4297680" cy="4343400"/>
          </a:xfrm>
          <a:prstGeom prst="roundRect">
            <a:avLst>
              <a:gd name="adj" fmla="val 2979"/>
            </a:avLst>
          </a:prstGeom>
          <a:solidFill>
            <a:schemeClr val="tx2"/>
          </a:solidFill>
          <a:ln/>
          <a:effectLst>
            <a:outerShdw blurRad="101600" dist="25400" dir="5400000" algn="bl" rotWithShape="0">
              <a:srgbClr val="1E2761">
                <a:alpha val="12000"/>
              </a:srgbClr>
            </a:outerShdw>
          </a:effectLst>
        </p:spPr>
        <p:txBody>
          <a:bodyPr/>
          <a:lstStyle/>
          <a:p>
            <a:endParaRPr lang="en-US"/>
          </a:p>
        </p:txBody>
      </p:sp>
      <p:sp>
        <p:nvSpPr>
          <p:cNvPr id="25" name="Panel label"/>
          <p:cNvSpPr txBox="1"/>
          <p:nvPr/>
        </p:nvSpPr>
        <p:spPr>
          <a:xfrm>
            <a:off x="7680960" y="1737360"/>
            <a:ext cx="3657600" cy="274320"/>
          </a:xfrm>
          <a:prstGeom prst="rect">
            <a:avLst/>
          </a:prstGeom>
          <a:noFill/>
          <a:ln/>
        </p:spPr>
        <p:txBody>
          <a:bodyPr wrap="square" lIns="0" tIns="0" rIns="0" bIns="0" rtlCol="0" anchor="t"/>
          <a:lstStyle/>
          <a:p>
            <a:pPr marL="0" indent="0">
              <a:buNone/>
            </a:pPr>
            <a:r>
              <a:rPr lang="en-US" sz="1400" b="1" kern="0" spc="200" dirty="0">
                <a:solidFill>
                  <a:srgbClr val="9DAAE2"/>
                </a:solidFill>
                <a:latin typeface="Calibri" pitchFamily="34" charset="0"/>
                <a:ea typeface="Calibri" pitchFamily="34" charset="-122"/>
                <a:cs typeface="Calibri" pitchFamily="34" charset="-120"/>
              </a:rPr>
              <a:t>RUNNING LOCALLY</a:t>
            </a:r>
            <a:endParaRPr lang="en-US" sz="1400" dirty="0"/>
          </a:p>
        </p:txBody>
      </p:sp>
      <p:sp>
        <p:nvSpPr>
          <p:cNvPr id="26" name="URL card 1"/>
          <p:cNvSpPr/>
          <p:nvPr/>
        </p:nvSpPr>
        <p:spPr>
          <a:xfrm>
            <a:off x="7680960" y="2240280"/>
            <a:ext cx="3566160" cy="868680"/>
          </a:xfrm>
          <a:prstGeom prst="roundRect">
            <a:avLst>
              <a:gd name="adj" fmla="val 10526"/>
            </a:avLst>
          </a:prstGeom>
          <a:solidFill>
            <a:schemeClr val="bg1">
              <a:alpha val="10000"/>
            </a:schemeClr>
          </a:solidFill>
          <a:ln w="9525">
            <a:solidFill>
              <a:srgbClr val="9DAAE2"/>
            </a:solidFill>
            <a:prstDash val="solid"/>
          </a:ln>
        </p:spPr>
        <p:txBody>
          <a:bodyPr/>
          <a:lstStyle/>
          <a:p>
            <a:endParaRPr lang="en-US"/>
          </a:p>
        </p:txBody>
      </p:sp>
      <p:sp>
        <p:nvSpPr>
          <p:cNvPr id="27" name="URL text 1"/>
          <p:cNvSpPr txBox="1"/>
          <p:nvPr/>
        </p:nvSpPr>
        <p:spPr>
          <a:xfrm>
            <a:off x="7909560" y="2240280"/>
            <a:ext cx="3200400" cy="868680"/>
          </a:xfrm>
          <a:prstGeom prst="rect">
            <a:avLst/>
          </a:prstGeom>
          <a:noFill/>
          <a:ln/>
        </p:spPr>
        <p:txBody>
          <a:bodyPr wrap="square" lIns="0" tIns="0" rIns="0" bIns="0" rtlCol="0" anchor="ctr"/>
          <a:lstStyle/>
          <a:p>
            <a:pPr marL="0" indent="0">
              <a:buNone/>
            </a:pPr>
            <a:r>
              <a:rPr lang="en-US" sz="2000" b="1" dirty="0">
                <a:solidFill>
                  <a:schemeClr val="bg1"/>
                </a:solidFill>
                <a:latin typeface="Courier New" pitchFamily="34" charset="0"/>
                <a:ea typeface="Courier New" pitchFamily="34" charset="-122"/>
                <a:cs typeface="Courier New" pitchFamily="34" charset="-120"/>
              </a:rPr>
              <a:t>localhost:5174</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SaaS site and super-admin</a:t>
            </a:r>
            <a:endParaRPr lang="en-US" sz="2000" dirty="0"/>
          </a:p>
        </p:txBody>
      </p:sp>
      <p:sp>
        <p:nvSpPr>
          <p:cNvPr id="28" name="URL card 2"/>
          <p:cNvSpPr/>
          <p:nvPr/>
        </p:nvSpPr>
        <p:spPr>
          <a:xfrm>
            <a:off x="7680960" y="3291840"/>
            <a:ext cx="3566160" cy="868680"/>
          </a:xfrm>
          <a:prstGeom prst="roundRect">
            <a:avLst>
              <a:gd name="adj" fmla="val 10526"/>
            </a:avLst>
          </a:prstGeom>
          <a:solidFill>
            <a:schemeClr val="bg1">
              <a:alpha val="10000"/>
            </a:schemeClr>
          </a:solidFill>
          <a:ln w="9525">
            <a:solidFill>
              <a:srgbClr val="9DAAE2"/>
            </a:solidFill>
            <a:prstDash val="solid"/>
          </a:ln>
        </p:spPr>
        <p:txBody>
          <a:bodyPr/>
          <a:lstStyle/>
          <a:p>
            <a:endParaRPr lang="en-US"/>
          </a:p>
        </p:txBody>
      </p:sp>
      <p:sp>
        <p:nvSpPr>
          <p:cNvPr id="29" name="URL text 2"/>
          <p:cNvSpPr txBox="1"/>
          <p:nvPr/>
        </p:nvSpPr>
        <p:spPr>
          <a:xfrm>
            <a:off x="7909560" y="3291840"/>
            <a:ext cx="3200400" cy="868680"/>
          </a:xfrm>
          <a:prstGeom prst="rect">
            <a:avLst/>
          </a:prstGeom>
          <a:noFill/>
          <a:ln/>
        </p:spPr>
        <p:txBody>
          <a:bodyPr wrap="square" lIns="0" tIns="0" rIns="0" bIns="0" rtlCol="0" anchor="ctr"/>
          <a:lstStyle/>
          <a:p>
            <a:pPr marL="0" indent="0">
              <a:buNone/>
            </a:pPr>
            <a:r>
              <a:rPr lang="en-US" sz="2000" b="1" dirty="0">
                <a:solidFill>
                  <a:schemeClr val="bg1"/>
                </a:solidFill>
                <a:latin typeface="Courier New" pitchFamily="34" charset="0"/>
                <a:ea typeface="Courier New" pitchFamily="34" charset="-122"/>
                <a:cs typeface="Courier New" pitchFamily="34" charset="-120"/>
              </a:rPr>
              <a:t>localhost:5173</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Company portal</a:t>
            </a:r>
            <a:endParaRPr lang="en-US" sz="2000" dirty="0"/>
          </a:p>
        </p:txBody>
      </p:sp>
      <p:sp>
        <p:nvSpPr>
          <p:cNvPr id="30" name="URL card 3"/>
          <p:cNvSpPr/>
          <p:nvPr/>
        </p:nvSpPr>
        <p:spPr>
          <a:xfrm>
            <a:off x="7680960" y="4343400"/>
            <a:ext cx="3566160" cy="868680"/>
          </a:xfrm>
          <a:prstGeom prst="roundRect">
            <a:avLst>
              <a:gd name="adj" fmla="val 10526"/>
            </a:avLst>
          </a:prstGeom>
          <a:solidFill>
            <a:schemeClr val="bg1">
              <a:alpha val="10000"/>
            </a:schemeClr>
          </a:solidFill>
          <a:ln w="9525">
            <a:solidFill>
              <a:srgbClr val="9DAAE2"/>
            </a:solidFill>
            <a:prstDash val="solid"/>
          </a:ln>
        </p:spPr>
        <p:txBody>
          <a:bodyPr/>
          <a:lstStyle/>
          <a:p>
            <a:endParaRPr lang="en-US"/>
          </a:p>
        </p:txBody>
      </p:sp>
      <p:sp>
        <p:nvSpPr>
          <p:cNvPr id="31" name="URL text 3"/>
          <p:cNvSpPr txBox="1"/>
          <p:nvPr/>
        </p:nvSpPr>
        <p:spPr>
          <a:xfrm>
            <a:off x="7909560" y="4343400"/>
            <a:ext cx="3200400" cy="868680"/>
          </a:xfrm>
          <a:prstGeom prst="rect">
            <a:avLst/>
          </a:prstGeom>
          <a:noFill/>
          <a:ln/>
        </p:spPr>
        <p:txBody>
          <a:bodyPr wrap="square" lIns="0" tIns="0" rIns="0" bIns="0" rtlCol="0" anchor="ctr"/>
          <a:lstStyle/>
          <a:p>
            <a:pPr marL="0" indent="0">
              <a:buNone/>
            </a:pPr>
            <a:r>
              <a:rPr lang="en-US" sz="2000" b="1" dirty="0">
                <a:solidFill>
                  <a:schemeClr val="bg1"/>
                </a:solidFill>
                <a:latin typeface="Courier New" pitchFamily="34" charset="0"/>
                <a:ea typeface="Courier New" pitchFamily="34" charset="-122"/>
                <a:cs typeface="Courier New" pitchFamily="34" charset="-120"/>
              </a:rPr>
              <a:t>localhost:4000</a:t>
            </a:r>
            <a:endParaRPr lang="en-US" sz="2000" dirty="0"/>
          </a:p>
          <a:p>
            <a:pPr marL="0" indent="0">
              <a:buNone/>
            </a:pPr>
            <a:r>
              <a:rPr lang="en-US" sz="1400" dirty="0">
                <a:solidFill>
                  <a:srgbClr val="C3CDEF"/>
                </a:solidFill>
                <a:latin typeface="Calibri" pitchFamily="34" charset="0"/>
                <a:ea typeface="Calibri" pitchFamily="34" charset="-122"/>
                <a:cs typeface="Calibri" pitchFamily="34" charset="-120"/>
              </a:rPr>
              <a:t>API server</a:t>
            </a:r>
            <a:endParaRPr lang="en-US" sz="2000" dirty="0"/>
          </a:p>
        </p:txBody>
      </p:sp>
      <p:sp>
        <p:nvSpPr>
          <p:cNvPr id="32" name="Compose command"/>
          <p:cNvSpPr txBox="1"/>
          <p:nvPr/>
        </p:nvSpPr>
        <p:spPr>
          <a:xfrm>
            <a:off x="7680960" y="5349240"/>
            <a:ext cx="3566160" cy="274320"/>
          </a:xfrm>
          <a:prstGeom prst="rect">
            <a:avLst/>
          </a:prstGeom>
          <a:noFill/>
          <a:ln/>
        </p:spPr>
        <p:txBody>
          <a:bodyPr wrap="square" lIns="0" tIns="0" rIns="0" bIns="0" rtlCol="0" anchor="t"/>
          <a:lstStyle/>
          <a:p>
            <a:pPr marL="0" indent="0">
              <a:buNone/>
            </a:pPr>
            <a:r>
              <a:rPr lang="en-US" sz="1400" dirty="0">
                <a:solidFill>
                  <a:srgbClr val="9DAAE2"/>
                </a:solidFill>
                <a:latin typeface="Courier New" pitchFamily="34" charset="0"/>
                <a:ea typeface="Courier New" pitchFamily="34" charset="-122"/>
                <a:cs typeface="Courier New" pitchFamily="34" charset="-120"/>
              </a:rPr>
              <a:t>docker compose up --build</a:t>
            </a:r>
            <a:endParaRPr lang="en-US" sz="1400" dirty="0"/>
          </a:p>
        </p:txBody>
      </p:sp>
      <p:sp>
        <p:nvSpPr>
          <p:cNvPr id="33"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Engineering quality and what's next</a:t>
            </a:r>
            <a:endParaRPr lang="en-US" sz="3600" dirty="0"/>
          </a:p>
        </p:txBody>
      </p:sp>
      <p:sp>
        <p:nvSpPr>
          <p:cNvPr id="3" name="Quality card"/>
          <p:cNvSpPr/>
          <p:nvPr/>
        </p:nvSpPr>
        <p:spPr>
          <a:xfrm>
            <a:off x="548640" y="1417320"/>
            <a:ext cx="5486400" cy="4526280"/>
          </a:xfrm>
          <a:prstGeom prst="roundRect">
            <a:avLst>
              <a:gd name="adj" fmla="val 2424"/>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Quality label"/>
          <p:cNvSpPr txBox="1"/>
          <p:nvPr/>
        </p:nvSpPr>
        <p:spPr>
          <a:xfrm>
            <a:off x="914400" y="1645920"/>
            <a:ext cx="3657600" cy="274320"/>
          </a:xfrm>
          <a:prstGeom prst="rect">
            <a:avLst/>
          </a:prstGeom>
          <a:noFill/>
          <a:ln/>
        </p:spPr>
        <p:txBody>
          <a:bodyPr wrap="square" lIns="0" tIns="0" rIns="0" bIns="0" rtlCol="0" anchor="t"/>
          <a:lstStyle/>
          <a:p>
            <a:pPr marL="0" indent="0">
              <a:buNone/>
            </a:pPr>
            <a:r>
              <a:rPr lang="en-US" sz="1400" b="1" kern="0" spc="200" dirty="0">
                <a:solidFill>
                  <a:schemeClr val="accent1"/>
                </a:solidFill>
                <a:latin typeface="Calibri" pitchFamily="34" charset="0"/>
                <a:ea typeface="Calibri" pitchFamily="34" charset="-122"/>
                <a:cs typeface="Calibri" pitchFamily="34" charset="-120"/>
              </a:rPr>
              <a:t>HOW IT'S BUILT</a:t>
            </a:r>
            <a:endParaRPr lang="en-US" sz="1400" dirty="0"/>
          </a:p>
        </p:txBody>
      </p:sp>
      <p:sp>
        <p:nvSpPr>
          <p:cNvPr id="5" name="Quality 1 circle"/>
          <p:cNvSpPr/>
          <p:nvPr/>
        </p:nvSpPr>
        <p:spPr>
          <a:xfrm>
            <a:off x="914400" y="2148840"/>
            <a:ext cx="640080" cy="640080"/>
          </a:xfrm>
          <a:prstGeom prst="ellipse">
            <a:avLst/>
          </a:prstGeom>
          <a:solidFill>
            <a:schemeClr val="accent1"/>
          </a:solidFill>
          <a:ln/>
        </p:spPr>
        <p:txBody>
          <a:bodyPr/>
          <a:lstStyle/>
          <a:p>
            <a:endParaRPr lang="en-US"/>
          </a:p>
        </p:txBody>
      </p:sp>
      <p:pic>
        <p:nvPicPr>
          <p:cNvPr id="6" name="Quality 1 icon" descr="preencoded.png"/>
          <p:cNvPicPr>
            <a:picLocks noChangeAspect="1"/>
          </p:cNvPicPr>
          <p:nvPr/>
        </p:nvPicPr>
        <p:blipFill>
          <a:blip r:embed="rId3"/>
          <a:stretch>
            <a:fillRect/>
          </a:stretch>
        </p:blipFill>
        <p:spPr>
          <a:xfrm>
            <a:off x="1093622" y="2328062"/>
            <a:ext cx="281635" cy="281635"/>
          </a:xfrm>
          <a:prstGeom prst="rect">
            <a:avLst/>
          </a:prstGeom>
        </p:spPr>
      </p:pic>
      <p:sp>
        <p:nvSpPr>
          <p:cNvPr id="7" name="Quality text 1"/>
          <p:cNvSpPr txBox="1"/>
          <p:nvPr/>
        </p:nvSpPr>
        <p:spPr>
          <a:xfrm>
            <a:off x="1737360" y="2148840"/>
            <a:ext cx="4023360" cy="6400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Fully dockerised stack</a:t>
            </a:r>
            <a:endParaRPr lang="en-US" sz="1800" dirty="0"/>
          </a:p>
        </p:txBody>
      </p:sp>
      <p:sp>
        <p:nvSpPr>
          <p:cNvPr id="8" name="Quality 2 circle"/>
          <p:cNvSpPr/>
          <p:nvPr/>
        </p:nvSpPr>
        <p:spPr>
          <a:xfrm>
            <a:off x="914400" y="3063240"/>
            <a:ext cx="640080" cy="640080"/>
          </a:xfrm>
          <a:prstGeom prst="ellipse">
            <a:avLst/>
          </a:prstGeom>
          <a:solidFill>
            <a:schemeClr val="accent1"/>
          </a:solidFill>
          <a:ln/>
        </p:spPr>
        <p:txBody>
          <a:bodyPr/>
          <a:lstStyle/>
          <a:p>
            <a:endParaRPr lang="en-US"/>
          </a:p>
        </p:txBody>
      </p:sp>
      <p:pic>
        <p:nvPicPr>
          <p:cNvPr id="9" name="Quality 2 icon" descr="preencoded.png"/>
          <p:cNvPicPr>
            <a:picLocks noChangeAspect="1"/>
          </p:cNvPicPr>
          <p:nvPr/>
        </p:nvPicPr>
        <p:blipFill>
          <a:blip r:embed="rId4"/>
          <a:stretch>
            <a:fillRect/>
          </a:stretch>
        </p:blipFill>
        <p:spPr>
          <a:xfrm>
            <a:off x="1093622" y="3242462"/>
            <a:ext cx="281635" cy="281635"/>
          </a:xfrm>
          <a:prstGeom prst="rect">
            <a:avLst/>
          </a:prstGeom>
        </p:spPr>
      </p:pic>
      <p:sp>
        <p:nvSpPr>
          <p:cNvPr id="10" name="Quality text 2"/>
          <p:cNvSpPr txBox="1"/>
          <p:nvPr/>
        </p:nvSpPr>
        <p:spPr>
          <a:xfrm>
            <a:off x="1737360" y="3063240"/>
            <a:ext cx="4023360" cy="6400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GitHub Actions CI on every push</a:t>
            </a:r>
            <a:endParaRPr lang="en-US" sz="1800" dirty="0"/>
          </a:p>
        </p:txBody>
      </p:sp>
      <p:sp>
        <p:nvSpPr>
          <p:cNvPr id="11" name="Quality 3 circle"/>
          <p:cNvSpPr/>
          <p:nvPr/>
        </p:nvSpPr>
        <p:spPr>
          <a:xfrm>
            <a:off x="914400" y="3977640"/>
            <a:ext cx="640080" cy="640080"/>
          </a:xfrm>
          <a:prstGeom prst="ellipse">
            <a:avLst/>
          </a:prstGeom>
          <a:solidFill>
            <a:schemeClr val="accent1"/>
          </a:solidFill>
          <a:ln/>
        </p:spPr>
        <p:txBody>
          <a:bodyPr/>
          <a:lstStyle/>
          <a:p>
            <a:endParaRPr lang="en-US"/>
          </a:p>
        </p:txBody>
      </p:sp>
      <p:pic>
        <p:nvPicPr>
          <p:cNvPr id="12" name="Quality 3 icon" descr="preencoded.png"/>
          <p:cNvPicPr>
            <a:picLocks noChangeAspect="1"/>
          </p:cNvPicPr>
          <p:nvPr/>
        </p:nvPicPr>
        <p:blipFill>
          <a:blip r:embed="rId5"/>
          <a:stretch>
            <a:fillRect/>
          </a:stretch>
        </p:blipFill>
        <p:spPr>
          <a:xfrm>
            <a:off x="1093622" y="4156862"/>
            <a:ext cx="281635" cy="281635"/>
          </a:xfrm>
          <a:prstGeom prst="rect">
            <a:avLst/>
          </a:prstGeom>
        </p:spPr>
      </p:pic>
      <p:sp>
        <p:nvSpPr>
          <p:cNvPr id="13" name="Quality text 3"/>
          <p:cNvSpPr txBox="1"/>
          <p:nvPr/>
        </p:nvSpPr>
        <p:spPr>
          <a:xfrm>
            <a:off x="1737360" y="3977640"/>
            <a:ext cx="4023360" cy="6400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Jest and Supertest tests on real tenant databases</a:t>
            </a:r>
            <a:endParaRPr lang="en-US" sz="1800" dirty="0"/>
          </a:p>
        </p:txBody>
      </p:sp>
      <p:sp>
        <p:nvSpPr>
          <p:cNvPr id="14" name="Quality 4 circle"/>
          <p:cNvSpPr/>
          <p:nvPr/>
        </p:nvSpPr>
        <p:spPr>
          <a:xfrm>
            <a:off x="914400" y="4892040"/>
            <a:ext cx="640080" cy="640080"/>
          </a:xfrm>
          <a:prstGeom prst="ellipse">
            <a:avLst/>
          </a:prstGeom>
          <a:solidFill>
            <a:schemeClr val="accent1"/>
          </a:solidFill>
          <a:ln/>
        </p:spPr>
        <p:txBody>
          <a:bodyPr/>
          <a:lstStyle/>
          <a:p>
            <a:endParaRPr lang="en-US"/>
          </a:p>
        </p:txBody>
      </p:sp>
      <p:pic>
        <p:nvPicPr>
          <p:cNvPr id="15" name="Quality 4 icon" descr="preencoded.png"/>
          <p:cNvPicPr>
            <a:picLocks noChangeAspect="1"/>
          </p:cNvPicPr>
          <p:nvPr/>
        </p:nvPicPr>
        <p:blipFill>
          <a:blip r:embed="rId6"/>
          <a:stretch>
            <a:fillRect/>
          </a:stretch>
        </p:blipFill>
        <p:spPr>
          <a:xfrm>
            <a:off x="1093622" y="5071262"/>
            <a:ext cx="281635" cy="281635"/>
          </a:xfrm>
          <a:prstGeom prst="rect">
            <a:avLst/>
          </a:prstGeom>
        </p:spPr>
      </p:pic>
      <p:sp>
        <p:nvSpPr>
          <p:cNvPr id="16" name="Quality text 4"/>
          <p:cNvSpPr txBox="1"/>
          <p:nvPr/>
        </p:nvSpPr>
        <p:spPr>
          <a:xfrm>
            <a:off x="1737360" y="4892040"/>
            <a:ext cx="4023360" cy="6400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Monorepo with shared UI and types</a:t>
            </a:r>
            <a:endParaRPr lang="en-US" sz="1800" dirty="0"/>
          </a:p>
        </p:txBody>
      </p:sp>
      <p:sp>
        <p:nvSpPr>
          <p:cNvPr id="17" name="Future card"/>
          <p:cNvSpPr/>
          <p:nvPr/>
        </p:nvSpPr>
        <p:spPr>
          <a:xfrm>
            <a:off x="6309360" y="1417320"/>
            <a:ext cx="5330952" cy="4526280"/>
          </a:xfrm>
          <a:prstGeom prst="roundRect">
            <a:avLst>
              <a:gd name="adj" fmla="val 2424"/>
            </a:avLst>
          </a:prstGeom>
          <a:solidFill>
            <a:schemeClr val="accent1"/>
          </a:solidFill>
          <a:ln/>
          <a:effectLst>
            <a:outerShdw blurRad="101600" dist="25400" dir="5400000" algn="bl" rotWithShape="0">
              <a:srgbClr val="1E2761">
                <a:alpha val="12000"/>
              </a:srgbClr>
            </a:outerShdw>
          </a:effectLst>
        </p:spPr>
        <p:txBody>
          <a:bodyPr/>
          <a:lstStyle/>
          <a:p>
            <a:endParaRPr lang="en-US"/>
          </a:p>
        </p:txBody>
      </p:sp>
      <p:sp>
        <p:nvSpPr>
          <p:cNvPr id="18" name="Future label"/>
          <p:cNvSpPr txBox="1"/>
          <p:nvPr/>
        </p:nvSpPr>
        <p:spPr>
          <a:xfrm>
            <a:off x="6675120" y="1645920"/>
            <a:ext cx="365760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FUTURE WORK</a:t>
            </a:r>
            <a:endParaRPr lang="en-US" sz="1400" dirty="0"/>
          </a:p>
        </p:txBody>
      </p:sp>
      <p:sp>
        <p:nvSpPr>
          <p:cNvPr id="19" name="Future bullets"/>
          <p:cNvSpPr txBox="1"/>
          <p:nvPr/>
        </p:nvSpPr>
        <p:spPr>
          <a:xfrm>
            <a:off x="6675120" y="2286000"/>
            <a:ext cx="4572000" cy="3474720"/>
          </a:xfrm>
          <a:prstGeom prst="rect">
            <a:avLst/>
          </a:prstGeom>
          <a:noFill/>
          <a:ln/>
        </p:spPr>
        <p:txBody>
          <a:bodyPr wrap="square" lIns="0" tIns="0" rIns="0" bIns="0" rtlCol="0" anchor="t"/>
          <a:lstStyle/>
          <a:p>
            <a:pPr marL="342900" indent="-342900">
              <a:spcAft>
                <a:spcPts val="2400"/>
              </a:spcAft>
              <a:buSzPct val="100000"/>
              <a:buChar char="•"/>
            </a:pPr>
            <a:r>
              <a:rPr lang="en-US" sz="2000" dirty="0">
                <a:solidFill>
                  <a:schemeClr val="bg1"/>
                </a:solidFill>
                <a:latin typeface="Calibri" pitchFamily="34" charset="0"/>
                <a:ea typeface="Calibri" pitchFamily="34" charset="-122"/>
                <a:cs typeface="Calibri" pitchFamily="34" charset="-120"/>
              </a:rPr>
              <a:t>Full NZ and AU tax compliance in payroll</a:t>
            </a:r>
            <a:endParaRPr lang="en-US" sz="2000" dirty="0"/>
          </a:p>
          <a:p>
            <a:pPr marL="342900" indent="-342900">
              <a:spcAft>
                <a:spcPts val="2400"/>
              </a:spcAft>
              <a:buSzPct val="100000"/>
              <a:buChar char="•"/>
            </a:pPr>
            <a:r>
              <a:rPr lang="en-US" sz="2000" dirty="0">
                <a:solidFill>
                  <a:schemeClr val="bg1"/>
                </a:solidFill>
                <a:latin typeface="Calibri" pitchFamily="34" charset="0"/>
                <a:ea typeface="Calibri" pitchFamily="34" charset="-122"/>
                <a:cs typeface="Calibri" pitchFamily="34" charset="-120"/>
              </a:rPr>
              <a:t>More in-app notification triggers</a:t>
            </a:r>
            <a:endParaRPr lang="en-US" sz="2000" dirty="0"/>
          </a:p>
          <a:p>
            <a:pPr marL="342900" indent="-342900">
              <a:spcAft>
                <a:spcPts val="2400"/>
              </a:spcAft>
              <a:buSzPct val="100000"/>
              <a:buChar char="•"/>
            </a:pPr>
            <a:r>
              <a:rPr lang="en-US" sz="2000" dirty="0">
                <a:solidFill>
                  <a:schemeClr val="bg1"/>
                </a:solidFill>
                <a:latin typeface="Calibri" pitchFamily="34" charset="0"/>
                <a:ea typeface="Calibri" pitchFamily="34" charset="-122"/>
                <a:cs typeface="Calibri" pitchFamily="34" charset="-120"/>
              </a:rPr>
              <a:t>Audit logging of sensitive actions</a:t>
            </a:r>
            <a:endParaRPr lang="en-US" sz="2000" dirty="0"/>
          </a:p>
          <a:p>
            <a:pPr marL="342900" indent="-342900">
              <a:spcAft>
                <a:spcPts val="2400"/>
              </a:spcAft>
              <a:buSzPct val="100000"/>
              <a:buChar char="•"/>
            </a:pPr>
            <a:r>
              <a:rPr lang="en-US" sz="2000" dirty="0">
                <a:solidFill>
                  <a:schemeClr val="bg1"/>
                </a:solidFill>
                <a:latin typeface="Calibri" pitchFamily="34" charset="0"/>
                <a:ea typeface="Calibri" pitchFamily="34" charset="-122"/>
                <a:cs typeface="Calibri" pitchFamily="34" charset="-120"/>
              </a:rPr>
              <a:t>Mobile-friendly attendance app</a:t>
            </a:r>
            <a:endParaRPr lang="en-US" sz="2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731520" y="1005840"/>
            <a:ext cx="7315200" cy="1097280"/>
          </a:xfrm>
          <a:prstGeom prst="rect">
            <a:avLst/>
          </a:prstGeom>
          <a:noFill/>
          <a:ln/>
        </p:spPr>
        <p:txBody>
          <a:bodyPr wrap="square" lIns="0" tIns="0" rIns="0" bIns="0" rtlCol="0" anchor="t"/>
          <a:lstStyle/>
          <a:p>
            <a:pPr marL="0" indent="0">
              <a:buNone/>
            </a:pPr>
            <a:r>
              <a:rPr lang="en-US" sz="6600" b="1" dirty="0">
                <a:solidFill>
                  <a:schemeClr val="bg1"/>
                </a:solidFill>
                <a:latin typeface="Calibri" pitchFamily="34" charset="0"/>
                <a:ea typeface="Calibri" pitchFamily="34" charset="-122"/>
                <a:cs typeface="Calibri" pitchFamily="34" charset="-120"/>
              </a:rPr>
              <a:t>Thank you</a:t>
            </a:r>
            <a:endParaRPr lang="en-US" sz="6600" dirty="0"/>
          </a:p>
        </p:txBody>
      </p:sp>
      <p:sp>
        <p:nvSpPr>
          <p:cNvPr id="3" name="Questions"/>
          <p:cNvSpPr txBox="1"/>
          <p:nvPr/>
        </p:nvSpPr>
        <p:spPr>
          <a:xfrm>
            <a:off x="731520" y="2103120"/>
            <a:ext cx="7315200" cy="731520"/>
          </a:xfrm>
          <a:prstGeom prst="rect">
            <a:avLst/>
          </a:prstGeom>
          <a:noFill/>
          <a:ln/>
        </p:spPr>
        <p:txBody>
          <a:bodyPr wrap="square" lIns="0" tIns="0" rIns="0" bIns="0" rtlCol="0" anchor="t"/>
          <a:lstStyle/>
          <a:p>
            <a:pPr marL="0" indent="0">
              <a:buNone/>
            </a:pPr>
            <a:r>
              <a:rPr lang="en-US" sz="3600" b="1" dirty="0">
                <a:solidFill>
                  <a:srgbClr val="F472B6"/>
                </a:solidFill>
                <a:latin typeface="Calibri" pitchFamily="34" charset="0"/>
                <a:ea typeface="Calibri" pitchFamily="34" charset="-122"/>
                <a:cs typeface="Calibri" pitchFamily="34" charset="-120"/>
              </a:rPr>
              <a:t>Questions?</a:t>
            </a:r>
            <a:endParaRPr lang="en-US" sz="3600" dirty="0"/>
          </a:p>
        </p:txBody>
      </p:sp>
      <p:sp>
        <p:nvSpPr>
          <p:cNvPr id="4" name="Takeaway card 1"/>
          <p:cNvSpPr/>
          <p:nvPr/>
        </p:nvSpPr>
        <p:spPr>
          <a:xfrm>
            <a:off x="731520" y="3474720"/>
            <a:ext cx="3474720" cy="2103120"/>
          </a:xfrm>
          <a:prstGeom prst="roundRect">
            <a:avLst>
              <a:gd name="adj" fmla="val 6087"/>
            </a:avLst>
          </a:prstGeom>
          <a:solidFill>
            <a:schemeClr val="bg1">
              <a:alpha val="10000"/>
            </a:schemeClr>
          </a:solidFill>
          <a:ln w="12700">
            <a:solidFill>
              <a:srgbClr val="9DAAE2"/>
            </a:solidFill>
            <a:prstDash val="solid"/>
          </a:ln>
        </p:spPr>
        <p:txBody>
          <a:bodyPr/>
          <a:lstStyle/>
          <a:p>
            <a:endParaRPr lang="en-US"/>
          </a:p>
        </p:txBody>
      </p:sp>
      <p:sp>
        <p:nvSpPr>
          <p:cNvPr id="5" name="Takeaway 1 circle"/>
          <p:cNvSpPr/>
          <p:nvPr/>
        </p:nvSpPr>
        <p:spPr>
          <a:xfrm>
            <a:off x="1005840" y="3703320"/>
            <a:ext cx="640080" cy="640080"/>
          </a:xfrm>
          <a:prstGeom prst="ellipse">
            <a:avLst/>
          </a:prstGeom>
          <a:solidFill>
            <a:schemeClr val="accent1"/>
          </a:solidFill>
          <a:ln/>
        </p:spPr>
        <p:txBody>
          <a:bodyPr/>
          <a:lstStyle/>
          <a:p>
            <a:endParaRPr lang="en-US"/>
          </a:p>
        </p:txBody>
      </p:sp>
      <p:pic>
        <p:nvPicPr>
          <p:cNvPr id="6" name="Takeaway 1 icon" descr="preencoded.png"/>
          <p:cNvPicPr>
            <a:picLocks noChangeAspect="1"/>
          </p:cNvPicPr>
          <p:nvPr/>
        </p:nvPicPr>
        <p:blipFill>
          <a:blip r:embed="rId3"/>
          <a:stretch>
            <a:fillRect/>
          </a:stretch>
        </p:blipFill>
        <p:spPr>
          <a:xfrm>
            <a:off x="1185062" y="3882542"/>
            <a:ext cx="281635" cy="281635"/>
          </a:xfrm>
          <a:prstGeom prst="rect">
            <a:avLst/>
          </a:prstGeom>
        </p:spPr>
      </p:pic>
      <p:sp>
        <p:nvSpPr>
          <p:cNvPr id="7" name="Takeaway title 1"/>
          <p:cNvSpPr txBox="1"/>
          <p:nvPr/>
        </p:nvSpPr>
        <p:spPr>
          <a:xfrm>
            <a:off x="1005840" y="4526280"/>
            <a:ext cx="3017520" cy="365760"/>
          </a:xfrm>
          <a:prstGeom prst="rect">
            <a:avLst/>
          </a:prstGeom>
          <a:noFill/>
          <a:ln/>
        </p:spPr>
        <p:txBody>
          <a:bodyPr wrap="square" lIns="0" tIns="0" rIns="0" bIns="0" rtlCol="0" anchor="t"/>
          <a:lstStyle/>
          <a:p>
            <a:pPr marL="0" indent="0">
              <a:buNone/>
            </a:pPr>
            <a:r>
              <a:rPr lang="en-US" sz="2000" b="1" dirty="0">
                <a:solidFill>
                  <a:schemeClr val="bg1"/>
                </a:solidFill>
                <a:latin typeface="Calibri" pitchFamily="34" charset="0"/>
                <a:ea typeface="Calibri" pitchFamily="34" charset="-122"/>
                <a:cs typeface="Calibri" pitchFamily="34" charset="-120"/>
              </a:rPr>
              <a:t>Isolated by design</a:t>
            </a:r>
            <a:endParaRPr lang="en-US" sz="2000" dirty="0"/>
          </a:p>
        </p:txBody>
      </p:sp>
      <p:sp>
        <p:nvSpPr>
          <p:cNvPr id="8" name="Takeaway text 1"/>
          <p:cNvSpPr txBox="1"/>
          <p:nvPr/>
        </p:nvSpPr>
        <p:spPr>
          <a:xfrm>
            <a:off x="1005840" y="4937760"/>
            <a:ext cx="3017520" cy="548640"/>
          </a:xfrm>
          <a:prstGeom prst="rect">
            <a:avLst/>
          </a:prstGeom>
          <a:noFill/>
          <a:ln/>
        </p:spPr>
        <p:txBody>
          <a:bodyPr wrap="square" lIns="0" tIns="0" rIns="0" bIns="0" rtlCol="0" anchor="t"/>
          <a:lstStyle/>
          <a:p>
            <a:pPr marL="0" indent="0">
              <a:buNone/>
            </a:pPr>
            <a:r>
              <a:rPr lang="en-US" sz="1400" dirty="0">
                <a:solidFill>
                  <a:srgbClr val="C3CDEF"/>
                </a:solidFill>
                <a:latin typeface="Calibri" pitchFamily="34" charset="0"/>
                <a:ea typeface="Calibri" pitchFamily="34" charset="-122"/>
                <a:cs typeface="Calibri" pitchFamily="34" charset="-120"/>
              </a:rPr>
              <a:t>Database per company, enforced roles</a:t>
            </a:r>
            <a:endParaRPr lang="en-US" sz="1400" dirty="0"/>
          </a:p>
        </p:txBody>
      </p:sp>
      <p:sp>
        <p:nvSpPr>
          <p:cNvPr id="9" name="Takeaway card 2"/>
          <p:cNvSpPr/>
          <p:nvPr/>
        </p:nvSpPr>
        <p:spPr>
          <a:xfrm>
            <a:off x="4434840" y="3474720"/>
            <a:ext cx="3474720" cy="2103120"/>
          </a:xfrm>
          <a:prstGeom prst="roundRect">
            <a:avLst>
              <a:gd name="adj" fmla="val 6087"/>
            </a:avLst>
          </a:prstGeom>
          <a:solidFill>
            <a:schemeClr val="bg1">
              <a:alpha val="10000"/>
            </a:schemeClr>
          </a:solidFill>
          <a:ln w="12700">
            <a:solidFill>
              <a:srgbClr val="9DAAE2"/>
            </a:solidFill>
            <a:prstDash val="solid"/>
          </a:ln>
        </p:spPr>
        <p:txBody>
          <a:bodyPr/>
          <a:lstStyle/>
          <a:p>
            <a:endParaRPr lang="en-US"/>
          </a:p>
        </p:txBody>
      </p:sp>
      <p:sp>
        <p:nvSpPr>
          <p:cNvPr id="10" name="Takeaway 2 circle"/>
          <p:cNvSpPr/>
          <p:nvPr/>
        </p:nvSpPr>
        <p:spPr>
          <a:xfrm>
            <a:off x="4709160" y="3703320"/>
            <a:ext cx="640080" cy="640080"/>
          </a:xfrm>
          <a:prstGeom prst="ellipse">
            <a:avLst/>
          </a:prstGeom>
          <a:solidFill>
            <a:schemeClr val="accent1"/>
          </a:solidFill>
          <a:ln/>
        </p:spPr>
        <p:txBody>
          <a:bodyPr/>
          <a:lstStyle/>
          <a:p>
            <a:endParaRPr lang="en-US"/>
          </a:p>
        </p:txBody>
      </p:sp>
      <p:pic>
        <p:nvPicPr>
          <p:cNvPr id="11" name="Takeaway 2 icon" descr="preencoded.png"/>
          <p:cNvPicPr>
            <a:picLocks noChangeAspect="1"/>
          </p:cNvPicPr>
          <p:nvPr/>
        </p:nvPicPr>
        <p:blipFill>
          <a:blip r:embed="rId4"/>
          <a:stretch>
            <a:fillRect/>
          </a:stretch>
        </p:blipFill>
        <p:spPr>
          <a:xfrm>
            <a:off x="4888382" y="3882542"/>
            <a:ext cx="281635" cy="281635"/>
          </a:xfrm>
          <a:prstGeom prst="rect">
            <a:avLst/>
          </a:prstGeom>
        </p:spPr>
      </p:pic>
      <p:sp>
        <p:nvSpPr>
          <p:cNvPr id="12" name="Takeaway title 2"/>
          <p:cNvSpPr txBox="1"/>
          <p:nvPr/>
        </p:nvSpPr>
        <p:spPr>
          <a:xfrm>
            <a:off x="4709160" y="4526280"/>
            <a:ext cx="3017520" cy="365760"/>
          </a:xfrm>
          <a:prstGeom prst="rect">
            <a:avLst/>
          </a:prstGeom>
          <a:noFill/>
          <a:ln/>
        </p:spPr>
        <p:txBody>
          <a:bodyPr wrap="square" lIns="0" tIns="0" rIns="0" bIns="0" rtlCol="0" anchor="t"/>
          <a:lstStyle/>
          <a:p>
            <a:pPr marL="0" indent="0">
              <a:buNone/>
            </a:pPr>
            <a:r>
              <a:rPr lang="en-US" sz="2000" b="1" dirty="0">
                <a:solidFill>
                  <a:schemeClr val="bg1"/>
                </a:solidFill>
                <a:latin typeface="Calibri" pitchFamily="34" charset="0"/>
                <a:ea typeface="Calibri" pitchFamily="34" charset="-122"/>
                <a:cs typeface="Calibri" pitchFamily="34" charset="-120"/>
              </a:rPr>
              <a:t>Self-serve</a:t>
            </a:r>
            <a:endParaRPr lang="en-US" sz="2000" dirty="0"/>
          </a:p>
        </p:txBody>
      </p:sp>
      <p:sp>
        <p:nvSpPr>
          <p:cNvPr id="13" name="Takeaway text 2"/>
          <p:cNvSpPr txBox="1"/>
          <p:nvPr/>
        </p:nvSpPr>
        <p:spPr>
          <a:xfrm>
            <a:off x="4709160" y="4937760"/>
            <a:ext cx="3017520" cy="548640"/>
          </a:xfrm>
          <a:prstGeom prst="rect">
            <a:avLst/>
          </a:prstGeom>
          <a:noFill/>
          <a:ln/>
        </p:spPr>
        <p:txBody>
          <a:bodyPr wrap="square" lIns="0" tIns="0" rIns="0" bIns="0" rtlCol="0" anchor="t"/>
          <a:lstStyle/>
          <a:p>
            <a:pPr marL="0" indent="0">
              <a:buNone/>
            </a:pPr>
            <a:r>
              <a:rPr lang="en-US" sz="1400" dirty="0">
                <a:solidFill>
                  <a:srgbClr val="C3CDEF"/>
                </a:solidFill>
                <a:latin typeface="Calibri" pitchFamily="34" charset="0"/>
                <a:ea typeface="Calibri" pitchFamily="34" charset="-122"/>
                <a:cs typeface="Calibri" pitchFamily="34" charset="-120"/>
              </a:rPr>
              <a:t>Signup to running company with one approval</a:t>
            </a:r>
            <a:endParaRPr lang="en-US" sz="1400" dirty="0"/>
          </a:p>
        </p:txBody>
      </p:sp>
      <p:sp>
        <p:nvSpPr>
          <p:cNvPr id="14" name="Takeaway card 3"/>
          <p:cNvSpPr/>
          <p:nvPr/>
        </p:nvSpPr>
        <p:spPr>
          <a:xfrm>
            <a:off x="8138160" y="3474720"/>
            <a:ext cx="3474720" cy="2103120"/>
          </a:xfrm>
          <a:prstGeom prst="roundRect">
            <a:avLst>
              <a:gd name="adj" fmla="val 6087"/>
            </a:avLst>
          </a:prstGeom>
          <a:solidFill>
            <a:schemeClr val="bg1">
              <a:alpha val="10000"/>
            </a:schemeClr>
          </a:solidFill>
          <a:ln w="12700">
            <a:solidFill>
              <a:srgbClr val="9DAAE2"/>
            </a:solidFill>
            <a:prstDash val="solid"/>
          </a:ln>
        </p:spPr>
        <p:txBody>
          <a:bodyPr/>
          <a:lstStyle/>
          <a:p>
            <a:endParaRPr lang="en-US"/>
          </a:p>
        </p:txBody>
      </p:sp>
      <p:sp>
        <p:nvSpPr>
          <p:cNvPr id="15" name="Takeaway 3 circle"/>
          <p:cNvSpPr/>
          <p:nvPr/>
        </p:nvSpPr>
        <p:spPr>
          <a:xfrm>
            <a:off x="8412480" y="3703320"/>
            <a:ext cx="640080" cy="640080"/>
          </a:xfrm>
          <a:prstGeom prst="ellipse">
            <a:avLst/>
          </a:prstGeom>
          <a:solidFill>
            <a:schemeClr val="accent1"/>
          </a:solidFill>
          <a:ln/>
        </p:spPr>
        <p:txBody>
          <a:bodyPr/>
          <a:lstStyle/>
          <a:p>
            <a:endParaRPr lang="en-US"/>
          </a:p>
        </p:txBody>
      </p:sp>
      <p:pic>
        <p:nvPicPr>
          <p:cNvPr id="16" name="Takeaway 3 icon" descr="preencoded.png"/>
          <p:cNvPicPr>
            <a:picLocks noChangeAspect="1"/>
          </p:cNvPicPr>
          <p:nvPr/>
        </p:nvPicPr>
        <p:blipFill>
          <a:blip r:embed="rId5"/>
          <a:stretch>
            <a:fillRect/>
          </a:stretch>
        </p:blipFill>
        <p:spPr>
          <a:xfrm>
            <a:off x="8591702" y="3882542"/>
            <a:ext cx="281635" cy="281635"/>
          </a:xfrm>
          <a:prstGeom prst="rect">
            <a:avLst/>
          </a:prstGeom>
        </p:spPr>
      </p:pic>
      <p:sp>
        <p:nvSpPr>
          <p:cNvPr id="17" name="Takeaway title 3"/>
          <p:cNvSpPr txBox="1"/>
          <p:nvPr/>
        </p:nvSpPr>
        <p:spPr>
          <a:xfrm>
            <a:off x="8412480" y="4526280"/>
            <a:ext cx="3017520" cy="365760"/>
          </a:xfrm>
          <a:prstGeom prst="rect">
            <a:avLst/>
          </a:prstGeom>
          <a:noFill/>
          <a:ln/>
        </p:spPr>
        <p:txBody>
          <a:bodyPr wrap="square" lIns="0" tIns="0" rIns="0" bIns="0" rtlCol="0" anchor="t"/>
          <a:lstStyle/>
          <a:p>
            <a:pPr marL="0" indent="0">
              <a:buNone/>
            </a:pPr>
            <a:r>
              <a:rPr lang="en-US" sz="2000" b="1" dirty="0">
                <a:solidFill>
                  <a:schemeClr val="bg1"/>
                </a:solidFill>
                <a:latin typeface="Calibri" pitchFamily="34" charset="0"/>
                <a:ea typeface="Calibri" pitchFamily="34" charset="-122"/>
                <a:cs typeface="Calibri" pitchFamily="34" charset="-120"/>
              </a:rPr>
              <a:t>AI-ready</a:t>
            </a:r>
            <a:endParaRPr lang="en-US" sz="2000" dirty="0"/>
          </a:p>
        </p:txBody>
      </p:sp>
      <p:sp>
        <p:nvSpPr>
          <p:cNvPr id="18" name="Takeaway text 3"/>
          <p:cNvSpPr txBox="1"/>
          <p:nvPr/>
        </p:nvSpPr>
        <p:spPr>
          <a:xfrm>
            <a:off x="8412480" y="4937760"/>
            <a:ext cx="3017520" cy="548640"/>
          </a:xfrm>
          <a:prstGeom prst="rect">
            <a:avLst/>
          </a:prstGeom>
          <a:noFill/>
          <a:ln/>
        </p:spPr>
        <p:txBody>
          <a:bodyPr wrap="square" lIns="0" tIns="0" rIns="0" bIns="0" rtlCol="0" anchor="t"/>
          <a:lstStyle/>
          <a:p>
            <a:pPr marL="0" indent="0">
              <a:buNone/>
            </a:pPr>
            <a:r>
              <a:rPr lang="en-US" sz="1400" dirty="0">
                <a:solidFill>
                  <a:srgbClr val="C3CDEF"/>
                </a:solidFill>
                <a:latin typeface="Calibri" pitchFamily="34" charset="0"/>
                <a:ea typeface="Calibri" pitchFamily="34" charset="-122"/>
                <a:cs typeface="Calibri" pitchFamily="34" charset="-120"/>
              </a:rPr>
              <a:t>Pluggable providers for assessments and KPIs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DAAE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Backup: deployment topology</a:t>
            </a:r>
            <a:endParaRPr lang="en-US" sz="3600" dirty="0"/>
          </a:p>
        </p:txBody>
      </p:sp>
      <p:sp>
        <p:nvSpPr>
          <p:cNvPr id="3" name="Service mysql:8.4"/>
          <p:cNvSpPr/>
          <p:nvPr/>
        </p:nvSpPr>
        <p:spPr>
          <a:xfrm>
            <a:off x="548640" y="1417320"/>
            <a:ext cx="2743200" cy="914400"/>
          </a:xfrm>
          <a:prstGeom prst="roundRect">
            <a:avLst>
              <a:gd name="adj" fmla="val 10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4" name="Service mysql:8.4 text"/>
          <p:cNvSpPr txBox="1"/>
          <p:nvPr/>
        </p:nvSpPr>
        <p:spPr>
          <a:xfrm>
            <a:off x="713232" y="141732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mysql:8.4</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host :3307, volume mysql-data</a:t>
            </a:r>
            <a:endParaRPr lang="en-US" sz="1600" dirty="0"/>
          </a:p>
        </p:txBody>
      </p:sp>
      <p:sp>
        <p:nvSpPr>
          <p:cNvPr id="5" name="Service redis:7-alpine"/>
          <p:cNvSpPr/>
          <p:nvPr/>
        </p:nvSpPr>
        <p:spPr>
          <a:xfrm>
            <a:off x="3566160" y="1417320"/>
            <a:ext cx="2743200" cy="914400"/>
          </a:xfrm>
          <a:prstGeom prst="roundRect">
            <a:avLst>
              <a:gd name="adj" fmla="val 10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6" name="Service redis:7-alpine text"/>
          <p:cNvSpPr txBox="1"/>
          <p:nvPr/>
        </p:nvSpPr>
        <p:spPr>
          <a:xfrm>
            <a:off x="3730752" y="141732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redis:7-alpine</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AOF, volume redis-data</a:t>
            </a:r>
            <a:endParaRPr lang="en-US" sz="1600" dirty="0"/>
          </a:p>
        </p:txBody>
      </p:sp>
      <p:sp>
        <p:nvSpPr>
          <p:cNvPr id="7" name="Arrow"/>
          <p:cNvSpPr/>
          <p:nvPr/>
        </p:nvSpPr>
        <p:spPr>
          <a:xfrm>
            <a:off x="3429000" y="2331720"/>
            <a:ext cx="0" cy="320040"/>
          </a:xfrm>
          <a:prstGeom prst="line">
            <a:avLst/>
          </a:prstGeom>
          <a:noFill/>
          <a:ln w="25400">
            <a:solidFill>
              <a:schemeClr val="accent1"/>
            </a:solidFill>
            <a:prstDash val="solid"/>
            <a:tailEnd type="triangle"/>
          </a:ln>
        </p:spPr>
        <p:txBody>
          <a:bodyPr/>
          <a:lstStyle/>
          <a:p>
            <a:endParaRPr lang="en-US"/>
          </a:p>
        </p:txBody>
      </p:sp>
      <p:sp>
        <p:nvSpPr>
          <p:cNvPr id="8" name="Service migrate"/>
          <p:cNvSpPr/>
          <p:nvPr/>
        </p:nvSpPr>
        <p:spPr>
          <a:xfrm>
            <a:off x="2057400" y="2651760"/>
            <a:ext cx="2743200" cy="914400"/>
          </a:xfrm>
          <a:prstGeom prst="roundRect">
            <a:avLst>
              <a:gd name="adj" fmla="val 10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9" name="Service migrate text"/>
          <p:cNvSpPr txBox="1"/>
          <p:nvPr/>
        </p:nvSpPr>
        <p:spPr>
          <a:xfrm>
            <a:off x="2221992" y="265176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migrate</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one-shot: migrations + seed</a:t>
            </a:r>
            <a:endParaRPr lang="en-US" sz="1600" dirty="0"/>
          </a:p>
        </p:txBody>
      </p:sp>
      <p:sp>
        <p:nvSpPr>
          <p:cNvPr id="10" name="Arrow"/>
          <p:cNvSpPr/>
          <p:nvPr/>
        </p:nvSpPr>
        <p:spPr>
          <a:xfrm>
            <a:off x="3429000" y="3566160"/>
            <a:ext cx="0" cy="320040"/>
          </a:xfrm>
          <a:prstGeom prst="line">
            <a:avLst/>
          </a:prstGeom>
          <a:noFill/>
          <a:ln w="25400">
            <a:solidFill>
              <a:schemeClr val="accent1"/>
            </a:solidFill>
            <a:prstDash val="solid"/>
            <a:tailEnd type="triangle"/>
          </a:ln>
        </p:spPr>
        <p:txBody>
          <a:bodyPr/>
          <a:lstStyle/>
          <a:p>
            <a:endParaRPr lang="en-US"/>
          </a:p>
        </p:txBody>
      </p:sp>
      <p:sp>
        <p:nvSpPr>
          <p:cNvPr id="11" name="Service backend"/>
          <p:cNvSpPr/>
          <p:nvPr/>
        </p:nvSpPr>
        <p:spPr>
          <a:xfrm>
            <a:off x="548640" y="3886200"/>
            <a:ext cx="2743200" cy="914400"/>
          </a:xfrm>
          <a:prstGeom prst="roundRect">
            <a:avLst>
              <a:gd name="adj" fmla="val 10000"/>
            </a:avLst>
          </a:prstGeom>
          <a:solidFill>
            <a:srgbClr val="DFE5F7"/>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2" name="Service backend text"/>
          <p:cNvSpPr txBox="1"/>
          <p:nvPr/>
        </p:nvSpPr>
        <p:spPr>
          <a:xfrm>
            <a:off x="713232" y="388620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backend</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API :4000, /health check</a:t>
            </a:r>
            <a:endParaRPr lang="en-US" sz="1600" dirty="0"/>
          </a:p>
        </p:txBody>
      </p:sp>
      <p:sp>
        <p:nvSpPr>
          <p:cNvPr id="13" name="Service worker"/>
          <p:cNvSpPr/>
          <p:nvPr/>
        </p:nvSpPr>
        <p:spPr>
          <a:xfrm>
            <a:off x="3566160" y="3886200"/>
            <a:ext cx="2743200" cy="914400"/>
          </a:xfrm>
          <a:prstGeom prst="roundRect">
            <a:avLst>
              <a:gd name="adj" fmla="val 10000"/>
            </a:avLst>
          </a:prstGeom>
          <a:solidFill>
            <a:srgbClr val="DFE5F7"/>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4" name="Service worker text"/>
          <p:cNvSpPr txBox="1"/>
          <p:nvPr/>
        </p:nvSpPr>
        <p:spPr>
          <a:xfrm>
            <a:off x="3730752" y="388620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worker</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node dist/worker.js</a:t>
            </a:r>
            <a:endParaRPr lang="en-US" sz="1600" dirty="0"/>
          </a:p>
        </p:txBody>
      </p:sp>
      <p:sp>
        <p:nvSpPr>
          <p:cNvPr id="15" name="Arrow"/>
          <p:cNvSpPr/>
          <p:nvPr/>
        </p:nvSpPr>
        <p:spPr>
          <a:xfrm>
            <a:off x="3429000" y="4800600"/>
            <a:ext cx="0" cy="320040"/>
          </a:xfrm>
          <a:prstGeom prst="line">
            <a:avLst/>
          </a:prstGeom>
          <a:noFill/>
          <a:ln w="25400">
            <a:solidFill>
              <a:schemeClr val="accent1"/>
            </a:solidFill>
            <a:prstDash val="solid"/>
            <a:tailEnd type="triangle"/>
          </a:ln>
        </p:spPr>
        <p:txBody>
          <a:bodyPr/>
          <a:lstStyle/>
          <a:p>
            <a:endParaRPr lang="en-US"/>
          </a:p>
        </p:txBody>
      </p:sp>
      <p:sp>
        <p:nvSpPr>
          <p:cNvPr id="16" name="Service frontend"/>
          <p:cNvSpPr/>
          <p:nvPr/>
        </p:nvSpPr>
        <p:spPr>
          <a:xfrm>
            <a:off x="548640" y="5120640"/>
            <a:ext cx="2743200" cy="914400"/>
          </a:xfrm>
          <a:prstGeom prst="roundRect">
            <a:avLst>
              <a:gd name="adj" fmla="val 10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7" name="Service frontend text"/>
          <p:cNvSpPr txBox="1"/>
          <p:nvPr/>
        </p:nvSpPr>
        <p:spPr>
          <a:xfrm>
            <a:off x="713232" y="512064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frontend</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nginx :5173</a:t>
            </a:r>
            <a:endParaRPr lang="en-US" sz="1600" dirty="0"/>
          </a:p>
        </p:txBody>
      </p:sp>
      <p:sp>
        <p:nvSpPr>
          <p:cNvPr id="18" name="Service saas-frontend"/>
          <p:cNvSpPr/>
          <p:nvPr/>
        </p:nvSpPr>
        <p:spPr>
          <a:xfrm>
            <a:off x="3566160" y="5120640"/>
            <a:ext cx="2743200" cy="914400"/>
          </a:xfrm>
          <a:prstGeom prst="roundRect">
            <a:avLst>
              <a:gd name="adj" fmla="val 10000"/>
            </a:avLst>
          </a:prstGeom>
          <a:solidFill>
            <a:srgbClr val="FFFFFF"/>
          </a:solidFill>
          <a:ln w="9525">
            <a:solidFill>
              <a:srgbClr val="C3CDEF"/>
            </a:solidFill>
            <a:prstDash val="solid"/>
          </a:ln>
          <a:effectLst>
            <a:outerShdw blurRad="101600" dist="25400" dir="5400000" algn="bl" rotWithShape="0">
              <a:srgbClr val="1E2761">
                <a:alpha val="12000"/>
              </a:srgbClr>
            </a:outerShdw>
          </a:effectLst>
        </p:spPr>
        <p:txBody>
          <a:bodyPr/>
          <a:lstStyle/>
          <a:p>
            <a:endParaRPr lang="en-US"/>
          </a:p>
        </p:txBody>
      </p:sp>
      <p:sp>
        <p:nvSpPr>
          <p:cNvPr id="19" name="Service saas-frontend text"/>
          <p:cNvSpPr txBox="1"/>
          <p:nvPr/>
        </p:nvSpPr>
        <p:spPr>
          <a:xfrm>
            <a:off x="3730752" y="5120640"/>
            <a:ext cx="2414016" cy="91440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saas-frontend</a:t>
            </a:r>
            <a:endParaRPr lang="en-US" sz="1600" dirty="0"/>
          </a:p>
          <a:p>
            <a:pPr marL="0" indent="0">
              <a:buNone/>
            </a:pPr>
            <a:r>
              <a:rPr lang="en-US" sz="1400" dirty="0">
                <a:solidFill>
                  <a:srgbClr val="5B6478"/>
                </a:solidFill>
                <a:latin typeface="Calibri" pitchFamily="34" charset="0"/>
                <a:ea typeface="Calibri" pitchFamily="34" charset="-122"/>
                <a:cs typeface="Calibri" pitchFamily="34" charset="-120"/>
              </a:rPr>
              <a:t>nginx :5174</a:t>
            </a:r>
            <a:endParaRPr lang="en-US" sz="1600" dirty="0"/>
          </a:p>
        </p:txBody>
      </p:sp>
      <p:sp>
        <p:nvSpPr>
          <p:cNvPr id="20" name="Startup card"/>
          <p:cNvSpPr/>
          <p:nvPr/>
        </p:nvSpPr>
        <p:spPr>
          <a:xfrm>
            <a:off x="6949440" y="1417320"/>
            <a:ext cx="4690872" cy="4572000"/>
          </a:xfrm>
          <a:prstGeom prst="roundRect">
            <a:avLst>
              <a:gd name="adj" fmla="val 2400"/>
            </a:avLst>
          </a:prstGeom>
          <a:solidFill>
            <a:schemeClr val="tx2"/>
          </a:solidFill>
          <a:ln/>
          <a:effectLst>
            <a:outerShdw blurRad="101600" dist="25400" dir="5400000" algn="bl" rotWithShape="0">
              <a:srgbClr val="1E2761">
                <a:alpha val="12000"/>
              </a:srgbClr>
            </a:outerShdw>
          </a:effectLst>
        </p:spPr>
        <p:txBody>
          <a:bodyPr/>
          <a:lstStyle/>
          <a:p>
            <a:endParaRPr lang="en-US"/>
          </a:p>
        </p:txBody>
      </p:sp>
      <p:sp>
        <p:nvSpPr>
          <p:cNvPr id="21" name="Caption HOW IT STARTS"/>
          <p:cNvSpPr txBox="1"/>
          <p:nvPr/>
        </p:nvSpPr>
        <p:spPr>
          <a:xfrm>
            <a:off x="7269480" y="1645920"/>
            <a:ext cx="3657600" cy="274320"/>
          </a:xfrm>
          <a:prstGeom prst="rect">
            <a:avLst/>
          </a:prstGeom>
          <a:noFill/>
          <a:ln/>
        </p:spPr>
        <p:txBody>
          <a:bodyPr wrap="square" lIns="0" tIns="0" rIns="0" bIns="0" rtlCol="0" anchor="t"/>
          <a:lstStyle/>
          <a:p>
            <a:pPr marL="0" indent="0">
              <a:buNone/>
            </a:pPr>
            <a:r>
              <a:rPr lang="en-US" sz="1400" b="1" kern="0" spc="200" dirty="0">
                <a:solidFill>
                  <a:srgbClr val="C3CDEF"/>
                </a:solidFill>
                <a:latin typeface="Calibri" pitchFamily="34" charset="0"/>
                <a:ea typeface="Calibri" pitchFamily="34" charset="-122"/>
                <a:cs typeface="Calibri" pitchFamily="34" charset="-120"/>
              </a:rPr>
              <a:t>HOW IT STARTS</a:t>
            </a:r>
            <a:endParaRPr lang="en-US" sz="1400" dirty="0"/>
          </a:p>
        </p:txBody>
      </p:sp>
      <p:sp>
        <p:nvSpPr>
          <p:cNvPr id="22" name="Startup bullets"/>
          <p:cNvSpPr txBox="1"/>
          <p:nvPr/>
        </p:nvSpPr>
        <p:spPr>
          <a:xfrm>
            <a:off x="7269480" y="2103120"/>
            <a:ext cx="4069080" cy="3657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MySQL and Redis pass their health checks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migrate applies control migrations and seeds demo data</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backend starts, then worker and both frontends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Backend and worker share the uploads volume</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One image runs both the API and the worker</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libri" pitchFamily="34" charset="0"/>
                <a:ea typeface="Calibri" pitchFamily="34" charset="-122"/>
                <a:cs typeface="Calibri" pitchFamily="34" charset="-120"/>
              </a:rPr>
              <a:t>Backup: who can do what</a:t>
            </a:r>
            <a:endParaRPr lang="en-US" sz="3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242816"/>
        </p:xfrm>
        <a:graphic>
          <a:graphicData uri="http://schemas.openxmlformats.org/drawingml/2006/table">
            <a:tbl>
              <a:tblPr/>
              <a:tblGrid>
                <a:gridCol w="3657600">
                  <a:extLst>
                    <a:ext uri="{9D8B030D-6E8A-4147-A177-3AD203B41FA5}">
                      <a16:colId xmlns:a16="http://schemas.microsoft.com/office/drawing/2014/main" val="20000"/>
                    </a:ext>
                  </a:extLst>
                </a:gridCol>
                <a:gridCol w="1239012">
                  <a:extLst>
                    <a:ext uri="{9D8B030D-6E8A-4147-A177-3AD203B41FA5}">
                      <a16:colId xmlns:a16="http://schemas.microsoft.com/office/drawing/2014/main" val="20001"/>
                    </a:ext>
                  </a:extLst>
                </a:gridCol>
                <a:gridCol w="1239012">
                  <a:extLst>
                    <a:ext uri="{9D8B030D-6E8A-4147-A177-3AD203B41FA5}">
                      <a16:colId xmlns:a16="http://schemas.microsoft.com/office/drawing/2014/main" val="20002"/>
                    </a:ext>
                  </a:extLst>
                </a:gridCol>
                <a:gridCol w="1239012">
                  <a:extLst>
                    <a:ext uri="{9D8B030D-6E8A-4147-A177-3AD203B41FA5}">
                      <a16:colId xmlns:a16="http://schemas.microsoft.com/office/drawing/2014/main" val="20003"/>
                    </a:ext>
                  </a:extLst>
                </a:gridCol>
                <a:gridCol w="1239012">
                  <a:extLst>
                    <a:ext uri="{9D8B030D-6E8A-4147-A177-3AD203B41FA5}">
                      <a16:colId xmlns:a16="http://schemas.microsoft.com/office/drawing/2014/main" val="20004"/>
                    </a:ext>
                  </a:extLst>
                </a:gridCol>
                <a:gridCol w="1239012">
                  <a:extLst>
                    <a:ext uri="{9D8B030D-6E8A-4147-A177-3AD203B41FA5}">
                      <a16:colId xmlns:a16="http://schemas.microsoft.com/office/drawing/2014/main" val="20005"/>
                    </a:ext>
                  </a:extLst>
                </a:gridCol>
                <a:gridCol w="1239012">
                  <a:extLst>
                    <a:ext uri="{9D8B030D-6E8A-4147-A177-3AD203B41FA5}">
                      <a16:colId xmlns:a16="http://schemas.microsoft.com/office/drawing/2014/main" val="20006"/>
                    </a:ext>
                  </a:extLst>
                </a:gridCol>
              </a:tblGrid>
              <a:tr h="530352">
                <a:tc>
                  <a:txBody>
                    <a:bodyPr/>
                    <a:lstStyle/>
                    <a:p>
                      <a:pPr marL="0" indent="0" algn="l">
                        <a:buNone/>
                      </a:pPr>
                      <a:r>
                        <a:rPr lang="en-US" sz="1600" b="1" dirty="0">
                          <a:solidFill>
                            <a:schemeClr val="bg1"/>
                          </a:solidFill>
                          <a:latin typeface="Calibri" pitchFamily="34" charset="0"/>
                          <a:ea typeface="Calibri" pitchFamily="34" charset="-122"/>
                          <a:cs typeface="Calibri" pitchFamily="34" charset="-120"/>
                        </a:rPr>
                        <a:t>Capability</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Admin</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HR</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Manager</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Staff</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Payroll</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Finance</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Own attendance, leave, payslips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Employees and settings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View</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Rosters and duty schedules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Recruitment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extLst>
                  <a:ext uri="{0D108BD9-81ED-4DB2-BD59-A6C34878D82A}">
                    <a16:rowId xmlns:a16="http://schemas.microsoft.com/office/drawing/2014/main" val="10004"/>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Work reports and pay cycles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Payroll runs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EEF1FB"/>
                    </a:solidFill>
                  </a:tcPr>
                </a:tc>
                <a:extLst>
                  <a:ext uri="{0D108BD9-81ED-4DB2-BD59-A6C34878D82A}">
                    <a16:rowId xmlns:a16="http://schemas.microsoft.com/office/drawing/2014/main" val="10006"/>
                  </a:ext>
                </a:extLst>
              </a:tr>
              <a:tr h="530352">
                <a:tc>
                  <a:txBody>
                    <a:bodyPr/>
                    <a:lstStyle/>
                    <a:p>
                      <a:pPr marL="0" indent="0" algn="l">
                        <a:buNone/>
                      </a:pPr>
                      <a:r>
                        <a:rPr lang="en-US" sz="1600" b="1" dirty="0">
                          <a:solidFill>
                            <a:schemeClr val="tx2"/>
                          </a:solidFill>
                          <a:latin typeface="Calibri" pitchFamily="34" charset="0"/>
                          <a:ea typeface="Calibri" pitchFamily="34" charset="-122"/>
                          <a:cs typeface="Calibri" pitchFamily="34" charset="-120"/>
                        </a:rPr>
                        <a:t>AI settings and support tickets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accent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AA3B5"/>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3CDEF"/>
                      </a:solidFill>
                      <a:prstDash val="solid"/>
                      <a:round/>
                      <a:headEnd type="none" w="med" len="med"/>
                      <a:tailEnd type="none" w="med" len="med"/>
                    </a:lnL>
                    <a:lnR w="6350" cap="flat" cmpd="sng" algn="ctr">
                      <a:solidFill>
                        <a:srgbClr val="C3CDEF"/>
                      </a:solidFill>
                      <a:prstDash val="solid"/>
                      <a:round/>
                      <a:headEnd type="none" w="med" len="med"/>
                      <a:tailEnd type="none" w="med" len="med"/>
                    </a:lnR>
                    <a:lnT w="6350" cap="flat" cmpd="sng" algn="ctr">
                      <a:solidFill>
                        <a:srgbClr val="C3CDEF"/>
                      </a:solidFill>
                      <a:prstDash val="solid"/>
                      <a:round/>
                      <a:headEnd type="none" w="med" len="med"/>
                      <a:tailEnd type="none" w="med" len="med"/>
                    </a:lnT>
                    <a:lnB w="6350" cap="flat" cmpd="sng" algn="ctr">
                      <a:solidFill>
                        <a:srgbClr val="C3CD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RBAC footnote"/>
          <p:cNvSpPr txBox="1"/>
          <p:nvPr/>
        </p:nvSpPr>
        <p:spPr>
          <a:xfrm>
            <a:off x="548640" y="5852160"/>
            <a:ext cx="11091672" cy="365760"/>
          </a:xfrm>
          <a:prstGeom prst="rect">
            <a:avLst/>
          </a:prstGeom>
          <a:noFill/>
          <a:ln/>
        </p:spPr>
        <p:txBody>
          <a:bodyPr wrap="square" lIns="0" tIns="0" rIns="0" bIns="0" rtlCol="0" anchor="t"/>
          <a:lstStyle/>
          <a:p>
            <a:pPr marL="0" indent="0">
              <a:buNone/>
            </a:pPr>
            <a:r>
              <a:rPr lang="en-US" sz="1400" i="1" dirty="0">
                <a:solidFill>
                  <a:srgbClr val="5B6478"/>
                </a:solidFill>
                <a:latin typeface="Calibri" pitchFamily="34" charset="0"/>
                <a:ea typeface="Calibri" pitchFamily="34" charset="-122"/>
                <a:cs typeface="Calibri" pitchFamily="34" charset="-120"/>
              </a:rPr>
              <a:t>Summary of the tenant portal's route guards. The server re-checks every request with requireRole, and each company can edit its roles.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B64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HRM PLUS">
  <a:themeElements>
    <a:clrScheme name="HRM PLUS">
      <a:dk1>
        <a:srgbClr val="0F172A"/>
      </a:dk1>
      <a:lt1>
        <a:srgbClr val="FFFFFF"/>
      </a:lt1>
      <a:dk2>
        <a:srgbClr val="283060"/>
      </a:dk2>
      <a:lt2>
        <a:srgbClr val="F4F6FA"/>
      </a:lt2>
      <a:accent1>
        <a:srgbClr val="4453B0"/>
      </a:accent1>
      <a:accent2>
        <a:srgbClr val="EC4899"/>
      </a:accent2>
      <a:accent3>
        <a:srgbClr val="0CA30C"/>
      </a:accent3>
      <a:accent4>
        <a:srgbClr val="FAB219"/>
      </a:accent4>
      <a:accent5>
        <a:srgbClr val="7484D3"/>
      </a:accent5>
      <a:accent6>
        <a:srgbClr val="6366F1"/>
      </a:accent6>
      <a:hlink>
        <a:srgbClr val="4453B0"/>
      </a:hlink>
      <a:folHlink>
        <a:srgbClr val="384592"/>
      </a:folHlink>
    </a:clrScheme>
    <a:fontScheme name="HRM PLU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2619</Words>
  <Application>Microsoft Macintosh PowerPoint</Application>
  <PresentationFormat>Widescreen</PresentationFormat>
  <Paragraphs>436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HRM PLUS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HRM PLUS - Project Presentation</dc:title>
  <dc:subject>PptxGenJS Presentation</dc:subject>
  <dc:creator>Pranta Roy</dc:creator>
  <cp:lastModifiedBy>Roy, Pranta (Student)</cp:lastModifiedBy>
  <cp:revision>2</cp:revision>
  <dcterms:created xsi:type="dcterms:W3CDTF">2026-10-03T11:48:46Z</dcterms:created>
  <dcterms:modified xsi:type="dcterms:W3CDTF">2026-10-03T12:04:28Z</dcterms:modified>
</cp:coreProperties>
</file>